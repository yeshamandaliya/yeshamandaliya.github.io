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1"/>
  </p:notesMasterIdLst>
  <p:sldIdLst>
    <p:sldId id="333" r:id="rId2"/>
    <p:sldId id="486" r:id="rId3"/>
    <p:sldId id="485" r:id="rId4"/>
    <p:sldId id="1407" r:id="rId5"/>
    <p:sldId id="1408" r:id="rId6"/>
    <p:sldId id="1409" r:id="rId7"/>
    <p:sldId id="1410" r:id="rId8"/>
    <p:sldId id="1411" r:id="rId9"/>
    <p:sldId id="1406" r:id="rId10"/>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617"/>
  </p:normalViewPr>
  <p:slideViewPr>
    <p:cSldViewPr snapToGrid="0">
      <p:cViewPr varScale="1">
        <p:scale>
          <a:sx n="111" d="100"/>
          <a:sy n="111" d="100"/>
        </p:scale>
        <p:origin x="65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33FD90-A8CA-DA46-82C5-DE00594D6FF7}" type="datetimeFigureOut">
              <a:rPr lang="en-US" smtClean="0"/>
              <a:t>7/31/26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20C979-68AD-C14D-8B41-3B7215BBA959}" type="slidenum">
              <a:rPr lang="en-US" smtClean="0"/>
              <a:t>‹#›</a:t>
            </a:fld>
            <a:endParaRPr lang="en-US"/>
          </a:p>
        </p:txBody>
      </p:sp>
    </p:spTree>
    <p:extLst>
      <p:ext uri="{BB962C8B-B14F-4D97-AF65-F5344CB8AC3E}">
        <p14:creationId xmlns:p14="http://schemas.microsoft.com/office/powerpoint/2010/main" val="306113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20C979-68AD-C14D-8B41-3B7215BBA959}" type="slidenum">
              <a:rPr lang="en-US" smtClean="0"/>
              <a:t>3</a:t>
            </a:fld>
            <a:endParaRPr lang="en-US"/>
          </a:p>
        </p:txBody>
      </p:sp>
    </p:spTree>
    <p:extLst>
      <p:ext uri="{BB962C8B-B14F-4D97-AF65-F5344CB8AC3E}">
        <p14:creationId xmlns:p14="http://schemas.microsoft.com/office/powerpoint/2010/main" val="3611231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F6BB7-3180-E7A5-FE42-C8B7409A23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52758-3C3D-9B82-3E1F-A32E0FCF5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C526A-EED2-CC7E-16FE-7939BEA8E6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A89F60-04BD-227C-E6DC-167354EA1C10}"/>
              </a:ext>
            </a:extLst>
          </p:cNvPr>
          <p:cNvSpPr>
            <a:spLocks noGrp="1"/>
          </p:cNvSpPr>
          <p:nvPr>
            <p:ph type="sldNum" sz="quarter" idx="5"/>
          </p:nvPr>
        </p:nvSpPr>
        <p:spPr/>
        <p:txBody>
          <a:bodyPr/>
          <a:lstStyle/>
          <a:p>
            <a:fld id="{D520C979-68AD-C14D-8B41-3B7215BBA959}" type="slidenum">
              <a:rPr lang="en-US" smtClean="0"/>
              <a:t>4</a:t>
            </a:fld>
            <a:endParaRPr lang="en-US"/>
          </a:p>
        </p:txBody>
      </p:sp>
    </p:spTree>
    <p:extLst>
      <p:ext uri="{BB962C8B-B14F-4D97-AF65-F5344CB8AC3E}">
        <p14:creationId xmlns:p14="http://schemas.microsoft.com/office/powerpoint/2010/main" val="4084740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7C590-C06D-2B9C-3D6F-DDA72838E2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3B13C5-40F2-DE96-CEAE-3BFAA196F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104B30-9A66-CDC7-8915-070FF7527B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F041DE-D7D6-E2CF-F20E-A2D9161B79C7}"/>
              </a:ext>
            </a:extLst>
          </p:cNvPr>
          <p:cNvSpPr>
            <a:spLocks noGrp="1"/>
          </p:cNvSpPr>
          <p:nvPr>
            <p:ph type="sldNum" sz="quarter" idx="5"/>
          </p:nvPr>
        </p:nvSpPr>
        <p:spPr/>
        <p:txBody>
          <a:bodyPr/>
          <a:lstStyle/>
          <a:p>
            <a:fld id="{D520C979-68AD-C14D-8B41-3B7215BBA959}" type="slidenum">
              <a:rPr lang="en-US" smtClean="0"/>
              <a:t>5</a:t>
            </a:fld>
            <a:endParaRPr lang="en-US"/>
          </a:p>
        </p:txBody>
      </p:sp>
    </p:spTree>
    <p:extLst>
      <p:ext uri="{BB962C8B-B14F-4D97-AF65-F5344CB8AC3E}">
        <p14:creationId xmlns:p14="http://schemas.microsoft.com/office/powerpoint/2010/main" val="4204022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79D2B-0375-7945-A32D-B51382A2B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40FFC-8D97-4C07-DBF4-F9DCA97A0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4AAA27-7ED0-A96B-599E-B858CAFECC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63C2F1-4A41-44A2-371A-914DDC5BE304}"/>
              </a:ext>
            </a:extLst>
          </p:cNvPr>
          <p:cNvSpPr>
            <a:spLocks noGrp="1"/>
          </p:cNvSpPr>
          <p:nvPr>
            <p:ph type="sldNum" sz="quarter" idx="5"/>
          </p:nvPr>
        </p:nvSpPr>
        <p:spPr/>
        <p:txBody>
          <a:bodyPr/>
          <a:lstStyle/>
          <a:p>
            <a:fld id="{D520C979-68AD-C14D-8B41-3B7215BBA959}" type="slidenum">
              <a:rPr lang="en-US" smtClean="0"/>
              <a:t>6</a:t>
            </a:fld>
            <a:endParaRPr lang="en-US"/>
          </a:p>
        </p:txBody>
      </p:sp>
    </p:spTree>
    <p:extLst>
      <p:ext uri="{BB962C8B-B14F-4D97-AF65-F5344CB8AC3E}">
        <p14:creationId xmlns:p14="http://schemas.microsoft.com/office/powerpoint/2010/main" val="2605750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85876-71FA-5D9F-2047-D7494D483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83EE18-D892-47CF-4F6F-8863140FA8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1EFE9-E0D3-B7DD-4EB4-D242192710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FFC14B-00BC-DE15-0E4A-560E5D89F0C2}"/>
              </a:ext>
            </a:extLst>
          </p:cNvPr>
          <p:cNvSpPr>
            <a:spLocks noGrp="1"/>
          </p:cNvSpPr>
          <p:nvPr>
            <p:ph type="sldNum" sz="quarter" idx="5"/>
          </p:nvPr>
        </p:nvSpPr>
        <p:spPr/>
        <p:txBody>
          <a:bodyPr/>
          <a:lstStyle/>
          <a:p>
            <a:fld id="{D520C979-68AD-C14D-8B41-3B7215BBA959}" type="slidenum">
              <a:rPr lang="en-US" smtClean="0"/>
              <a:t>7</a:t>
            </a:fld>
            <a:endParaRPr lang="en-US"/>
          </a:p>
        </p:txBody>
      </p:sp>
    </p:spTree>
    <p:extLst>
      <p:ext uri="{BB962C8B-B14F-4D97-AF65-F5344CB8AC3E}">
        <p14:creationId xmlns:p14="http://schemas.microsoft.com/office/powerpoint/2010/main" val="2654845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A1102-FB2F-0D88-DD55-C99033EA6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AF238-8B68-A47B-CF44-67DD35755F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FAB6F-ABB3-71DE-FD46-84FFBE82EA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5FCDB3-87B7-4915-0C16-8B933F0C4661}"/>
              </a:ext>
            </a:extLst>
          </p:cNvPr>
          <p:cNvSpPr>
            <a:spLocks noGrp="1"/>
          </p:cNvSpPr>
          <p:nvPr>
            <p:ph type="sldNum" sz="quarter" idx="5"/>
          </p:nvPr>
        </p:nvSpPr>
        <p:spPr/>
        <p:txBody>
          <a:bodyPr/>
          <a:lstStyle/>
          <a:p>
            <a:fld id="{D520C979-68AD-C14D-8B41-3B7215BBA959}" type="slidenum">
              <a:rPr lang="en-US" smtClean="0"/>
              <a:t>8</a:t>
            </a:fld>
            <a:endParaRPr lang="en-US"/>
          </a:p>
        </p:txBody>
      </p:sp>
    </p:spTree>
    <p:extLst>
      <p:ext uri="{BB962C8B-B14F-4D97-AF65-F5344CB8AC3E}">
        <p14:creationId xmlns:p14="http://schemas.microsoft.com/office/powerpoint/2010/main" val="2967105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recommendation is diagnosis first, not inaction. Segment the two direct drivers, pilot the intervention that matches the diagnosed cause, and scale only if contribution improves without unacceptable customer or service effects. Under the illustrative 8 percent target, the arithmetic establishes the size of the gap, not the location or the final intervention.</a:t>
            </a:r>
          </a:p>
        </p:txBody>
      </p:sp>
      <p:sp>
        <p:nvSpPr>
          <p:cNvPr id="4" name="Slide Number Placeholder 3"/>
          <p:cNvSpPr>
            <a:spLocks noGrp="1"/>
          </p:cNvSpPr>
          <p:nvPr>
            <p:ph type="sldNum" sz="quarter" idx="5"/>
          </p:nvPr>
        </p:nvSpPr>
        <p:spPr/>
        <p:txBody>
          <a:bodyPr/>
          <a:lstStyle/>
          <a:p>
            <a:fld id="{D520C979-68AD-C14D-8B41-3B7215BBA959}" type="slidenum">
              <a:rPr lang="en-US" smtClean="0"/>
              <a:t>9</a:t>
            </a:fld>
            <a:endParaRPr lang="en-US"/>
          </a:p>
        </p:txBody>
      </p:sp>
    </p:spTree>
    <p:extLst>
      <p:ext uri="{BB962C8B-B14F-4D97-AF65-F5344CB8AC3E}">
        <p14:creationId xmlns:p14="http://schemas.microsoft.com/office/powerpoint/2010/main" val="2198959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ME-0047">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8367B96-3A2E-4AFF-9E1E-6A4826ACADD6}"/>
              </a:ext>
            </a:extLst>
          </p:cNvPr>
          <p:cNvSpPr>
            <a:spLocks noGrp="1"/>
          </p:cNvSpPr>
          <p:nvPr>
            <p:ph type="pic" sz="quarter" idx="11" hasCustomPrompt="1"/>
          </p:nvPr>
        </p:nvSpPr>
        <p:spPr>
          <a:xfrm>
            <a:off x="266700" y="304800"/>
            <a:ext cx="11658600" cy="6248400"/>
          </a:xfrm>
          <a:custGeom>
            <a:avLst/>
            <a:gdLst>
              <a:gd name="connsiteX0" fmla="*/ 0 w 11658600"/>
              <a:gd name="connsiteY0" fmla="*/ 0 h 6248400"/>
              <a:gd name="connsiteX1" fmla="*/ 11658600 w 11658600"/>
              <a:gd name="connsiteY1" fmla="*/ 0 h 6248400"/>
              <a:gd name="connsiteX2" fmla="*/ 11658600 w 11658600"/>
              <a:gd name="connsiteY2" fmla="*/ 6248400 h 6248400"/>
              <a:gd name="connsiteX3" fmla="*/ 0 w 11658600"/>
              <a:gd name="connsiteY3" fmla="*/ 6248400 h 6248400"/>
            </a:gdLst>
            <a:ahLst/>
            <a:cxnLst>
              <a:cxn ang="0">
                <a:pos x="connsiteX0" y="connsiteY0"/>
              </a:cxn>
              <a:cxn ang="0">
                <a:pos x="connsiteX1" y="connsiteY1"/>
              </a:cxn>
              <a:cxn ang="0">
                <a:pos x="connsiteX2" y="connsiteY2"/>
              </a:cxn>
              <a:cxn ang="0">
                <a:pos x="connsiteX3" y="connsiteY3"/>
              </a:cxn>
            </a:cxnLst>
            <a:rect l="l" t="t" r="r" b="b"/>
            <a:pathLst>
              <a:path w="11658600" h="6248400">
                <a:moveTo>
                  <a:pt x="0" y="0"/>
                </a:moveTo>
                <a:lnTo>
                  <a:pt x="11658600" y="0"/>
                </a:lnTo>
                <a:lnTo>
                  <a:pt x="11658600" y="6248400"/>
                </a:lnTo>
                <a:lnTo>
                  <a:pt x="0" y="6248400"/>
                </a:lnTo>
                <a:close/>
              </a:path>
            </a:pathLst>
          </a:custGeom>
          <a:solidFill>
            <a:schemeClr val="bg1">
              <a:lumMod val="95000"/>
            </a:schemeClr>
          </a:solidFill>
          <a:ln>
            <a:noFill/>
          </a:ln>
        </p:spPr>
        <p:txBody>
          <a:bodyPr wrap="square" bIns="457200" anchor="b">
            <a:noAutofit/>
          </a:bodyPr>
          <a:lstStyle>
            <a:lvl1pPr algn="ctr">
              <a:buNone/>
              <a:defRPr sz="16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8349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F930C-004C-DBD6-1FA1-76C4E68FB2BC}"/>
              </a:ext>
            </a:extLst>
          </p:cNvPr>
          <p:cNvSpPr>
            <a:spLocks noGrp="1"/>
          </p:cNvSpPr>
          <p:nvPr>
            <p:ph type="dt" sz="half" idx="10"/>
          </p:nvPr>
        </p:nvSpPr>
        <p:spPr/>
        <p:txBody>
          <a:bodyPr/>
          <a:lstStyle/>
          <a:p>
            <a:fld id="{9C110CFB-C9E1-1543-8C6C-88B30BCADBE4}" type="datetimeFigureOut">
              <a:rPr lang="en-US" smtClean="0"/>
              <a:t>7/31/26</a:t>
            </a:fld>
            <a:endParaRPr lang="en-US"/>
          </a:p>
        </p:txBody>
      </p:sp>
      <p:sp>
        <p:nvSpPr>
          <p:cNvPr id="3" name="Footer Placeholder 2">
            <a:extLst>
              <a:ext uri="{FF2B5EF4-FFF2-40B4-BE49-F238E27FC236}">
                <a16:creationId xmlns:a16="http://schemas.microsoft.com/office/drawing/2014/main" id="{81371211-5A10-36FD-82B0-7B3B5932E8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B72F11-6C34-224C-8409-49460619D9BC}"/>
              </a:ext>
            </a:extLst>
          </p:cNvPr>
          <p:cNvSpPr>
            <a:spLocks noGrp="1"/>
          </p:cNvSpPr>
          <p:nvPr>
            <p:ph type="sldNum" sz="quarter" idx="12"/>
          </p:nvPr>
        </p:nvSpPr>
        <p:spPr/>
        <p:txBody>
          <a:bodyPr/>
          <a:lstStyle/>
          <a:p>
            <a:fld id="{5914EB9A-2CC7-FD41-9B9F-28489DA0F4E2}" type="slidenum">
              <a:rPr lang="en-US" smtClean="0"/>
              <a:t>‹#›</a:t>
            </a:fld>
            <a:endParaRPr lang="en-US"/>
          </a:p>
        </p:txBody>
      </p:sp>
    </p:spTree>
    <p:extLst>
      <p:ext uri="{BB962C8B-B14F-4D97-AF65-F5344CB8AC3E}">
        <p14:creationId xmlns:p14="http://schemas.microsoft.com/office/powerpoint/2010/main" val="30009727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613229-BB49-AF08-9DDB-C8D7AB6ADD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B10B5A7-56B5-5279-282E-3E30440488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6E906D0-E255-477C-F1D3-03124D3D5E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110CFB-C9E1-1543-8C6C-88B30BCADBE4}" type="datetimeFigureOut">
              <a:rPr lang="en-US" smtClean="0"/>
              <a:t>7/31/26</a:t>
            </a:fld>
            <a:endParaRPr lang="en-US"/>
          </a:p>
        </p:txBody>
      </p:sp>
      <p:sp>
        <p:nvSpPr>
          <p:cNvPr id="5" name="Footer Placeholder 4">
            <a:extLst>
              <a:ext uri="{FF2B5EF4-FFF2-40B4-BE49-F238E27FC236}">
                <a16:creationId xmlns:a16="http://schemas.microsoft.com/office/drawing/2014/main" id="{CF9534FF-B04B-334C-0CBC-6FC41CF511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6AD2A3B-CBE0-6E32-BF1B-FE03460D66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14EB9A-2CC7-FD41-9B9F-28489DA0F4E2}" type="slidenum">
              <a:rPr lang="en-US" smtClean="0"/>
              <a:t>‹#›</a:t>
            </a:fld>
            <a:endParaRPr lang="en-US"/>
          </a:p>
        </p:txBody>
      </p:sp>
    </p:spTree>
    <p:extLst>
      <p:ext uri="{BB962C8B-B14F-4D97-AF65-F5344CB8AC3E}">
        <p14:creationId xmlns:p14="http://schemas.microsoft.com/office/powerpoint/2010/main" val="3576901678"/>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bwMode="auto">
          <a:xfrm>
            <a:off x="0" y="3430693"/>
            <a:ext cx="12192000" cy="3427307"/>
          </a:xfrm>
          <a:custGeom>
            <a:avLst/>
            <a:gdLst>
              <a:gd name="connsiteX0" fmla="*/ 0 w 9144000"/>
              <a:gd name="connsiteY0" fmla="*/ 0 h 2245360"/>
              <a:gd name="connsiteX1" fmla="*/ 9144000 w 9144000"/>
              <a:gd name="connsiteY1" fmla="*/ 0 h 2245360"/>
              <a:gd name="connsiteX2" fmla="*/ 9144000 w 9144000"/>
              <a:gd name="connsiteY2" fmla="*/ 2245360 h 2245360"/>
              <a:gd name="connsiteX3" fmla="*/ 0 w 9144000"/>
              <a:gd name="connsiteY3" fmla="*/ 2245360 h 2245360"/>
            </a:gdLst>
            <a:ahLst/>
            <a:cxnLst>
              <a:cxn ang="0">
                <a:pos x="connsiteX0" y="connsiteY0"/>
              </a:cxn>
              <a:cxn ang="0">
                <a:pos x="connsiteX1" y="connsiteY1"/>
              </a:cxn>
              <a:cxn ang="0">
                <a:pos x="connsiteX2" y="connsiteY2"/>
              </a:cxn>
              <a:cxn ang="0">
                <a:pos x="connsiteX3" y="connsiteY3"/>
              </a:cxn>
            </a:cxnLst>
            <a:rect l="l" t="t" r="r" b="b"/>
            <a:pathLst>
              <a:path w="9144000" h="2245360">
                <a:moveTo>
                  <a:pt x="0" y="0"/>
                </a:moveTo>
                <a:lnTo>
                  <a:pt x="9144000" y="0"/>
                </a:lnTo>
                <a:lnTo>
                  <a:pt x="9144000" y="2245360"/>
                </a:lnTo>
                <a:lnTo>
                  <a:pt x="0" y="2245360"/>
                </a:lnTo>
                <a:close/>
              </a:path>
            </a:pathLst>
          </a:custGeom>
          <a:solidFill>
            <a:schemeClr val="tx1"/>
          </a:solidFill>
          <a:ln w="9525">
            <a:noFill/>
            <a:round/>
            <a:headEnd/>
            <a:tailEnd/>
          </a:ln>
          <a:effectLst/>
        </p:spPr>
        <p:txBody>
          <a:bodyPr vert="horz" wrap="square" lIns="121920" tIns="60960" rIns="121920" bIns="60960" numCol="1" rtlCol="0" anchor="t" anchorCtr="0" compatLnSpc="1">
            <a:prstTxWarp prst="textNoShape">
              <a:avLst/>
            </a:prstTxWarp>
            <a:noAutofit/>
          </a:bodyPr>
          <a:lstStyle/>
          <a:p>
            <a:pPr algn="ctr"/>
            <a:r>
              <a:rPr lang="ar-SY" sz="2400" dirty="0">
                <a:solidFill>
                  <a:schemeClr val="accent6">
                    <a:lumMod val="75000"/>
                  </a:schemeClr>
                </a:solidFill>
              </a:rPr>
              <a:t> </a:t>
            </a:r>
            <a:endParaRPr lang="en-US" sz="2400" dirty="0">
              <a:solidFill>
                <a:schemeClr val="accent6">
                  <a:lumMod val="75000"/>
                </a:schemeClr>
              </a:solidFill>
            </a:endParaRPr>
          </a:p>
        </p:txBody>
      </p:sp>
      <p:sp>
        <p:nvSpPr>
          <p:cNvPr id="3" name="Rectangle 2">
            <a:extLst>
              <a:ext uri="{FF2B5EF4-FFF2-40B4-BE49-F238E27FC236}">
                <a16:creationId xmlns:a16="http://schemas.microsoft.com/office/drawing/2014/main" id="{C5656802-4662-3AAB-F9AB-E9D34B5D34E2}"/>
              </a:ext>
            </a:extLst>
          </p:cNvPr>
          <p:cNvSpPr/>
          <p:nvPr/>
        </p:nvSpPr>
        <p:spPr>
          <a:xfrm>
            <a:off x="254643" y="277792"/>
            <a:ext cx="11702005" cy="6308203"/>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9DF8C5A-F536-6407-FD4E-7A70384F0B36}"/>
              </a:ext>
            </a:extLst>
          </p:cNvPr>
          <p:cNvSpPr/>
          <p:nvPr/>
        </p:nvSpPr>
        <p:spPr>
          <a:xfrm>
            <a:off x="812801" y="588573"/>
            <a:ext cx="2254143"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60-MINUTE STRATEGY CASE</a:t>
            </a:r>
          </a:p>
        </p:txBody>
      </p:sp>
      <p:sp>
        <p:nvSpPr>
          <p:cNvPr id="6" name="Rectangle 5">
            <a:extLst>
              <a:ext uri="{FF2B5EF4-FFF2-40B4-BE49-F238E27FC236}">
                <a16:creationId xmlns:a16="http://schemas.microsoft.com/office/drawing/2014/main" id="{77B8C20F-79BE-20CE-0AD3-6C3633821440}"/>
              </a:ext>
            </a:extLst>
          </p:cNvPr>
          <p:cNvSpPr/>
          <p:nvPr/>
        </p:nvSpPr>
        <p:spPr>
          <a:xfrm>
            <a:off x="812800" y="2084286"/>
            <a:ext cx="10530389" cy="1231106"/>
          </a:xfrm>
          <a:prstGeom prst="rect">
            <a:avLst/>
          </a:prstGeom>
        </p:spPr>
        <p:txBody>
          <a:bodyPr wrap="square" lIns="0" tIns="0" rIns="0" bIns="0">
            <a:spAutoFit/>
          </a:bodyPr>
          <a:lstStyle/>
          <a:p>
            <a:r>
              <a:rPr lang="en-US" sz="4000" b="1" dirty="0">
                <a:latin typeface="+mj-lt"/>
              </a:rPr>
              <a:t>Orders grew 25%, but operating margin</a:t>
            </a:r>
          </a:p>
          <a:p>
            <a:r>
              <a:rPr lang="en-US" sz="4000" b="1" dirty="0">
                <a:latin typeface="+mj-lt"/>
              </a:rPr>
              <a:t>fell from 8% to 3%</a:t>
            </a:r>
          </a:p>
        </p:txBody>
      </p:sp>
      <p:sp>
        <p:nvSpPr>
          <p:cNvPr id="12" name="Rectangle 11">
            <a:extLst>
              <a:ext uri="{FF2B5EF4-FFF2-40B4-BE49-F238E27FC236}">
                <a16:creationId xmlns:a16="http://schemas.microsoft.com/office/drawing/2014/main" id="{CFDD6AE7-498D-CA85-650D-CB9C12D99344}"/>
              </a:ext>
            </a:extLst>
          </p:cNvPr>
          <p:cNvSpPr/>
          <p:nvPr/>
        </p:nvSpPr>
        <p:spPr>
          <a:xfrm>
            <a:off x="830805" y="3856656"/>
            <a:ext cx="9134808" cy="287323"/>
          </a:xfrm>
          <a:prstGeom prst="rect">
            <a:avLst/>
          </a:prstGeom>
        </p:spPr>
        <p:txBody>
          <a:bodyPr wrap="none" lIns="0" tIns="0" rIns="0" bIns="0">
            <a:spAutoFit/>
          </a:bodyPr>
          <a:lstStyle/>
          <a:p>
            <a:r>
              <a:rPr lang="en-US" sz="1867" b="1" dirty="0">
                <a:latin typeface="+mj-lt"/>
              </a:rPr>
              <a:t>How should a meal-delivery company restore profitability without damaging growth?</a:t>
            </a:r>
          </a:p>
        </p:txBody>
      </p:sp>
      <p:sp>
        <p:nvSpPr>
          <p:cNvPr id="13" name="Rectangle 12">
            <a:extLst>
              <a:ext uri="{FF2B5EF4-FFF2-40B4-BE49-F238E27FC236}">
                <a16:creationId xmlns:a16="http://schemas.microsoft.com/office/drawing/2014/main" id="{A72E72CB-3B5F-76E8-7854-F7032854741C}"/>
              </a:ext>
            </a:extLst>
          </p:cNvPr>
          <p:cNvSpPr/>
          <p:nvPr/>
        </p:nvSpPr>
        <p:spPr>
          <a:xfrm>
            <a:off x="812801" y="5234117"/>
            <a:ext cx="1566070"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YESHA MANDALIYA</a:t>
            </a:r>
          </a:p>
        </p:txBody>
      </p:sp>
      <p:sp>
        <p:nvSpPr>
          <p:cNvPr id="14" name="Rectangle 13">
            <a:extLst>
              <a:ext uri="{FF2B5EF4-FFF2-40B4-BE49-F238E27FC236}">
                <a16:creationId xmlns:a16="http://schemas.microsoft.com/office/drawing/2014/main" id="{7E60B219-FCA2-1247-DDA0-EF0B26038A40}"/>
              </a:ext>
            </a:extLst>
          </p:cNvPr>
          <p:cNvSpPr/>
          <p:nvPr/>
        </p:nvSpPr>
        <p:spPr>
          <a:xfrm>
            <a:off x="812801" y="5613844"/>
            <a:ext cx="6868419" cy="430887"/>
          </a:xfrm>
          <a:prstGeom prst="rect">
            <a:avLst/>
          </a:prstGeom>
        </p:spPr>
        <p:txBody>
          <a:bodyPr wrap="none" lIns="0" tIns="0" rIns="0" bIns="0">
            <a:spAutoFit/>
          </a:bodyPr>
          <a:lstStyle/>
          <a:p>
            <a:r>
              <a:rPr lang="en-US" sz="1400" b="1" dirty="0">
                <a:solidFill>
                  <a:schemeClr val="bg1">
                    <a:lumMod val="40000"/>
                    <a:lumOff val="60000"/>
                  </a:schemeClr>
                </a:solidFill>
                <a:latin typeface="+mj-lt"/>
              </a:rPr>
              <a:t>Analysis completed as a 60-minute case exercise • Presentation built separately</a:t>
            </a:r>
          </a:p>
          <a:p>
            <a:r>
              <a:rPr lang="en-US" sz="1400" b="1" dirty="0">
                <a:solidFill>
                  <a:schemeClr val="bg1">
                    <a:lumMod val="40000"/>
                    <a:lumOff val="60000"/>
                  </a:schemeClr>
                </a:solidFill>
                <a:latin typeface="+mj-lt"/>
              </a:rPr>
              <a:t>Presentation developed afterward • Illustrative company data • No external research</a:t>
            </a:r>
          </a:p>
        </p:txBody>
      </p:sp>
      <p:cxnSp>
        <p:nvCxnSpPr>
          <p:cNvPr id="16" name="Straight Connector 15">
            <a:extLst>
              <a:ext uri="{FF2B5EF4-FFF2-40B4-BE49-F238E27FC236}">
                <a16:creationId xmlns:a16="http://schemas.microsoft.com/office/drawing/2014/main" id="{EE744CEF-8415-1D36-A0E3-806A456EF4FF}"/>
              </a:ext>
            </a:extLst>
          </p:cNvPr>
          <p:cNvCxnSpPr/>
          <p:nvPr/>
        </p:nvCxnSpPr>
        <p:spPr>
          <a:xfrm>
            <a:off x="812800" y="3519904"/>
            <a:ext cx="10494380" cy="0"/>
          </a:xfrm>
          <a:prstGeom prst="line">
            <a:avLst/>
          </a:prstGeom>
          <a:ln w="635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158513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105" name="Rectangle 104">
            <a:extLst>
              <a:ext uri="{FF2B5EF4-FFF2-40B4-BE49-F238E27FC236}">
                <a16:creationId xmlns:a16="http://schemas.microsoft.com/office/drawing/2014/main" id="{653C0177-0BD4-5ECD-E074-42A27715B745}"/>
              </a:ext>
            </a:extLst>
          </p:cNvPr>
          <p:cNvSpPr/>
          <p:nvPr/>
        </p:nvSpPr>
        <p:spPr>
          <a:xfrm>
            <a:off x="329158" y="206609"/>
            <a:ext cx="1324273"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DATA PROVIDED</a:t>
            </a:r>
          </a:p>
        </p:txBody>
      </p:sp>
      <p:sp>
        <p:nvSpPr>
          <p:cNvPr id="108" name="Rectangle 107">
            <a:extLst>
              <a:ext uri="{FF2B5EF4-FFF2-40B4-BE49-F238E27FC236}">
                <a16:creationId xmlns:a16="http://schemas.microsoft.com/office/drawing/2014/main" id="{AEB0D028-5957-BC1A-9A3A-7F4F36E612BC}"/>
              </a:ext>
            </a:extLst>
          </p:cNvPr>
          <p:cNvSpPr/>
          <p:nvPr/>
        </p:nvSpPr>
        <p:spPr>
          <a:xfrm>
            <a:off x="329159" y="567893"/>
            <a:ext cx="11291824" cy="384721"/>
          </a:xfrm>
          <a:prstGeom prst="rect">
            <a:avLst/>
          </a:prstGeom>
        </p:spPr>
        <p:txBody>
          <a:bodyPr wrap="square" lIns="0" tIns="0" rIns="0" bIns="0">
            <a:spAutoFit/>
          </a:bodyPr>
          <a:lstStyle/>
          <a:p>
            <a:r>
              <a:rPr lang="en-US" sz="2500" b="1" dirty="0">
                <a:latin typeface="+mj-lt"/>
              </a:rPr>
              <a:t>Five metrics are provided, but no segment data</a:t>
            </a:r>
          </a:p>
        </p:txBody>
      </p:sp>
      <p:sp>
        <p:nvSpPr>
          <p:cNvPr id="141" name="text">
            <a:extLst>
              <a:ext uri="{FF2B5EF4-FFF2-40B4-BE49-F238E27FC236}">
                <a16:creationId xmlns:a16="http://schemas.microsoft.com/office/drawing/2014/main" id="{0CC3E43B-9BC7-E33A-1D0B-921EC1614398}"/>
              </a:ext>
            </a:extLst>
          </p:cNvPr>
          <p:cNvSpPr>
            <a:spLocks noGrp="1"/>
          </p:cNvSpPr>
          <p:nvPr/>
        </p:nvSpPr>
        <p:spPr>
          <a:xfrm>
            <a:off x="234565" y="1218220"/>
            <a:ext cx="3429000" cy="247650"/>
          </a:xfrm>
          <a:prstGeom prst="rect">
            <a:avLst/>
          </a:prstGeom>
          <a:noFill/>
          <a:ln w="0">
            <a:noFill/>
            <a:prstDash val="solid"/>
          </a:ln>
        </p:spPr>
        <p:txBody>
          <a:bodyPr anchor="t">
            <a:normAutofit fontScale="86930" lnSpcReduction="20000"/>
          </a:bodyPr>
          <a:lstStyle/>
          <a:p>
            <a:pPr algn="l">
              <a:buNone/>
              <a:defRPr sz="1425" b="1">
                <a:solidFill>
                  <a:srgbClr val="5F6672"/>
                </a:solidFill>
                <a:latin typeface="Arial"/>
                <a:ea typeface="Arial"/>
                <a:cs typeface="Arial"/>
              </a:defRPr>
            </a:pPr>
            <a:r>
              <a:rPr sz="1425" b="1" dirty="0">
                <a:solidFill>
                  <a:srgbClr val="5F6672"/>
                </a:solidFill>
                <a:latin typeface="Aptos" panose="020B0004020202020204" pitchFamily="34" charset="0"/>
                <a:ea typeface="Arial"/>
                <a:cs typeface="Arial"/>
              </a:rPr>
              <a:t>All figures below are provided</a:t>
            </a:r>
            <a:r>
              <a:rPr lang="en-US" sz="1425" b="1" dirty="0">
                <a:solidFill>
                  <a:srgbClr val="5F6672"/>
                </a:solidFill>
                <a:latin typeface="Aptos" panose="020B0004020202020204" pitchFamily="34" charset="0"/>
                <a:ea typeface="Arial"/>
                <a:cs typeface="Arial"/>
              </a:rPr>
              <a:t>, </a:t>
            </a:r>
            <a:r>
              <a:rPr sz="1425" b="1" dirty="0">
                <a:solidFill>
                  <a:srgbClr val="5F6672"/>
                </a:solidFill>
                <a:latin typeface="Aptos" panose="020B0004020202020204" pitchFamily="34" charset="0"/>
                <a:ea typeface="Arial"/>
                <a:cs typeface="Arial"/>
              </a:rPr>
              <a:t>not derived</a:t>
            </a:r>
          </a:p>
        </p:txBody>
      </p:sp>
      <p:sp>
        <p:nvSpPr>
          <p:cNvPr id="142" name="Rectangle 141">
            <a:extLst>
              <a:ext uri="{FF2B5EF4-FFF2-40B4-BE49-F238E27FC236}">
                <a16:creationId xmlns:a16="http://schemas.microsoft.com/office/drawing/2014/main" id="{62976185-819E-2B23-E52F-7F5806400972}"/>
              </a:ext>
            </a:extLst>
          </p:cNvPr>
          <p:cNvSpPr>
            <a:spLocks noGrp="1"/>
          </p:cNvSpPr>
          <p:nvPr/>
        </p:nvSpPr>
        <p:spPr>
          <a:xfrm>
            <a:off x="329158" y="1608688"/>
            <a:ext cx="4038600" cy="514350"/>
          </a:xfrm>
          <a:prstGeom prst="rect">
            <a:avLst/>
          </a:prstGeom>
          <a:ln/>
        </p:spPr>
        <p:style>
          <a:lnRef idx="2">
            <a:schemeClr val="dk1"/>
          </a:lnRef>
          <a:fillRef idx="1">
            <a:schemeClr val="lt1"/>
          </a:fillRef>
          <a:effectRef idx="0">
            <a:schemeClr val="dk1"/>
          </a:effectRef>
          <a:fontRef idx="minor">
            <a:schemeClr val="dk1"/>
          </a:fontRef>
        </p:style>
        <p:txBody>
          <a:bodyPr/>
          <a:lstStyle/>
          <a:p>
            <a:endParaRPr lang="en-US">
              <a:latin typeface="Aptos" panose="020B0004020202020204" pitchFamily="34" charset="0"/>
            </a:endParaRPr>
          </a:p>
        </p:txBody>
      </p:sp>
      <p:sp>
        <p:nvSpPr>
          <p:cNvPr id="143" name="text">
            <a:extLst>
              <a:ext uri="{FF2B5EF4-FFF2-40B4-BE49-F238E27FC236}">
                <a16:creationId xmlns:a16="http://schemas.microsoft.com/office/drawing/2014/main" id="{20C8608F-604F-FB0D-523A-B870C8CE46E1}"/>
              </a:ext>
            </a:extLst>
          </p:cNvPr>
          <p:cNvSpPr>
            <a:spLocks noGrp="1"/>
          </p:cNvSpPr>
          <p:nvPr/>
        </p:nvSpPr>
        <p:spPr>
          <a:xfrm>
            <a:off x="443458" y="1732513"/>
            <a:ext cx="3810000" cy="323850"/>
          </a:xfrm>
          <a:prstGeom prst="rect">
            <a:avLst/>
          </a:prstGeom>
          <a:noFill/>
          <a:ln w="0">
            <a:noFill/>
            <a:prstDash val="solid"/>
          </a:ln>
        </p:spPr>
        <p:txBody>
          <a:bodyPr anchor="t">
            <a:normAutofit/>
          </a:bodyPr>
          <a:lstStyle/>
          <a:p>
            <a:pPr algn="l">
              <a:buNone/>
              <a:defRPr sz="1275" b="1">
                <a:solidFill>
                  <a:srgbClr val="FFFFFF"/>
                </a:solidFill>
                <a:latin typeface="Arial"/>
                <a:ea typeface="Arial"/>
                <a:cs typeface="Arial"/>
              </a:defRPr>
            </a:pPr>
            <a:r>
              <a:rPr sz="1275" b="1" dirty="0">
                <a:solidFill>
                  <a:srgbClr val="FFFFFF"/>
                </a:solidFill>
                <a:latin typeface="Aptos" panose="020B0004020202020204" pitchFamily="34" charset="0"/>
                <a:ea typeface="Arial"/>
                <a:cs typeface="Arial"/>
              </a:rPr>
              <a:t>Metric</a:t>
            </a:r>
          </a:p>
        </p:txBody>
      </p:sp>
      <p:sp>
        <p:nvSpPr>
          <p:cNvPr id="144" name="Rectangle 143">
            <a:extLst>
              <a:ext uri="{FF2B5EF4-FFF2-40B4-BE49-F238E27FC236}">
                <a16:creationId xmlns:a16="http://schemas.microsoft.com/office/drawing/2014/main" id="{0325ACA0-49A9-7FC3-2ECF-78DF5CD230D6}"/>
              </a:ext>
            </a:extLst>
          </p:cNvPr>
          <p:cNvSpPr>
            <a:spLocks noGrp="1"/>
          </p:cNvSpPr>
          <p:nvPr/>
        </p:nvSpPr>
        <p:spPr>
          <a:xfrm>
            <a:off x="4367758" y="1608688"/>
            <a:ext cx="2286000" cy="514350"/>
          </a:xfrm>
          <a:prstGeom prst="rect">
            <a:avLst/>
          </a:prstGeom>
          <a:ln/>
        </p:spPr>
        <p:style>
          <a:lnRef idx="2">
            <a:schemeClr val="dk1"/>
          </a:lnRef>
          <a:fillRef idx="1">
            <a:schemeClr val="lt1"/>
          </a:fillRef>
          <a:effectRef idx="0">
            <a:schemeClr val="dk1"/>
          </a:effectRef>
          <a:fontRef idx="minor">
            <a:schemeClr val="dk1"/>
          </a:fontRef>
        </p:style>
        <p:txBody>
          <a:bodyPr/>
          <a:lstStyle/>
          <a:p>
            <a:endParaRPr lang="en-US">
              <a:latin typeface="Aptos" panose="020B0004020202020204" pitchFamily="34" charset="0"/>
            </a:endParaRPr>
          </a:p>
        </p:txBody>
      </p:sp>
      <p:sp>
        <p:nvSpPr>
          <p:cNvPr id="145" name="text">
            <a:extLst>
              <a:ext uri="{FF2B5EF4-FFF2-40B4-BE49-F238E27FC236}">
                <a16:creationId xmlns:a16="http://schemas.microsoft.com/office/drawing/2014/main" id="{FC022DC5-024D-7456-BA96-ABC976A72134}"/>
              </a:ext>
            </a:extLst>
          </p:cNvPr>
          <p:cNvSpPr>
            <a:spLocks noGrp="1"/>
          </p:cNvSpPr>
          <p:nvPr/>
        </p:nvSpPr>
        <p:spPr>
          <a:xfrm>
            <a:off x="4482058" y="1732513"/>
            <a:ext cx="2057400" cy="323850"/>
          </a:xfrm>
          <a:prstGeom prst="rect">
            <a:avLst/>
          </a:prstGeom>
          <a:noFill/>
          <a:ln w="0">
            <a:noFill/>
            <a:prstDash val="solid"/>
          </a:ln>
        </p:spPr>
        <p:txBody>
          <a:bodyPr anchor="t">
            <a:normAutofit/>
          </a:bodyPr>
          <a:lstStyle/>
          <a:p>
            <a:pPr algn="l">
              <a:buNone/>
              <a:defRPr sz="1275" b="1">
                <a:solidFill>
                  <a:srgbClr val="FFFFFF"/>
                </a:solidFill>
                <a:latin typeface="Arial"/>
                <a:ea typeface="Arial"/>
                <a:cs typeface="Arial"/>
              </a:defRPr>
            </a:pPr>
            <a:r>
              <a:rPr sz="1275" b="1" dirty="0">
                <a:solidFill>
                  <a:srgbClr val="FFFFFF"/>
                </a:solidFill>
                <a:latin typeface="Aptos" panose="020B0004020202020204" pitchFamily="34" charset="0"/>
                <a:ea typeface="Arial"/>
                <a:cs typeface="Arial"/>
              </a:rPr>
              <a:t>Prior year</a:t>
            </a:r>
          </a:p>
        </p:txBody>
      </p:sp>
      <p:sp>
        <p:nvSpPr>
          <p:cNvPr id="146" name="Rectangle 145">
            <a:extLst>
              <a:ext uri="{FF2B5EF4-FFF2-40B4-BE49-F238E27FC236}">
                <a16:creationId xmlns:a16="http://schemas.microsoft.com/office/drawing/2014/main" id="{2C2BBC88-49F7-4D79-33F8-BA29151ABB58}"/>
              </a:ext>
            </a:extLst>
          </p:cNvPr>
          <p:cNvSpPr>
            <a:spLocks noGrp="1"/>
          </p:cNvSpPr>
          <p:nvPr/>
        </p:nvSpPr>
        <p:spPr>
          <a:xfrm>
            <a:off x="6653758" y="1608688"/>
            <a:ext cx="2095500" cy="514350"/>
          </a:xfrm>
          <a:prstGeom prst="rect">
            <a:avLst/>
          </a:prstGeom>
          <a:ln/>
        </p:spPr>
        <p:style>
          <a:lnRef idx="2">
            <a:schemeClr val="dk1"/>
          </a:lnRef>
          <a:fillRef idx="1">
            <a:schemeClr val="lt1"/>
          </a:fillRef>
          <a:effectRef idx="0">
            <a:schemeClr val="dk1"/>
          </a:effectRef>
          <a:fontRef idx="minor">
            <a:schemeClr val="dk1"/>
          </a:fontRef>
        </p:style>
        <p:txBody>
          <a:bodyPr/>
          <a:lstStyle/>
          <a:p>
            <a:endParaRPr lang="en-US">
              <a:latin typeface="Aptos" panose="020B0004020202020204" pitchFamily="34" charset="0"/>
            </a:endParaRPr>
          </a:p>
        </p:txBody>
      </p:sp>
      <p:sp>
        <p:nvSpPr>
          <p:cNvPr id="147" name="text">
            <a:extLst>
              <a:ext uri="{FF2B5EF4-FFF2-40B4-BE49-F238E27FC236}">
                <a16:creationId xmlns:a16="http://schemas.microsoft.com/office/drawing/2014/main" id="{AA923300-81F8-44CD-F3B3-C9940FFFF73F}"/>
              </a:ext>
            </a:extLst>
          </p:cNvPr>
          <p:cNvSpPr>
            <a:spLocks noGrp="1"/>
          </p:cNvSpPr>
          <p:nvPr/>
        </p:nvSpPr>
        <p:spPr>
          <a:xfrm>
            <a:off x="6768058" y="1732513"/>
            <a:ext cx="1866900" cy="323850"/>
          </a:xfrm>
          <a:prstGeom prst="rect">
            <a:avLst/>
          </a:prstGeom>
          <a:noFill/>
          <a:ln w="0">
            <a:noFill/>
            <a:prstDash val="solid"/>
          </a:ln>
        </p:spPr>
        <p:txBody>
          <a:bodyPr anchor="t">
            <a:normAutofit/>
          </a:bodyPr>
          <a:lstStyle/>
          <a:p>
            <a:pPr algn="l">
              <a:buNone/>
              <a:defRPr sz="1275" b="1">
                <a:solidFill>
                  <a:srgbClr val="FFFFFF"/>
                </a:solidFill>
                <a:latin typeface="Arial"/>
                <a:ea typeface="Arial"/>
                <a:cs typeface="Arial"/>
              </a:defRPr>
            </a:pPr>
            <a:r>
              <a:rPr sz="1275" b="1" dirty="0">
                <a:solidFill>
                  <a:srgbClr val="FFFFFF"/>
                </a:solidFill>
                <a:latin typeface="Aptos" panose="020B0004020202020204" pitchFamily="34" charset="0"/>
                <a:ea typeface="Arial"/>
                <a:cs typeface="Arial"/>
              </a:rPr>
              <a:t>Current year</a:t>
            </a:r>
          </a:p>
        </p:txBody>
      </p:sp>
      <p:sp>
        <p:nvSpPr>
          <p:cNvPr id="148" name="Rectangle 147">
            <a:extLst>
              <a:ext uri="{FF2B5EF4-FFF2-40B4-BE49-F238E27FC236}">
                <a16:creationId xmlns:a16="http://schemas.microsoft.com/office/drawing/2014/main" id="{5D397F26-05F5-C8B0-3D6E-6B58DF527DEB}"/>
              </a:ext>
            </a:extLst>
          </p:cNvPr>
          <p:cNvSpPr>
            <a:spLocks noGrp="1"/>
          </p:cNvSpPr>
          <p:nvPr/>
        </p:nvSpPr>
        <p:spPr>
          <a:xfrm>
            <a:off x="8749258" y="1608688"/>
            <a:ext cx="2705100" cy="514350"/>
          </a:xfrm>
          <a:prstGeom prst="rect">
            <a:avLst/>
          </a:prstGeom>
          <a:ln/>
        </p:spPr>
        <p:style>
          <a:lnRef idx="2">
            <a:schemeClr val="dk1"/>
          </a:lnRef>
          <a:fillRef idx="1">
            <a:schemeClr val="lt1"/>
          </a:fillRef>
          <a:effectRef idx="0">
            <a:schemeClr val="dk1"/>
          </a:effectRef>
          <a:fontRef idx="minor">
            <a:schemeClr val="dk1"/>
          </a:fontRef>
        </p:style>
        <p:txBody>
          <a:bodyPr/>
          <a:lstStyle/>
          <a:p>
            <a:endParaRPr lang="en-US">
              <a:latin typeface="Aptos" panose="020B0004020202020204" pitchFamily="34" charset="0"/>
            </a:endParaRPr>
          </a:p>
        </p:txBody>
      </p:sp>
      <p:sp>
        <p:nvSpPr>
          <p:cNvPr id="149" name="text">
            <a:extLst>
              <a:ext uri="{FF2B5EF4-FFF2-40B4-BE49-F238E27FC236}">
                <a16:creationId xmlns:a16="http://schemas.microsoft.com/office/drawing/2014/main" id="{80BEADD3-E8EB-981E-D5BA-4804E77274EF}"/>
              </a:ext>
            </a:extLst>
          </p:cNvPr>
          <p:cNvSpPr>
            <a:spLocks noGrp="1"/>
          </p:cNvSpPr>
          <p:nvPr/>
        </p:nvSpPr>
        <p:spPr>
          <a:xfrm>
            <a:off x="8863558" y="1732513"/>
            <a:ext cx="2476500" cy="323850"/>
          </a:xfrm>
          <a:prstGeom prst="rect">
            <a:avLst/>
          </a:prstGeom>
          <a:noFill/>
          <a:ln w="0">
            <a:noFill/>
            <a:prstDash val="solid"/>
          </a:ln>
        </p:spPr>
        <p:txBody>
          <a:bodyPr anchor="t">
            <a:normAutofit/>
          </a:bodyPr>
          <a:lstStyle/>
          <a:p>
            <a:pPr algn="l">
              <a:buNone/>
              <a:defRPr sz="1275" b="1">
                <a:solidFill>
                  <a:srgbClr val="FFFFFF"/>
                </a:solidFill>
                <a:latin typeface="Arial"/>
                <a:ea typeface="Arial"/>
                <a:cs typeface="Arial"/>
              </a:defRPr>
            </a:pPr>
            <a:r>
              <a:rPr sz="1275" b="1" dirty="0">
                <a:solidFill>
                  <a:srgbClr val="FFFFFF"/>
                </a:solidFill>
                <a:latin typeface="Aptos" panose="020B0004020202020204" pitchFamily="34" charset="0"/>
                <a:ea typeface="Arial"/>
                <a:cs typeface="Arial"/>
              </a:rPr>
              <a:t>Change</a:t>
            </a:r>
          </a:p>
        </p:txBody>
      </p:sp>
      <p:sp>
        <p:nvSpPr>
          <p:cNvPr id="150" name="Rectangle 149">
            <a:extLst>
              <a:ext uri="{FF2B5EF4-FFF2-40B4-BE49-F238E27FC236}">
                <a16:creationId xmlns:a16="http://schemas.microsoft.com/office/drawing/2014/main" id="{49BC0583-E301-8071-36CB-A8728AC6CA2A}"/>
              </a:ext>
            </a:extLst>
          </p:cNvPr>
          <p:cNvSpPr>
            <a:spLocks noGrp="1"/>
          </p:cNvSpPr>
          <p:nvPr/>
        </p:nvSpPr>
        <p:spPr>
          <a:xfrm>
            <a:off x="329158" y="2123038"/>
            <a:ext cx="4038600" cy="628650"/>
          </a:xfrm>
          <a:prstGeom prst="rect">
            <a:avLst/>
          </a:prstGeom>
          <a:noFill/>
          <a:ln w="6668">
            <a:solidFill>
              <a:schemeClr val="tx1"/>
            </a:solidFill>
            <a:prstDash val="solid"/>
          </a:ln>
        </p:spPr>
        <p:txBody>
          <a:bodyPr/>
          <a:lstStyle/>
          <a:p>
            <a:endParaRPr lang="en-US"/>
          </a:p>
        </p:txBody>
      </p:sp>
      <p:sp>
        <p:nvSpPr>
          <p:cNvPr id="151" name="text">
            <a:extLst>
              <a:ext uri="{FF2B5EF4-FFF2-40B4-BE49-F238E27FC236}">
                <a16:creationId xmlns:a16="http://schemas.microsoft.com/office/drawing/2014/main" id="{3E828350-C8F9-68F4-B369-E2E53A6CA401}"/>
              </a:ext>
            </a:extLst>
          </p:cNvPr>
          <p:cNvSpPr>
            <a:spLocks noGrp="1"/>
          </p:cNvSpPr>
          <p:nvPr/>
        </p:nvSpPr>
        <p:spPr>
          <a:xfrm>
            <a:off x="443458" y="2246863"/>
            <a:ext cx="3810000" cy="438150"/>
          </a:xfrm>
          <a:prstGeom prst="rect">
            <a:avLst/>
          </a:prstGeom>
          <a:noFill/>
          <a:ln w="0">
            <a:noFill/>
            <a:prstDash val="solid"/>
          </a:ln>
        </p:spPr>
        <p:txBody>
          <a:bodyPr anchor="t">
            <a:normAutofit/>
          </a:bodyPr>
          <a:lstStyle/>
          <a:p>
            <a:pPr algn="l">
              <a:buNone/>
              <a:defRPr sz="1350" b="1">
                <a:solidFill>
                  <a:srgbClr val="111111"/>
                </a:solidFill>
                <a:latin typeface="Arial"/>
                <a:ea typeface="Arial"/>
                <a:cs typeface="Arial"/>
              </a:defRPr>
            </a:pPr>
            <a:r>
              <a:rPr sz="1350">
                <a:solidFill>
                  <a:schemeClr val="bg1"/>
                </a:solidFill>
                <a:latin typeface="Aptos" panose="020B0004020202020204" pitchFamily="34" charset="0"/>
                <a:ea typeface="Arial"/>
                <a:cs typeface="Arial"/>
              </a:rPr>
              <a:t>Orders</a:t>
            </a:r>
          </a:p>
        </p:txBody>
      </p:sp>
      <p:sp>
        <p:nvSpPr>
          <p:cNvPr id="152" name="Rectangle 151">
            <a:extLst>
              <a:ext uri="{FF2B5EF4-FFF2-40B4-BE49-F238E27FC236}">
                <a16:creationId xmlns:a16="http://schemas.microsoft.com/office/drawing/2014/main" id="{3A9832CC-324B-FA82-9505-B8DB05807AB7}"/>
              </a:ext>
            </a:extLst>
          </p:cNvPr>
          <p:cNvSpPr>
            <a:spLocks noGrp="1"/>
          </p:cNvSpPr>
          <p:nvPr/>
        </p:nvSpPr>
        <p:spPr>
          <a:xfrm>
            <a:off x="4367758" y="2123038"/>
            <a:ext cx="2286000" cy="628650"/>
          </a:xfrm>
          <a:prstGeom prst="rect">
            <a:avLst/>
          </a:prstGeom>
          <a:noFill/>
          <a:ln w="6668">
            <a:solidFill>
              <a:schemeClr val="tx1"/>
            </a:solidFill>
            <a:prstDash val="solid"/>
          </a:ln>
        </p:spPr>
        <p:txBody>
          <a:bodyPr/>
          <a:lstStyle/>
          <a:p>
            <a:endParaRPr lang="en-US"/>
          </a:p>
        </p:txBody>
      </p:sp>
      <p:sp>
        <p:nvSpPr>
          <p:cNvPr id="153" name="text">
            <a:extLst>
              <a:ext uri="{FF2B5EF4-FFF2-40B4-BE49-F238E27FC236}">
                <a16:creationId xmlns:a16="http://schemas.microsoft.com/office/drawing/2014/main" id="{78186160-0C42-8836-9F22-4BCD169C6519}"/>
              </a:ext>
            </a:extLst>
          </p:cNvPr>
          <p:cNvSpPr>
            <a:spLocks noGrp="1"/>
          </p:cNvSpPr>
          <p:nvPr/>
        </p:nvSpPr>
        <p:spPr>
          <a:xfrm>
            <a:off x="4482058" y="2246863"/>
            <a:ext cx="20574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1.00M</a:t>
            </a:r>
          </a:p>
        </p:txBody>
      </p:sp>
      <p:sp>
        <p:nvSpPr>
          <p:cNvPr id="154" name="Rectangle 153">
            <a:extLst>
              <a:ext uri="{FF2B5EF4-FFF2-40B4-BE49-F238E27FC236}">
                <a16:creationId xmlns:a16="http://schemas.microsoft.com/office/drawing/2014/main" id="{6597351C-FBC4-C476-A6F4-2831B9C36681}"/>
              </a:ext>
            </a:extLst>
          </p:cNvPr>
          <p:cNvSpPr>
            <a:spLocks noGrp="1"/>
          </p:cNvSpPr>
          <p:nvPr/>
        </p:nvSpPr>
        <p:spPr>
          <a:xfrm>
            <a:off x="6653758" y="2123038"/>
            <a:ext cx="2095500" cy="628650"/>
          </a:xfrm>
          <a:prstGeom prst="rect">
            <a:avLst/>
          </a:prstGeom>
          <a:noFill/>
          <a:ln w="6668">
            <a:solidFill>
              <a:schemeClr val="tx1"/>
            </a:solidFill>
            <a:prstDash val="solid"/>
          </a:ln>
        </p:spPr>
        <p:txBody>
          <a:bodyPr/>
          <a:lstStyle/>
          <a:p>
            <a:endParaRPr lang="en-US"/>
          </a:p>
        </p:txBody>
      </p:sp>
      <p:sp>
        <p:nvSpPr>
          <p:cNvPr id="155" name="text">
            <a:extLst>
              <a:ext uri="{FF2B5EF4-FFF2-40B4-BE49-F238E27FC236}">
                <a16:creationId xmlns:a16="http://schemas.microsoft.com/office/drawing/2014/main" id="{5F96F3CA-EAE0-4FAF-64D4-42CC18F26EBF}"/>
              </a:ext>
            </a:extLst>
          </p:cNvPr>
          <p:cNvSpPr>
            <a:spLocks noGrp="1"/>
          </p:cNvSpPr>
          <p:nvPr/>
        </p:nvSpPr>
        <p:spPr>
          <a:xfrm>
            <a:off x="6768058" y="2246863"/>
            <a:ext cx="18669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1.25M</a:t>
            </a:r>
          </a:p>
        </p:txBody>
      </p:sp>
      <p:sp>
        <p:nvSpPr>
          <p:cNvPr id="156" name="Rectangle 155">
            <a:extLst>
              <a:ext uri="{FF2B5EF4-FFF2-40B4-BE49-F238E27FC236}">
                <a16:creationId xmlns:a16="http://schemas.microsoft.com/office/drawing/2014/main" id="{E33C35A8-BCDA-5BAB-946D-0057E5BD9D48}"/>
              </a:ext>
            </a:extLst>
          </p:cNvPr>
          <p:cNvSpPr>
            <a:spLocks noGrp="1"/>
          </p:cNvSpPr>
          <p:nvPr/>
        </p:nvSpPr>
        <p:spPr>
          <a:xfrm>
            <a:off x="8749258" y="2123038"/>
            <a:ext cx="2705100" cy="628650"/>
          </a:xfrm>
          <a:prstGeom prst="rect">
            <a:avLst/>
          </a:prstGeom>
          <a:noFill/>
          <a:ln w="6668">
            <a:solidFill>
              <a:schemeClr val="tx1"/>
            </a:solidFill>
            <a:prstDash val="solid"/>
          </a:ln>
        </p:spPr>
        <p:txBody>
          <a:bodyPr/>
          <a:lstStyle/>
          <a:p>
            <a:endParaRPr lang="en-US"/>
          </a:p>
        </p:txBody>
      </p:sp>
      <p:sp>
        <p:nvSpPr>
          <p:cNvPr id="157" name="text">
            <a:extLst>
              <a:ext uri="{FF2B5EF4-FFF2-40B4-BE49-F238E27FC236}">
                <a16:creationId xmlns:a16="http://schemas.microsoft.com/office/drawing/2014/main" id="{1CE1A79D-B86D-90A1-B78F-921E853B9F98}"/>
              </a:ext>
            </a:extLst>
          </p:cNvPr>
          <p:cNvSpPr>
            <a:spLocks noGrp="1"/>
          </p:cNvSpPr>
          <p:nvPr/>
        </p:nvSpPr>
        <p:spPr>
          <a:xfrm>
            <a:off x="8863558" y="2246863"/>
            <a:ext cx="24765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dirty="0">
                <a:solidFill>
                  <a:srgbClr val="00B050"/>
                </a:solidFill>
                <a:latin typeface="Aptos" panose="020B0004020202020204" pitchFamily="34" charset="0"/>
                <a:ea typeface="Arial"/>
                <a:cs typeface="Arial"/>
              </a:rPr>
              <a:t>+25%</a:t>
            </a:r>
          </a:p>
        </p:txBody>
      </p:sp>
      <p:sp>
        <p:nvSpPr>
          <p:cNvPr id="158" name="Rectangle 157">
            <a:extLst>
              <a:ext uri="{FF2B5EF4-FFF2-40B4-BE49-F238E27FC236}">
                <a16:creationId xmlns:a16="http://schemas.microsoft.com/office/drawing/2014/main" id="{95A1CDE0-A40D-B602-905F-7A1B01FD3529}"/>
              </a:ext>
            </a:extLst>
          </p:cNvPr>
          <p:cNvSpPr>
            <a:spLocks noGrp="1"/>
          </p:cNvSpPr>
          <p:nvPr/>
        </p:nvSpPr>
        <p:spPr>
          <a:xfrm>
            <a:off x="329158" y="2751688"/>
            <a:ext cx="4038600" cy="628650"/>
          </a:xfrm>
          <a:prstGeom prst="rect">
            <a:avLst/>
          </a:prstGeom>
          <a:noFill/>
          <a:ln w="6668">
            <a:solidFill>
              <a:schemeClr val="tx1"/>
            </a:solidFill>
            <a:prstDash val="solid"/>
          </a:ln>
        </p:spPr>
        <p:txBody>
          <a:bodyPr/>
          <a:lstStyle/>
          <a:p>
            <a:endParaRPr lang="en-US">
              <a:solidFill>
                <a:schemeClr val="bg1"/>
              </a:solidFill>
              <a:latin typeface="Aptos" panose="020B0004020202020204" pitchFamily="34" charset="0"/>
            </a:endParaRPr>
          </a:p>
        </p:txBody>
      </p:sp>
      <p:sp>
        <p:nvSpPr>
          <p:cNvPr id="159" name="text">
            <a:extLst>
              <a:ext uri="{FF2B5EF4-FFF2-40B4-BE49-F238E27FC236}">
                <a16:creationId xmlns:a16="http://schemas.microsoft.com/office/drawing/2014/main" id="{E2F80294-909F-7648-159D-5884F1FD6F48}"/>
              </a:ext>
            </a:extLst>
          </p:cNvPr>
          <p:cNvSpPr>
            <a:spLocks noGrp="1"/>
          </p:cNvSpPr>
          <p:nvPr/>
        </p:nvSpPr>
        <p:spPr>
          <a:xfrm>
            <a:off x="443458" y="2875513"/>
            <a:ext cx="3810000" cy="438150"/>
          </a:xfrm>
          <a:prstGeom prst="rect">
            <a:avLst/>
          </a:prstGeom>
          <a:noFill/>
          <a:ln w="0">
            <a:noFill/>
            <a:prstDash val="solid"/>
          </a:ln>
        </p:spPr>
        <p:txBody>
          <a:bodyPr anchor="t">
            <a:normAutofit/>
          </a:bodyPr>
          <a:lstStyle/>
          <a:p>
            <a:pPr algn="l">
              <a:buNone/>
              <a:defRPr sz="1350" b="1">
                <a:solidFill>
                  <a:srgbClr val="111111"/>
                </a:solidFill>
                <a:latin typeface="Arial"/>
                <a:ea typeface="Arial"/>
                <a:cs typeface="Arial"/>
              </a:defRPr>
            </a:pPr>
            <a:r>
              <a:rPr sz="1350">
                <a:solidFill>
                  <a:schemeClr val="bg1"/>
                </a:solidFill>
                <a:latin typeface="Aptos" panose="020B0004020202020204" pitchFamily="34" charset="0"/>
                <a:ea typeface="Arial"/>
                <a:cs typeface="Arial"/>
              </a:rPr>
              <a:t>Revenue</a:t>
            </a:r>
          </a:p>
        </p:txBody>
      </p:sp>
      <p:sp>
        <p:nvSpPr>
          <p:cNvPr id="160" name="Rectangle 159">
            <a:extLst>
              <a:ext uri="{FF2B5EF4-FFF2-40B4-BE49-F238E27FC236}">
                <a16:creationId xmlns:a16="http://schemas.microsoft.com/office/drawing/2014/main" id="{811E20DA-3264-3E7E-DC55-DEEE3326E99B}"/>
              </a:ext>
            </a:extLst>
          </p:cNvPr>
          <p:cNvSpPr>
            <a:spLocks noGrp="1"/>
          </p:cNvSpPr>
          <p:nvPr/>
        </p:nvSpPr>
        <p:spPr>
          <a:xfrm>
            <a:off x="4367758" y="2751688"/>
            <a:ext cx="2286000" cy="628650"/>
          </a:xfrm>
          <a:prstGeom prst="rect">
            <a:avLst/>
          </a:prstGeom>
          <a:noFill/>
          <a:ln w="6668">
            <a:solidFill>
              <a:schemeClr val="tx1"/>
            </a:solidFill>
            <a:prstDash val="solid"/>
          </a:ln>
        </p:spPr>
        <p:txBody>
          <a:bodyPr/>
          <a:lstStyle/>
          <a:p>
            <a:endParaRPr lang="en-US">
              <a:solidFill>
                <a:schemeClr val="bg1"/>
              </a:solidFill>
              <a:latin typeface="Aptos" panose="020B0004020202020204" pitchFamily="34" charset="0"/>
            </a:endParaRPr>
          </a:p>
        </p:txBody>
      </p:sp>
      <p:sp>
        <p:nvSpPr>
          <p:cNvPr id="161" name="text">
            <a:extLst>
              <a:ext uri="{FF2B5EF4-FFF2-40B4-BE49-F238E27FC236}">
                <a16:creationId xmlns:a16="http://schemas.microsoft.com/office/drawing/2014/main" id="{48AC6AD1-E33F-1882-3C27-751BF4405161}"/>
              </a:ext>
            </a:extLst>
          </p:cNvPr>
          <p:cNvSpPr>
            <a:spLocks noGrp="1"/>
          </p:cNvSpPr>
          <p:nvPr/>
        </p:nvSpPr>
        <p:spPr>
          <a:xfrm>
            <a:off x="4482058" y="2875513"/>
            <a:ext cx="20574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$30.0M</a:t>
            </a:r>
          </a:p>
        </p:txBody>
      </p:sp>
      <p:sp>
        <p:nvSpPr>
          <p:cNvPr id="162" name="Rectangle 161">
            <a:extLst>
              <a:ext uri="{FF2B5EF4-FFF2-40B4-BE49-F238E27FC236}">
                <a16:creationId xmlns:a16="http://schemas.microsoft.com/office/drawing/2014/main" id="{CB3CB004-D474-3E99-01D2-04FE3C1C1A75}"/>
              </a:ext>
            </a:extLst>
          </p:cNvPr>
          <p:cNvSpPr>
            <a:spLocks noGrp="1"/>
          </p:cNvSpPr>
          <p:nvPr/>
        </p:nvSpPr>
        <p:spPr>
          <a:xfrm>
            <a:off x="6653758" y="2751688"/>
            <a:ext cx="2095500" cy="628650"/>
          </a:xfrm>
          <a:prstGeom prst="rect">
            <a:avLst/>
          </a:prstGeom>
          <a:noFill/>
          <a:ln w="6668">
            <a:solidFill>
              <a:schemeClr val="tx1"/>
            </a:solidFill>
            <a:prstDash val="solid"/>
          </a:ln>
        </p:spPr>
        <p:txBody>
          <a:bodyPr/>
          <a:lstStyle/>
          <a:p>
            <a:endParaRPr lang="en-US" b="1">
              <a:solidFill>
                <a:schemeClr val="bg1"/>
              </a:solidFill>
              <a:latin typeface="Aptos" panose="020B0004020202020204" pitchFamily="34" charset="0"/>
            </a:endParaRPr>
          </a:p>
        </p:txBody>
      </p:sp>
      <p:sp>
        <p:nvSpPr>
          <p:cNvPr id="163" name="text">
            <a:extLst>
              <a:ext uri="{FF2B5EF4-FFF2-40B4-BE49-F238E27FC236}">
                <a16:creationId xmlns:a16="http://schemas.microsoft.com/office/drawing/2014/main" id="{C9849461-BF0E-04E9-89C9-127EE0503B14}"/>
              </a:ext>
            </a:extLst>
          </p:cNvPr>
          <p:cNvSpPr>
            <a:spLocks noGrp="1"/>
          </p:cNvSpPr>
          <p:nvPr/>
        </p:nvSpPr>
        <p:spPr>
          <a:xfrm>
            <a:off x="6768058" y="2875513"/>
            <a:ext cx="18669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$36.0M</a:t>
            </a:r>
          </a:p>
        </p:txBody>
      </p:sp>
      <p:sp>
        <p:nvSpPr>
          <p:cNvPr id="164" name="Rectangle 163">
            <a:extLst>
              <a:ext uri="{FF2B5EF4-FFF2-40B4-BE49-F238E27FC236}">
                <a16:creationId xmlns:a16="http://schemas.microsoft.com/office/drawing/2014/main" id="{71D9A4BA-EB4E-C90A-4E23-7DC62EC56842}"/>
              </a:ext>
            </a:extLst>
          </p:cNvPr>
          <p:cNvSpPr>
            <a:spLocks noGrp="1"/>
          </p:cNvSpPr>
          <p:nvPr/>
        </p:nvSpPr>
        <p:spPr>
          <a:xfrm>
            <a:off x="8749258" y="2751688"/>
            <a:ext cx="2705100" cy="628650"/>
          </a:xfrm>
          <a:prstGeom prst="rect">
            <a:avLst/>
          </a:prstGeom>
          <a:noFill/>
          <a:ln w="6668">
            <a:solidFill>
              <a:schemeClr val="tx1"/>
            </a:solidFill>
            <a:prstDash val="solid"/>
          </a:ln>
        </p:spPr>
        <p:txBody>
          <a:bodyPr/>
          <a:lstStyle/>
          <a:p>
            <a:endParaRPr lang="en-US">
              <a:solidFill>
                <a:schemeClr val="bg1"/>
              </a:solidFill>
            </a:endParaRPr>
          </a:p>
        </p:txBody>
      </p:sp>
      <p:sp>
        <p:nvSpPr>
          <p:cNvPr id="165" name="text">
            <a:extLst>
              <a:ext uri="{FF2B5EF4-FFF2-40B4-BE49-F238E27FC236}">
                <a16:creationId xmlns:a16="http://schemas.microsoft.com/office/drawing/2014/main" id="{2019299C-DD21-E8B7-D23E-6EA7B24B4F34}"/>
              </a:ext>
            </a:extLst>
          </p:cNvPr>
          <p:cNvSpPr>
            <a:spLocks noGrp="1"/>
          </p:cNvSpPr>
          <p:nvPr/>
        </p:nvSpPr>
        <p:spPr>
          <a:xfrm>
            <a:off x="8863558" y="2875513"/>
            <a:ext cx="24765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dirty="0">
                <a:solidFill>
                  <a:srgbClr val="00B050"/>
                </a:solidFill>
                <a:latin typeface="Aptos" panose="020B0004020202020204" pitchFamily="34" charset="0"/>
                <a:ea typeface="Arial"/>
                <a:cs typeface="Arial"/>
              </a:rPr>
              <a:t>+20%</a:t>
            </a:r>
          </a:p>
        </p:txBody>
      </p:sp>
      <p:sp>
        <p:nvSpPr>
          <p:cNvPr id="166" name="Rectangle 165">
            <a:extLst>
              <a:ext uri="{FF2B5EF4-FFF2-40B4-BE49-F238E27FC236}">
                <a16:creationId xmlns:a16="http://schemas.microsoft.com/office/drawing/2014/main" id="{C1E13F17-9839-71B7-EFF3-60DC238EFFA1}"/>
              </a:ext>
            </a:extLst>
          </p:cNvPr>
          <p:cNvSpPr>
            <a:spLocks noGrp="1"/>
          </p:cNvSpPr>
          <p:nvPr/>
        </p:nvSpPr>
        <p:spPr>
          <a:xfrm>
            <a:off x="329158" y="3380338"/>
            <a:ext cx="4038600" cy="628650"/>
          </a:xfrm>
          <a:prstGeom prst="rect">
            <a:avLst/>
          </a:prstGeom>
          <a:noFill/>
          <a:ln w="6668">
            <a:solidFill>
              <a:schemeClr val="tx1"/>
            </a:solidFill>
            <a:prstDash val="solid"/>
          </a:ln>
        </p:spPr>
        <p:txBody>
          <a:bodyPr/>
          <a:lstStyle/>
          <a:p>
            <a:endParaRPr lang="en-US">
              <a:solidFill>
                <a:schemeClr val="bg1"/>
              </a:solidFill>
              <a:latin typeface="Aptos" panose="020B0004020202020204" pitchFamily="34" charset="0"/>
            </a:endParaRPr>
          </a:p>
        </p:txBody>
      </p:sp>
      <p:sp>
        <p:nvSpPr>
          <p:cNvPr id="167" name="text">
            <a:extLst>
              <a:ext uri="{FF2B5EF4-FFF2-40B4-BE49-F238E27FC236}">
                <a16:creationId xmlns:a16="http://schemas.microsoft.com/office/drawing/2014/main" id="{662EC262-8D50-220E-6451-791803B81FC3}"/>
              </a:ext>
            </a:extLst>
          </p:cNvPr>
          <p:cNvSpPr>
            <a:spLocks noGrp="1"/>
          </p:cNvSpPr>
          <p:nvPr/>
        </p:nvSpPr>
        <p:spPr>
          <a:xfrm>
            <a:off x="443458" y="3504163"/>
            <a:ext cx="3810000" cy="438150"/>
          </a:xfrm>
          <a:prstGeom prst="rect">
            <a:avLst/>
          </a:prstGeom>
          <a:noFill/>
          <a:ln w="0">
            <a:noFill/>
            <a:prstDash val="solid"/>
          </a:ln>
        </p:spPr>
        <p:txBody>
          <a:bodyPr anchor="t">
            <a:normAutofit/>
          </a:bodyPr>
          <a:lstStyle/>
          <a:p>
            <a:pPr algn="l">
              <a:buNone/>
              <a:defRPr sz="1350" b="1">
                <a:solidFill>
                  <a:srgbClr val="111111"/>
                </a:solidFill>
                <a:latin typeface="Arial"/>
                <a:ea typeface="Arial"/>
                <a:cs typeface="Arial"/>
              </a:defRPr>
            </a:pPr>
            <a:r>
              <a:rPr sz="1350">
                <a:solidFill>
                  <a:schemeClr val="bg1"/>
                </a:solidFill>
                <a:latin typeface="Aptos" panose="020B0004020202020204" pitchFamily="34" charset="0"/>
                <a:ea typeface="Arial"/>
                <a:cs typeface="Arial"/>
              </a:rPr>
              <a:t>Revenue / order</a:t>
            </a:r>
          </a:p>
        </p:txBody>
      </p:sp>
      <p:sp>
        <p:nvSpPr>
          <p:cNvPr id="168" name="Rectangle 167">
            <a:extLst>
              <a:ext uri="{FF2B5EF4-FFF2-40B4-BE49-F238E27FC236}">
                <a16:creationId xmlns:a16="http://schemas.microsoft.com/office/drawing/2014/main" id="{2261150D-0F77-5EE1-8045-54F8DBC971E2}"/>
              </a:ext>
            </a:extLst>
          </p:cNvPr>
          <p:cNvSpPr>
            <a:spLocks noGrp="1"/>
          </p:cNvSpPr>
          <p:nvPr/>
        </p:nvSpPr>
        <p:spPr>
          <a:xfrm>
            <a:off x="4367758" y="3380338"/>
            <a:ext cx="2286000" cy="628650"/>
          </a:xfrm>
          <a:prstGeom prst="rect">
            <a:avLst/>
          </a:prstGeom>
          <a:noFill/>
          <a:ln w="6668">
            <a:solidFill>
              <a:schemeClr val="tx1"/>
            </a:solidFill>
            <a:prstDash val="solid"/>
          </a:ln>
        </p:spPr>
        <p:txBody>
          <a:bodyPr/>
          <a:lstStyle/>
          <a:p>
            <a:endParaRPr lang="en-US">
              <a:solidFill>
                <a:schemeClr val="bg1"/>
              </a:solidFill>
              <a:latin typeface="Aptos" panose="020B0004020202020204" pitchFamily="34" charset="0"/>
            </a:endParaRPr>
          </a:p>
        </p:txBody>
      </p:sp>
      <p:sp>
        <p:nvSpPr>
          <p:cNvPr id="169" name="text">
            <a:extLst>
              <a:ext uri="{FF2B5EF4-FFF2-40B4-BE49-F238E27FC236}">
                <a16:creationId xmlns:a16="http://schemas.microsoft.com/office/drawing/2014/main" id="{1C3B7282-D757-D96F-9EB8-8D5B4E9D9FF3}"/>
              </a:ext>
            </a:extLst>
          </p:cNvPr>
          <p:cNvSpPr>
            <a:spLocks noGrp="1"/>
          </p:cNvSpPr>
          <p:nvPr/>
        </p:nvSpPr>
        <p:spPr>
          <a:xfrm>
            <a:off x="4482058" y="3504163"/>
            <a:ext cx="20574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$30.00</a:t>
            </a:r>
          </a:p>
        </p:txBody>
      </p:sp>
      <p:sp>
        <p:nvSpPr>
          <p:cNvPr id="170" name="Rectangle 169">
            <a:extLst>
              <a:ext uri="{FF2B5EF4-FFF2-40B4-BE49-F238E27FC236}">
                <a16:creationId xmlns:a16="http://schemas.microsoft.com/office/drawing/2014/main" id="{E3866772-4248-A804-701C-A7B4409D3776}"/>
              </a:ext>
            </a:extLst>
          </p:cNvPr>
          <p:cNvSpPr>
            <a:spLocks noGrp="1"/>
          </p:cNvSpPr>
          <p:nvPr/>
        </p:nvSpPr>
        <p:spPr>
          <a:xfrm>
            <a:off x="6653758" y="3380338"/>
            <a:ext cx="2095500" cy="628650"/>
          </a:xfrm>
          <a:prstGeom prst="rect">
            <a:avLst/>
          </a:prstGeom>
          <a:noFill/>
          <a:ln w="6668">
            <a:solidFill>
              <a:schemeClr val="tx1"/>
            </a:solidFill>
            <a:prstDash val="solid"/>
          </a:ln>
        </p:spPr>
        <p:txBody>
          <a:bodyPr/>
          <a:lstStyle/>
          <a:p>
            <a:endParaRPr lang="en-US" b="1">
              <a:solidFill>
                <a:schemeClr val="bg1"/>
              </a:solidFill>
              <a:latin typeface="Aptos" panose="020B0004020202020204" pitchFamily="34" charset="0"/>
            </a:endParaRPr>
          </a:p>
        </p:txBody>
      </p:sp>
      <p:sp>
        <p:nvSpPr>
          <p:cNvPr id="171" name="text">
            <a:extLst>
              <a:ext uri="{FF2B5EF4-FFF2-40B4-BE49-F238E27FC236}">
                <a16:creationId xmlns:a16="http://schemas.microsoft.com/office/drawing/2014/main" id="{9FE8E46B-9F02-84D8-DD7A-218A257444C5}"/>
              </a:ext>
            </a:extLst>
          </p:cNvPr>
          <p:cNvSpPr>
            <a:spLocks noGrp="1"/>
          </p:cNvSpPr>
          <p:nvPr/>
        </p:nvSpPr>
        <p:spPr>
          <a:xfrm>
            <a:off x="6768058" y="3504163"/>
            <a:ext cx="18669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$28.80</a:t>
            </a:r>
          </a:p>
        </p:txBody>
      </p:sp>
      <p:sp>
        <p:nvSpPr>
          <p:cNvPr id="172" name="Rectangle 171">
            <a:extLst>
              <a:ext uri="{FF2B5EF4-FFF2-40B4-BE49-F238E27FC236}">
                <a16:creationId xmlns:a16="http://schemas.microsoft.com/office/drawing/2014/main" id="{91380771-7EC3-7D39-1300-333AD1D39A61}"/>
              </a:ext>
            </a:extLst>
          </p:cNvPr>
          <p:cNvSpPr>
            <a:spLocks noGrp="1"/>
          </p:cNvSpPr>
          <p:nvPr/>
        </p:nvSpPr>
        <p:spPr>
          <a:xfrm>
            <a:off x="8749258" y="3380338"/>
            <a:ext cx="2705100" cy="628650"/>
          </a:xfrm>
          <a:prstGeom prst="rect">
            <a:avLst/>
          </a:prstGeom>
          <a:noFill/>
          <a:ln w="6668">
            <a:solidFill>
              <a:schemeClr val="tx1"/>
            </a:solidFill>
            <a:prstDash val="solid"/>
          </a:ln>
        </p:spPr>
        <p:txBody>
          <a:bodyPr/>
          <a:lstStyle/>
          <a:p>
            <a:endParaRPr lang="en-US">
              <a:solidFill>
                <a:schemeClr val="bg1"/>
              </a:solidFill>
            </a:endParaRPr>
          </a:p>
        </p:txBody>
      </p:sp>
      <p:sp>
        <p:nvSpPr>
          <p:cNvPr id="173" name="text">
            <a:extLst>
              <a:ext uri="{FF2B5EF4-FFF2-40B4-BE49-F238E27FC236}">
                <a16:creationId xmlns:a16="http://schemas.microsoft.com/office/drawing/2014/main" id="{62E7D6B2-D479-82BA-5FDC-C1383394B206}"/>
              </a:ext>
            </a:extLst>
          </p:cNvPr>
          <p:cNvSpPr>
            <a:spLocks noGrp="1"/>
          </p:cNvSpPr>
          <p:nvPr/>
        </p:nvSpPr>
        <p:spPr>
          <a:xfrm>
            <a:off x="8863558" y="3504163"/>
            <a:ext cx="24765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lang="en-US" sz="1350" b="1" dirty="0">
                <a:solidFill>
                  <a:srgbClr val="C00000"/>
                </a:solidFill>
                <a:latin typeface="Aptos" panose="020B0004020202020204" pitchFamily="34" charset="0"/>
                <a:ea typeface="Arial"/>
                <a:cs typeface="Arial"/>
              </a:rPr>
              <a:t>-</a:t>
            </a:r>
            <a:r>
              <a:rPr sz="1350" b="1" dirty="0">
                <a:solidFill>
                  <a:srgbClr val="C00000"/>
                </a:solidFill>
                <a:latin typeface="Aptos" panose="020B0004020202020204" pitchFamily="34" charset="0"/>
                <a:ea typeface="Arial"/>
                <a:cs typeface="Arial"/>
              </a:rPr>
              <a:t>4%</a:t>
            </a:r>
          </a:p>
        </p:txBody>
      </p:sp>
      <p:sp>
        <p:nvSpPr>
          <p:cNvPr id="174" name="Rectangle 173">
            <a:extLst>
              <a:ext uri="{FF2B5EF4-FFF2-40B4-BE49-F238E27FC236}">
                <a16:creationId xmlns:a16="http://schemas.microsoft.com/office/drawing/2014/main" id="{E01CC295-371A-D8D1-6966-C3A0EB55D643}"/>
              </a:ext>
            </a:extLst>
          </p:cNvPr>
          <p:cNvSpPr>
            <a:spLocks noGrp="1"/>
          </p:cNvSpPr>
          <p:nvPr/>
        </p:nvSpPr>
        <p:spPr>
          <a:xfrm>
            <a:off x="329158" y="4008988"/>
            <a:ext cx="4038600" cy="628650"/>
          </a:xfrm>
          <a:prstGeom prst="rect">
            <a:avLst/>
          </a:prstGeom>
          <a:noFill/>
          <a:ln w="6668">
            <a:solidFill>
              <a:schemeClr val="tx1"/>
            </a:solidFill>
            <a:prstDash val="solid"/>
          </a:ln>
        </p:spPr>
        <p:txBody>
          <a:bodyPr/>
          <a:lstStyle/>
          <a:p>
            <a:endParaRPr lang="en-US">
              <a:solidFill>
                <a:schemeClr val="bg1"/>
              </a:solidFill>
              <a:latin typeface="Aptos" panose="020B0004020202020204" pitchFamily="34" charset="0"/>
            </a:endParaRPr>
          </a:p>
        </p:txBody>
      </p:sp>
      <p:sp>
        <p:nvSpPr>
          <p:cNvPr id="175" name="text">
            <a:extLst>
              <a:ext uri="{FF2B5EF4-FFF2-40B4-BE49-F238E27FC236}">
                <a16:creationId xmlns:a16="http://schemas.microsoft.com/office/drawing/2014/main" id="{B4F91C74-D33B-8524-E450-855FFA9E0BB8}"/>
              </a:ext>
            </a:extLst>
          </p:cNvPr>
          <p:cNvSpPr>
            <a:spLocks noGrp="1"/>
          </p:cNvSpPr>
          <p:nvPr/>
        </p:nvSpPr>
        <p:spPr>
          <a:xfrm>
            <a:off x="443458" y="4132813"/>
            <a:ext cx="3810000" cy="438150"/>
          </a:xfrm>
          <a:prstGeom prst="rect">
            <a:avLst/>
          </a:prstGeom>
          <a:noFill/>
          <a:ln w="0">
            <a:noFill/>
            <a:prstDash val="solid"/>
          </a:ln>
        </p:spPr>
        <p:txBody>
          <a:bodyPr anchor="t">
            <a:normAutofit/>
          </a:bodyPr>
          <a:lstStyle/>
          <a:p>
            <a:pPr algn="l">
              <a:buNone/>
              <a:defRPr sz="1350" b="1">
                <a:solidFill>
                  <a:srgbClr val="111111"/>
                </a:solidFill>
                <a:latin typeface="Arial"/>
                <a:ea typeface="Arial"/>
                <a:cs typeface="Arial"/>
              </a:defRPr>
            </a:pPr>
            <a:r>
              <a:rPr sz="1350">
                <a:solidFill>
                  <a:schemeClr val="bg1"/>
                </a:solidFill>
                <a:latin typeface="Aptos" panose="020B0004020202020204" pitchFamily="34" charset="0"/>
                <a:ea typeface="Arial"/>
                <a:cs typeface="Arial"/>
              </a:rPr>
              <a:t>Delivery cost / order</a:t>
            </a:r>
          </a:p>
        </p:txBody>
      </p:sp>
      <p:sp>
        <p:nvSpPr>
          <p:cNvPr id="176" name="Rectangle 175">
            <a:extLst>
              <a:ext uri="{FF2B5EF4-FFF2-40B4-BE49-F238E27FC236}">
                <a16:creationId xmlns:a16="http://schemas.microsoft.com/office/drawing/2014/main" id="{66039ED0-0045-3FEF-6EF9-304CC6C855CE}"/>
              </a:ext>
            </a:extLst>
          </p:cNvPr>
          <p:cNvSpPr>
            <a:spLocks noGrp="1"/>
          </p:cNvSpPr>
          <p:nvPr/>
        </p:nvSpPr>
        <p:spPr>
          <a:xfrm>
            <a:off x="4367758" y="4008988"/>
            <a:ext cx="2286000" cy="628650"/>
          </a:xfrm>
          <a:prstGeom prst="rect">
            <a:avLst/>
          </a:prstGeom>
          <a:noFill/>
          <a:ln w="6668">
            <a:solidFill>
              <a:schemeClr val="tx1"/>
            </a:solidFill>
            <a:prstDash val="solid"/>
          </a:ln>
        </p:spPr>
        <p:txBody>
          <a:bodyPr/>
          <a:lstStyle/>
          <a:p>
            <a:endParaRPr lang="en-US">
              <a:solidFill>
                <a:schemeClr val="bg1"/>
              </a:solidFill>
              <a:latin typeface="Aptos" panose="020B0004020202020204" pitchFamily="34" charset="0"/>
            </a:endParaRPr>
          </a:p>
        </p:txBody>
      </p:sp>
      <p:sp>
        <p:nvSpPr>
          <p:cNvPr id="177" name="text">
            <a:extLst>
              <a:ext uri="{FF2B5EF4-FFF2-40B4-BE49-F238E27FC236}">
                <a16:creationId xmlns:a16="http://schemas.microsoft.com/office/drawing/2014/main" id="{EEFCA30E-9A7A-D2A9-C998-DABF361309D1}"/>
              </a:ext>
            </a:extLst>
          </p:cNvPr>
          <p:cNvSpPr>
            <a:spLocks noGrp="1"/>
          </p:cNvSpPr>
          <p:nvPr/>
        </p:nvSpPr>
        <p:spPr>
          <a:xfrm>
            <a:off x="4482058" y="4132813"/>
            <a:ext cx="20574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$8.00</a:t>
            </a:r>
          </a:p>
        </p:txBody>
      </p:sp>
      <p:sp>
        <p:nvSpPr>
          <p:cNvPr id="178" name="Rectangle 177">
            <a:extLst>
              <a:ext uri="{FF2B5EF4-FFF2-40B4-BE49-F238E27FC236}">
                <a16:creationId xmlns:a16="http://schemas.microsoft.com/office/drawing/2014/main" id="{FE2DC6E2-501C-019D-AFE2-7E33B83392B5}"/>
              </a:ext>
            </a:extLst>
          </p:cNvPr>
          <p:cNvSpPr>
            <a:spLocks noGrp="1"/>
          </p:cNvSpPr>
          <p:nvPr/>
        </p:nvSpPr>
        <p:spPr>
          <a:xfrm>
            <a:off x="6653758" y="4008988"/>
            <a:ext cx="2095500" cy="628650"/>
          </a:xfrm>
          <a:prstGeom prst="rect">
            <a:avLst/>
          </a:prstGeom>
          <a:noFill/>
          <a:ln w="6668">
            <a:solidFill>
              <a:schemeClr val="tx1"/>
            </a:solidFill>
            <a:prstDash val="solid"/>
          </a:ln>
        </p:spPr>
        <p:txBody>
          <a:bodyPr/>
          <a:lstStyle/>
          <a:p>
            <a:endParaRPr lang="en-US" b="1">
              <a:solidFill>
                <a:schemeClr val="bg1"/>
              </a:solidFill>
              <a:latin typeface="Aptos" panose="020B0004020202020204" pitchFamily="34" charset="0"/>
            </a:endParaRPr>
          </a:p>
        </p:txBody>
      </p:sp>
      <p:sp>
        <p:nvSpPr>
          <p:cNvPr id="179" name="text">
            <a:extLst>
              <a:ext uri="{FF2B5EF4-FFF2-40B4-BE49-F238E27FC236}">
                <a16:creationId xmlns:a16="http://schemas.microsoft.com/office/drawing/2014/main" id="{92C147B1-CE4E-E399-F71B-C123ABB912E7}"/>
              </a:ext>
            </a:extLst>
          </p:cNvPr>
          <p:cNvSpPr>
            <a:spLocks noGrp="1"/>
          </p:cNvSpPr>
          <p:nvPr/>
        </p:nvSpPr>
        <p:spPr>
          <a:xfrm>
            <a:off x="6768058" y="4132813"/>
            <a:ext cx="18669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$9.40</a:t>
            </a:r>
          </a:p>
        </p:txBody>
      </p:sp>
      <p:sp>
        <p:nvSpPr>
          <p:cNvPr id="180" name="Rectangle 179">
            <a:extLst>
              <a:ext uri="{FF2B5EF4-FFF2-40B4-BE49-F238E27FC236}">
                <a16:creationId xmlns:a16="http://schemas.microsoft.com/office/drawing/2014/main" id="{FA041BB5-958E-A837-C56C-FBCF5FCA6DA0}"/>
              </a:ext>
            </a:extLst>
          </p:cNvPr>
          <p:cNvSpPr>
            <a:spLocks noGrp="1"/>
          </p:cNvSpPr>
          <p:nvPr/>
        </p:nvSpPr>
        <p:spPr>
          <a:xfrm>
            <a:off x="8749258" y="4008988"/>
            <a:ext cx="2705100" cy="628650"/>
          </a:xfrm>
          <a:prstGeom prst="rect">
            <a:avLst/>
          </a:prstGeom>
          <a:noFill/>
          <a:ln w="6668">
            <a:solidFill>
              <a:schemeClr val="tx1"/>
            </a:solidFill>
            <a:prstDash val="solid"/>
          </a:ln>
        </p:spPr>
        <p:txBody>
          <a:bodyPr/>
          <a:lstStyle/>
          <a:p>
            <a:endParaRPr lang="en-US">
              <a:solidFill>
                <a:schemeClr val="bg1"/>
              </a:solidFill>
            </a:endParaRPr>
          </a:p>
        </p:txBody>
      </p:sp>
      <p:sp>
        <p:nvSpPr>
          <p:cNvPr id="181" name="text">
            <a:extLst>
              <a:ext uri="{FF2B5EF4-FFF2-40B4-BE49-F238E27FC236}">
                <a16:creationId xmlns:a16="http://schemas.microsoft.com/office/drawing/2014/main" id="{C179E447-AD71-2DEF-89C3-45A378484B6C}"/>
              </a:ext>
            </a:extLst>
          </p:cNvPr>
          <p:cNvSpPr>
            <a:spLocks noGrp="1"/>
          </p:cNvSpPr>
          <p:nvPr/>
        </p:nvSpPr>
        <p:spPr>
          <a:xfrm>
            <a:off x="8863558" y="4132813"/>
            <a:ext cx="24765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dirty="0">
                <a:solidFill>
                  <a:srgbClr val="00B050"/>
                </a:solidFill>
                <a:latin typeface="Aptos" panose="020B0004020202020204" pitchFamily="34" charset="0"/>
                <a:ea typeface="Arial"/>
                <a:cs typeface="Arial"/>
              </a:rPr>
              <a:t>+18%</a:t>
            </a:r>
          </a:p>
        </p:txBody>
      </p:sp>
      <p:sp>
        <p:nvSpPr>
          <p:cNvPr id="182" name="Rectangle 181">
            <a:extLst>
              <a:ext uri="{FF2B5EF4-FFF2-40B4-BE49-F238E27FC236}">
                <a16:creationId xmlns:a16="http://schemas.microsoft.com/office/drawing/2014/main" id="{2878C08A-2565-D687-D6BF-76BC443BA688}"/>
              </a:ext>
            </a:extLst>
          </p:cNvPr>
          <p:cNvSpPr>
            <a:spLocks noGrp="1"/>
          </p:cNvSpPr>
          <p:nvPr/>
        </p:nvSpPr>
        <p:spPr>
          <a:xfrm>
            <a:off x="329158" y="4637638"/>
            <a:ext cx="4038600" cy="628650"/>
          </a:xfrm>
          <a:prstGeom prst="rect">
            <a:avLst/>
          </a:prstGeom>
          <a:noFill/>
          <a:ln w="6668">
            <a:solidFill>
              <a:schemeClr val="tx1"/>
            </a:solidFill>
            <a:prstDash val="solid"/>
          </a:ln>
        </p:spPr>
        <p:txBody>
          <a:bodyPr/>
          <a:lstStyle/>
          <a:p>
            <a:endParaRPr lang="en-US">
              <a:solidFill>
                <a:schemeClr val="bg1"/>
              </a:solidFill>
            </a:endParaRPr>
          </a:p>
        </p:txBody>
      </p:sp>
      <p:sp>
        <p:nvSpPr>
          <p:cNvPr id="183" name="text">
            <a:extLst>
              <a:ext uri="{FF2B5EF4-FFF2-40B4-BE49-F238E27FC236}">
                <a16:creationId xmlns:a16="http://schemas.microsoft.com/office/drawing/2014/main" id="{E7CB21D8-843D-478F-DE08-FF955359D59B}"/>
              </a:ext>
            </a:extLst>
          </p:cNvPr>
          <p:cNvSpPr>
            <a:spLocks noGrp="1"/>
          </p:cNvSpPr>
          <p:nvPr/>
        </p:nvSpPr>
        <p:spPr>
          <a:xfrm>
            <a:off x="443458" y="4761463"/>
            <a:ext cx="3810000" cy="438150"/>
          </a:xfrm>
          <a:prstGeom prst="rect">
            <a:avLst/>
          </a:prstGeom>
          <a:noFill/>
          <a:ln w="0">
            <a:noFill/>
            <a:prstDash val="solid"/>
          </a:ln>
        </p:spPr>
        <p:txBody>
          <a:bodyPr anchor="t">
            <a:normAutofit/>
          </a:bodyPr>
          <a:lstStyle/>
          <a:p>
            <a:pPr algn="l">
              <a:buNone/>
              <a:defRPr sz="1350" b="1">
                <a:solidFill>
                  <a:srgbClr val="111111"/>
                </a:solidFill>
                <a:latin typeface="Arial"/>
                <a:ea typeface="Arial"/>
                <a:cs typeface="Arial"/>
              </a:defRPr>
            </a:pPr>
            <a:r>
              <a:rPr sz="1350">
                <a:solidFill>
                  <a:schemeClr val="bg1"/>
                </a:solidFill>
                <a:latin typeface="Aptos" panose="020B0004020202020204" pitchFamily="34" charset="0"/>
                <a:ea typeface="Arial"/>
                <a:cs typeface="Arial"/>
              </a:rPr>
              <a:t>Operating margin</a:t>
            </a:r>
          </a:p>
        </p:txBody>
      </p:sp>
      <p:sp>
        <p:nvSpPr>
          <p:cNvPr id="184" name="Rectangle 183">
            <a:extLst>
              <a:ext uri="{FF2B5EF4-FFF2-40B4-BE49-F238E27FC236}">
                <a16:creationId xmlns:a16="http://schemas.microsoft.com/office/drawing/2014/main" id="{114EC8FF-E90F-7516-89BC-F8C238B212D3}"/>
              </a:ext>
            </a:extLst>
          </p:cNvPr>
          <p:cNvSpPr>
            <a:spLocks noGrp="1"/>
          </p:cNvSpPr>
          <p:nvPr/>
        </p:nvSpPr>
        <p:spPr>
          <a:xfrm>
            <a:off x="4367758" y="4637638"/>
            <a:ext cx="2286000" cy="628650"/>
          </a:xfrm>
          <a:prstGeom prst="rect">
            <a:avLst/>
          </a:prstGeom>
          <a:noFill/>
          <a:ln w="6668">
            <a:solidFill>
              <a:schemeClr val="tx1"/>
            </a:solidFill>
            <a:prstDash val="solid"/>
          </a:ln>
        </p:spPr>
        <p:txBody>
          <a:bodyPr/>
          <a:lstStyle/>
          <a:p>
            <a:endParaRPr lang="en-US">
              <a:solidFill>
                <a:schemeClr val="bg1"/>
              </a:solidFill>
            </a:endParaRPr>
          </a:p>
        </p:txBody>
      </p:sp>
      <p:sp>
        <p:nvSpPr>
          <p:cNvPr id="185" name="text">
            <a:extLst>
              <a:ext uri="{FF2B5EF4-FFF2-40B4-BE49-F238E27FC236}">
                <a16:creationId xmlns:a16="http://schemas.microsoft.com/office/drawing/2014/main" id="{B8F7D800-D16F-4810-740D-508E4CF74566}"/>
              </a:ext>
            </a:extLst>
          </p:cNvPr>
          <p:cNvSpPr>
            <a:spLocks noGrp="1"/>
          </p:cNvSpPr>
          <p:nvPr/>
        </p:nvSpPr>
        <p:spPr>
          <a:xfrm>
            <a:off x="4482058" y="4761463"/>
            <a:ext cx="20574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8.0%</a:t>
            </a:r>
          </a:p>
        </p:txBody>
      </p:sp>
      <p:sp>
        <p:nvSpPr>
          <p:cNvPr id="186" name="Rectangle 185">
            <a:extLst>
              <a:ext uri="{FF2B5EF4-FFF2-40B4-BE49-F238E27FC236}">
                <a16:creationId xmlns:a16="http://schemas.microsoft.com/office/drawing/2014/main" id="{99964F0C-EE94-0E51-7C13-2DBCED2602A0}"/>
              </a:ext>
            </a:extLst>
          </p:cNvPr>
          <p:cNvSpPr>
            <a:spLocks noGrp="1"/>
          </p:cNvSpPr>
          <p:nvPr/>
        </p:nvSpPr>
        <p:spPr>
          <a:xfrm>
            <a:off x="6653758" y="4637638"/>
            <a:ext cx="2095500" cy="628650"/>
          </a:xfrm>
          <a:prstGeom prst="rect">
            <a:avLst/>
          </a:prstGeom>
          <a:noFill/>
          <a:ln w="6668">
            <a:solidFill>
              <a:schemeClr val="tx1"/>
            </a:solidFill>
            <a:prstDash val="solid"/>
          </a:ln>
        </p:spPr>
        <p:txBody>
          <a:bodyPr/>
          <a:lstStyle/>
          <a:p>
            <a:endParaRPr lang="en-US" b="1">
              <a:solidFill>
                <a:schemeClr val="bg1"/>
              </a:solidFill>
            </a:endParaRPr>
          </a:p>
        </p:txBody>
      </p:sp>
      <p:sp>
        <p:nvSpPr>
          <p:cNvPr id="187" name="text">
            <a:extLst>
              <a:ext uri="{FF2B5EF4-FFF2-40B4-BE49-F238E27FC236}">
                <a16:creationId xmlns:a16="http://schemas.microsoft.com/office/drawing/2014/main" id="{E70FECDF-C8CD-381D-7E8C-49CB6A0CBA9B}"/>
              </a:ext>
            </a:extLst>
          </p:cNvPr>
          <p:cNvSpPr>
            <a:spLocks noGrp="1"/>
          </p:cNvSpPr>
          <p:nvPr/>
        </p:nvSpPr>
        <p:spPr>
          <a:xfrm>
            <a:off x="6768058" y="4761463"/>
            <a:ext cx="18669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3.0%</a:t>
            </a:r>
          </a:p>
        </p:txBody>
      </p:sp>
      <p:sp>
        <p:nvSpPr>
          <p:cNvPr id="188" name="Rectangle 187">
            <a:extLst>
              <a:ext uri="{FF2B5EF4-FFF2-40B4-BE49-F238E27FC236}">
                <a16:creationId xmlns:a16="http://schemas.microsoft.com/office/drawing/2014/main" id="{AC3E47C9-7840-6641-55F6-79AE0CEE5AA7}"/>
              </a:ext>
            </a:extLst>
          </p:cNvPr>
          <p:cNvSpPr>
            <a:spLocks noGrp="1"/>
          </p:cNvSpPr>
          <p:nvPr/>
        </p:nvSpPr>
        <p:spPr>
          <a:xfrm>
            <a:off x="8749258" y="4637638"/>
            <a:ext cx="2705100" cy="628650"/>
          </a:xfrm>
          <a:prstGeom prst="rect">
            <a:avLst/>
          </a:prstGeom>
          <a:noFill/>
          <a:ln w="6668">
            <a:solidFill>
              <a:schemeClr val="tx1"/>
            </a:solidFill>
            <a:prstDash val="solid"/>
          </a:ln>
        </p:spPr>
        <p:txBody>
          <a:bodyPr/>
          <a:lstStyle/>
          <a:p>
            <a:endParaRPr lang="en-US">
              <a:solidFill>
                <a:schemeClr val="bg1"/>
              </a:solidFill>
            </a:endParaRPr>
          </a:p>
        </p:txBody>
      </p:sp>
      <p:sp>
        <p:nvSpPr>
          <p:cNvPr id="189" name="text">
            <a:extLst>
              <a:ext uri="{FF2B5EF4-FFF2-40B4-BE49-F238E27FC236}">
                <a16:creationId xmlns:a16="http://schemas.microsoft.com/office/drawing/2014/main" id="{16D912EE-65ED-713D-6F39-BD839573DB62}"/>
              </a:ext>
            </a:extLst>
          </p:cNvPr>
          <p:cNvSpPr>
            <a:spLocks noGrp="1"/>
          </p:cNvSpPr>
          <p:nvPr/>
        </p:nvSpPr>
        <p:spPr>
          <a:xfrm>
            <a:off x="8863558" y="4761463"/>
            <a:ext cx="2476500" cy="438150"/>
          </a:xfrm>
          <a:prstGeom prst="rect">
            <a:avLst/>
          </a:prstGeom>
          <a:noFill/>
          <a:ln w="0">
            <a:noFill/>
            <a:prstDash val="solid"/>
          </a:ln>
        </p:spPr>
        <p:txBody>
          <a:bodyPr anchor="t">
            <a:normAutofit/>
          </a:bodyPr>
          <a:lstStyle/>
          <a:p>
            <a:pPr algn="l">
              <a:buNone/>
              <a:defRPr sz="1350" b="1">
                <a:solidFill>
                  <a:srgbClr val="D94C4C"/>
                </a:solidFill>
                <a:latin typeface="Arial"/>
                <a:ea typeface="Arial"/>
                <a:cs typeface="Arial"/>
              </a:defRPr>
            </a:pPr>
            <a:r>
              <a:rPr lang="en-US" sz="1350" dirty="0">
                <a:solidFill>
                  <a:srgbClr val="C00000"/>
                </a:solidFill>
                <a:latin typeface="Aptos" panose="020B0004020202020204" pitchFamily="34" charset="0"/>
                <a:ea typeface="Arial"/>
                <a:cs typeface="Arial"/>
              </a:rPr>
              <a:t>-</a:t>
            </a:r>
            <a:r>
              <a:rPr sz="1350" dirty="0">
                <a:solidFill>
                  <a:srgbClr val="C00000"/>
                </a:solidFill>
                <a:latin typeface="Aptos" panose="020B0004020202020204" pitchFamily="34" charset="0"/>
                <a:ea typeface="Arial"/>
                <a:cs typeface="Arial"/>
              </a:rPr>
              <a:t>5.0 pp</a:t>
            </a:r>
          </a:p>
        </p:txBody>
      </p:sp>
      <p:sp>
        <p:nvSpPr>
          <p:cNvPr id="190" name="Rounded Rectangle 189">
            <a:extLst>
              <a:ext uri="{FF2B5EF4-FFF2-40B4-BE49-F238E27FC236}">
                <a16:creationId xmlns:a16="http://schemas.microsoft.com/office/drawing/2014/main" id="{743A044E-92A5-43B8-DFA9-43B860C1E302}"/>
              </a:ext>
            </a:extLst>
          </p:cNvPr>
          <p:cNvSpPr/>
          <p:nvPr/>
        </p:nvSpPr>
        <p:spPr>
          <a:xfrm>
            <a:off x="234565" y="5796849"/>
            <a:ext cx="11569617" cy="70605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TextBox 190">
            <a:extLst>
              <a:ext uri="{FF2B5EF4-FFF2-40B4-BE49-F238E27FC236}">
                <a16:creationId xmlns:a16="http://schemas.microsoft.com/office/drawing/2014/main" id="{B78CB649-1452-8325-F2A4-5B051252D9FD}"/>
              </a:ext>
            </a:extLst>
          </p:cNvPr>
          <p:cNvSpPr txBox="1"/>
          <p:nvPr/>
        </p:nvSpPr>
        <p:spPr>
          <a:xfrm>
            <a:off x="443458" y="5976000"/>
            <a:ext cx="2005452" cy="307777"/>
          </a:xfrm>
          <a:prstGeom prst="rect">
            <a:avLst/>
          </a:prstGeom>
          <a:noFill/>
        </p:spPr>
        <p:txBody>
          <a:bodyPr wrap="square" rtlCol="0">
            <a:spAutoFit/>
          </a:bodyPr>
          <a:lstStyle/>
          <a:p>
            <a:r>
              <a:rPr lang="en-US" sz="1400" b="1" dirty="0">
                <a:solidFill>
                  <a:schemeClr val="accent6"/>
                </a:solidFill>
                <a:latin typeface="Aptos" panose="020B0004020202020204" pitchFamily="34" charset="0"/>
              </a:rPr>
              <a:t>Scope &amp; Assumptions</a:t>
            </a:r>
            <a:endParaRPr lang="en-US" sz="1600" b="1" dirty="0">
              <a:solidFill>
                <a:schemeClr val="accent6"/>
              </a:solidFill>
              <a:latin typeface="Aptos" panose="020B0004020202020204" pitchFamily="34" charset="0"/>
            </a:endParaRPr>
          </a:p>
        </p:txBody>
      </p:sp>
      <p:sp>
        <p:nvSpPr>
          <p:cNvPr id="192" name="TextBox 191">
            <a:extLst>
              <a:ext uri="{FF2B5EF4-FFF2-40B4-BE49-F238E27FC236}">
                <a16:creationId xmlns:a16="http://schemas.microsoft.com/office/drawing/2014/main" id="{25C71E0C-9BB3-BF09-F2B7-231963E48C09}"/>
              </a:ext>
            </a:extLst>
          </p:cNvPr>
          <p:cNvSpPr txBox="1"/>
          <p:nvPr/>
        </p:nvSpPr>
        <p:spPr>
          <a:xfrm>
            <a:off x="2500430" y="5919043"/>
            <a:ext cx="9248112" cy="461665"/>
          </a:xfrm>
          <a:prstGeom prst="rect">
            <a:avLst/>
          </a:prstGeom>
          <a:noFill/>
        </p:spPr>
        <p:txBody>
          <a:bodyPr wrap="square" rtlCol="0">
            <a:spAutoFit/>
          </a:bodyPr>
          <a:lstStyle/>
          <a:p>
            <a:r>
              <a:rPr lang="en-US" sz="1200" dirty="0">
                <a:solidFill>
                  <a:schemeClr val="bg2">
                    <a:lumMod val="20000"/>
                    <a:lumOff val="80000"/>
                  </a:schemeClr>
                </a:solidFill>
                <a:latin typeface="Aptos" panose="020B0004020202020204" pitchFamily="34" charset="0"/>
              </a:rPr>
              <a:t>No segment or other-cost detail is provided. Illustrative target: restore the prior 8% margin. Sensitivity holds orders at 1.25M and does not model elasticity.</a:t>
            </a:r>
          </a:p>
        </p:txBody>
      </p:sp>
    </p:spTree>
    <p:extLst>
      <p:ext uri="{BB962C8B-B14F-4D97-AF65-F5344CB8AC3E}">
        <p14:creationId xmlns:p14="http://schemas.microsoft.com/office/powerpoint/2010/main" val="380541307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952D569C-B5DA-6395-FCAE-01223BE4B580}"/>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EF4CAAA1-E16B-B49B-EAD5-720C4D39614B}"/>
              </a:ext>
            </a:extLst>
          </p:cNvPr>
          <p:cNvSpPr/>
          <p:nvPr/>
        </p:nvSpPr>
        <p:spPr>
          <a:xfrm>
            <a:off x="329158" y="206609"/>
            <a:ext cx="1552669"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INITIAL APPROACH</a:t>
            </a:r>
          </a:p>
        </p:txBody>
      </p:sp>
      <p:sp>
        <p:nvSpPr>
          <p:cNvPr id="75" name="Rectangle 74">
            <a:extLst>
              <a:ext uri="{FF2B5EF4-FFF2-40B4-BE49-F238E27FC236}">
                <a16:creationId xmlns:a16="http://schemas.microsoft.com/office/drawing/2014/main" id="{4F474E39-DC0A-009D-5C65-4F4A2AFED15D}"/>
              </a:ext>
            </a:extLst>
          </p:cNvPr>
          <p:cNvSpPr/>
          <p:nvPr/>
        </p:nvSpPr>
        <p:spPr>
          <a:xfrm>
            <a:off x="329159" y="567893"/>
            <a:ext cx="11291824" cy="384721"/>
          </a:xfrm>
          <a:prstGeom prst="rect">
            <a:avLst/>
          </a:prstGeom>
        </p:spPr>
        <p:txBody>
          <a:bodyPr wrap="square" lIns="0" tIns="0" rIns="0" bIns="0">
            <a:spAutoFit/>
          </a:bodyPr>
          <a:lstStyle/>
          <a:p>
            <a:r>
              <a:rPr lang="en-US" sz="2500" b="1" dirty="0">
                <a:latin typeface="+mj-lt"/>
              </a:rPr>
              <a:t>Before the exhibit, tested four profit drivers</a:t>
            </a:r>
          </a:p>
        </p:txBody>
      </p:sp>
      <p:sp>
        <p:nvSpPr>
          <p:cNvPr id="76" name="Rounded Rectangle 75">
            <a:extLst>
              <a:ext uri="{FF2B5EF4-FFF2-40B4-BE49-F238E27FC236}">
                <a16:creationId xmlns:a16="http://schemas.microsoft.com/office/drawing/2014/main" id="{7DD4A33D-F3C6-800B-CC1C-4313F58EE34C}"/>
              </a:ext>
            </a:extLst>
          </p:cNvPr>
          <p:cNvSpPr/>
          <p:nvPr/>
        </p:nvSpPr>
        <p:spPr>
          <a:xfrm>
            <a:off x="4216812" y="1277889"/>
            <a:ext cx="3773347" cy="47570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mj-lt"/>
              </a:rPr>
              <a:t>Why did operating profit fall 5 points?</a:t>
            </a:r>
          </a:p>
        </p:txBody>
      </p:sp>
      <p:cxnSp>
        <p:nvCxnSpPr>
          <p:cNvPr id="78" name="Straight Connector 77">
            <a:extLst>
              <a:ext uri="{FF2B5EF4-FFF2-40B4-BE49-F238E27FC236}">
                <a16:creationId xmlns:a16="http://schemas.microsoft.com/office/drawing/2014/main" id="{A08B77AD-DD89-B851-2044-242BD07127A1}"/>
              </a:ext>
            </a:extLst>
          </p:cNvPr>
          <p:cNvCxnSpPr>
            <a:stCxn id="76" idx="2"/>
          </p:cNvCxnSpPr>
          <p:nvPr/>
        </p:nvCxnSpPr>
        <p:spPr>
          <a:xfrm flipH="1">
            <a:off x="6103485" y="1753591"/>
            <a:ext cx="1" cy="300944"/>
          </a:xfrm>
          <a:prstGeom prst="line">
            <a:avLst/>
          </a:prstGeom>
          <a:ln>
            <a:solidFill>
              <a:schemeClr val="bg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5557778E-962E-14A3-B8A0-D8BF9FC18AE7}"/>
              </a:ext>
            </a:extLst>
          </p:cNvPr>
          <p:cNvCxnSpPr>
            <a:cxnSpLocks/>
          </p:cNvCxnSpPr>
          <p:nvPr/>
        </p:nvCxnSpPr>
        <p:spPr>
          <a:xfrm flipH="1">
            <a:off x="3258208" y="2056465"/>
            <a:ext cx="5633545" cy="0"/>
          </a:xfrm>
          <a:prstGeom prst="line">
            <a:avLst/>
          </a:prstGeom>
          <a:ln>
            <a:solidFill>
              <a:schemeClr val="bg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842900C0-AB68-B130-0CA0-49391BCEC3BD}"/>
              </a:ext>
            </a:extLst>
          </p:cNvPr>
          <p:cNvCxnSpPr>
            <a:cxnSpLocks/>
          </p:cNvCxnSpPr>
          <p:nvPr/>
        </p:nvCxnSpPr>
        <p:spPr>
          <a:xfrm flipH="1">
            <a:off x="1795922" y="2840707"/>
            <a:ext cx="2" cy="449928"/>
          </a:xfrm>
          <a:prstGeom prst="line">
            <a:avLst/>
          </a:prstGeom>
          <a:ln>
            <a:solidFill>
              <a:schemeClr val="bg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4A9493B-CF39-CFAA-B56B-E03793AE991B}"/>
              </a:ext>
            </a:extLst>
          </p:cNvPr>
          <p:cNvCxnSpPr>
            <a:cxnSpLocks/>
            <a:endCxn id="88" idx="0"/>
          </p:cNvCxnSpPr>
          <p:nvPr/>
        </p:nvCxnSpPr>
        <p:spPr>
          <a:xfrm>
            <a:off x="4655497" y="2840707"/>
            <a:ext cx="0" cy="459111"/>
          </a:xfrm>
          <a:prstGeom prst="line">
            <a:avLst/>
          </a:prstGeom>
          <a:ln>
            <a:solidFill>
              <a:schemeClr val="bg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87" name="Rounded Rectangle 86">
            <a:extLst>
              <a:ext uri="{FF2B5EF4-FFF2-40B4-BE49-F238E27FC236}">
                <a16:creationId xmlns:a16="http://schemas.microsoft.com/office/drawing/2014/main" id="{94EC1DFC-B343-6553-D220-70865E9A8656}"/>
              </a:ext>
            </a:extLst>
          </p:cNvPr>
          <p:cNvSpPr/>
          <p:nvPr/>
        </p:nvSpPr>
        <p:spPr>
          <a:xfrm>
            <a:off x="642774" y="3299819"/>
            <a:ext cx="2384385" cy="140281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ounded Rectangle 87">
            <a:extLst>
              <a:ext uri="{FF2B5EF4-FFF2-40B4-BE49-F238E27FC236}">
                <a16:creationId xmlns:a16="http://schemas.microsoft.com/office/drawing/2014/main" id="{1D793EA0-F873-A8FA-C2A8-384865440BD3}"/>
              </a:ext>
            </a:extLst>
          </p:cNvPr>
          <p:cNvSpPr/>
          <p:nvPr/>
        </p:nvSpPr>
        <p:spPr>
          <a:xfrm>
            <a:off x="3463305" y="3299818"/>
            <a:ext cx="2384384" cy="140281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ounded Rectangle 88">
            <a:extLst>
              <a:ext uri="{FF2B5EF4-FFF2-40B4-BE49-F238E27FC236}">
                <a16:creationId xmlns:a16="http://schemas.microsoft.com/office/drawing/2014/main" id="{4D0C28FF-A5DD-249B-CAA1-166947E0054C}"/>
              </a:ext>
            </a:extLst>
          </p:cNvPr>
          <p:cNvSpPr/>
          <p:nvPr/>
        </p:nvSpPr>
        <p:spPr>
          <a:xfrm>
            <a:off x="6361922" y="3299819"/>
            <a:ext cx="2384384" cy="140281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ounded Rectangle 89">
            <a:extLst>
              <a:ext uri="{FF2B5EF4-FFF2-40B4-BE49-F238E27FC236}">
                <a16:creationId xmlns:a16="http://schemas.microsoft.com/office/drawing/2014/main" id="{2A675FAD-7A6D-CD0A-C22A-D308F47A0190}"/>
              </a:ext>
            </a:extLst>
          </p:cNvPr>
          <p:cNvSpPr/>
          <p:nvPr/>
        </p:nvSpPr>
        <p:spPr>
          <a:xfrm>
            <a:off x="9236599" y="3299818"/>
            <a:ext cx="2384384" cy="140281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2D045DBA-ED33-7DA6-C175-AFBC477BDCFC}"/>
              </a:ext>
            </a:extLst>
          </p:cNvPr>
          <p:cNvSpPr txBox="1"/>
          <p:nvPr/>
        </p:nvSpPr>
        <p:spPr>
          <a:xfrm>
            <a:off x="914777" y="3374572"/>
            <a:ext cx="1840375" cy="338554"/>
          </a:xfrm>
          <a:prstGeom prst="rect">
            <a:avLst/>
          </a:prstGeom>
          <a:noFill/>
        </p:spPr>
        <p:txBody>
          <a:bodyPr wrap="square" rtlCol="0">
            <a:spAutoFit/>
          </a:bodyPr>
          <a:lstStyle/>
          <a:p>
            <a:pPr algn="ctr"/>
            <a:r>
              <a:rPr lang="en-US" sz="1600" b="1" dirty="0">
                <a:solidFill>
                  <a:schemeClr val="bg1"/>
                </a:solidFill>
                <a:latin typeface="Aptos" panose="020B0004020202020204" pitchFamily="34" charset="0"/>
              </a:rPr>
              <a:t>Order Volume</a:t>
            </a:r>
            <a:endParaRPr lang="en-US" b="1" dirty="0">
              <a:solidFill>
                <a:schemeClr val="bg1"/>
              </a:solidFill>
              <a:latin typeface="Aptos" panose="020B0004020202020204" pitchFamily="34" charset="0"/>
            </a:endParaRPr>
          </a:p>
        </p:txBody>
      </p:sp>
      <p:sp>
        <p:nvSpPr>
          <p:cNvPr id="92" name="TextBox 91">
            <a:extLst>
              <a:ext uri="{FF2B5EF4-FFF2-40B4-BE49-F238E27FC236}">
                <a16:creationId xmlns:a16="http://schemas.microsoft.com/office/drawing/2014/main" id="{5819B249-3F53-55C8-CDCC-161BF4E78082}"/>
              </a:ext>
            </a:extLst>
          </p:cNvPr>
          <p:cNvSpPr txBox="1"/>
          <p:nvPr/>
        </p:nvSpPr>
        <p:spPr>
          <a:xfrm>
            <a:off x="3729042" y="3373607"/>
            <a:ext cx="1840375" cy="338554"/>
          </a:xfrm>
          <a:prstGeom prst="rect">
            <a:avLst/>
          </a:prstGeom>
          <a:noFill/>
        </p:spPr>
        <p:txBody>
          <a:bodyPr wrap="square" rtlCol="0">
            <a:spAutoFit/>
          </a:bodyPr>
          <a:lstStyle/>
          <a:p>
            <a:pPr algn="ctr"/>
            <a:r>
              <a:rPr lang="en-US" sz="1600" b="1" dirty="0">
                <a:solidFill>
                  <a:schemeClr val="bg1"/>
                </a:solidFill>
                <a:latin typeface="Aptos" panose="020B0004020202020204" pitchFamily="34" charset="0"/>
              </a:rPr>
              <a:t>Revenue / Order</a:t>
            </a:r>
            <a:endParaRPr lang="en-US" b="1" dirty="0">
              <a:solidFill>
                <a:schemeClr val="bg1"/>
              </a:solidFill>
              <a:latin typeface="Aptos" panose="020B0004020202020204" pitchFamily="34" charset="0"/>
            </a:endParaRPr>
          </a:p>
        </p:txBody>
      </p:sp>
      <p:sp>
        <p:nvSpPr>
          <p:cNvPr id="93" name="TextBox 92">
            <a:extLst>
              <a:ext uri="{FF2B5EF4-FFF2-40B4-BE49-F238E27FC236}">
                <a16:creationId xmlns:a16="http://schemas.microsoft.com/office/drawing/2014/main" id="{3DD7363A-62E3-EBF1-494D-1535890AFAC6}"/>
              </a:ext>
            </a:extLst>
          </p:cNvPr>
          <p:cNvSpPr txBox="1"/>
          <p:nvPr/>
        </p:nvSpPr>
        <p:spPr>
          <a:xfrm>
            <a:off x="6477668" y="3372643"/>
            <a:ext cx="2152892" cy="338554"/>
          </a:xfrm>
          <a:prstGeom prst="rect">
            <a:avLst/>
          </a:prstGeom>
          <a:noFill/>
        </p:spPr>
        <p:txBody>
          <a:bodyPr wrap="square" rtlCol="0">
            <a:spAutoFit/>
          </a:bodyPr>
          <a:lstStyle/>
          <a:p>
            <a:pPr algn="ctr"/>
            <a:r>
              <a:rPr lang="en-US" sz="1600" b="1" dirty="0">
                <a:solidFill>
                  <a:schemeClr val="bg1"/>
                </a:solidFill>
                <a:latin typeface="Aptos" panose="020B0004020202020204" pitchFamily="34" charset="0"/>
              </a:rPr>
              <a:t>Delivery Cost / Order</a:t>
            </a:r>
            <a:endParaRPr lang="en-US" b="1" dirty="0">
              <a:solidFill>
                <a:schemeClr val="bg1"/>
              </a:solidFill>
              <a:latin typeface="Aptos" panose="020B0004020202020204" pitchFamily="34" charset="0"/>
            </a:endParaRPr>
          </a:p>
        </p:txBody>
      </p:sp>
      <p:sp>
        <p:nvSpPr>
          <p:cNvPr id="94" name="TextBox 93">
            <a:extLst>
              <a:ext uri="{FF2B5EF4-FFF2-40B4-BE49-F238E27FC236}">
                <a16:creationId xmlns:a16="http://schemas.microsoft.com/office/drawing/2014/main" id="{4DF861A5-EDA4-3AE2-4B2C-2460E18070EE}"/>
              </a:ext>
            </a:extLst>
          </p:cNvPr>
          <p:cNvSpPr txBox="1"/>
          <p:nvPr/>
        </p:nvSpPr>
        <p:spPr>
          <a:xfrm>
            <a:off x="9352345" y="3372643"/>
            <a:ext cx="2152892" cy="338554"/>
          </a:xfrm>
          <a:prstGeom prst="rect">
            <a:avLst/>
          </a:prstGeom>
          <a:noFill/>
        </p:spPr>
        <p:txBody>
          <a:bodyPr wrap="square" rtlCol="0">
            <a:spAutoFit/>
          </a:bodyPr>
          <a:lstStyle/>
          <a:p>
            <a:pPr algn="ctr"/>
            <a:r>
              <a:rPr lang="en-US" sz="1600" b="1" dirty="0">
                <a:solidFill>
                  <a:schemeClr val="bg1"/>
                </a:solidFill>
                <a:latin typeface="Aptos" panose="020B0004020202020204" pitchFamily="34" charset="0"/>
              </a:rPr>
              <a:t>Fixed &amp; Other Cost</a:t>
            </a:r>
            <a:endParaRPr lang="en-US" b="1" dirty="0">
              <a:solidFill>
                <a:schemeClr val="bg1"/>
              </a:solidFill>
              <a:latin typeface="Aptos" panose="020B0004020202020204" pitchFamily="34" charset="0"/>
            </a:endParaRPr>
          </a:p>
        </p:txBody>
      </p:sp>
      <p:cxnSp>
        <p:nvCxnSpPr>
          <p:cNvPr id="96" name="Straight Connector 95">
            <a:extLst>
              <a:ext uri="{FF2B5EF4-FFF2-40B4-BE49-F238E27FC236}">
                <a16:creationId xmlns:a16="http://schemas.microsoft.com/office/drawing/2014/main" id="{4DB9BC5D-2749-F0BA-9684-5B6411DCCE89}"/>
              </a:ext>
            </a:extLst>
          </p:cNvPr>
          <p:cNvCxnSpPr/>
          <p:nvPr/>
        </p:nvCxnSpPr>
        <p:spPr>
          <a:xfrm>
            <a:off x="852079" y="3761839"/>
            <a:ext cx="1965769"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14ECF0A7-6735-5C31-7CDD-835246066B37}"/>
              </a:ext>
            </a:extLst>
          </p:cNvPr>
          <p:cNvCxnSpPr/>
          <p:nvPr/>
        </p:nvCxnSpPr>
        <p:spPr>
          <a:xfrm>
            <a:off x="3666346" y="3761839"/>
            <a:ext cx="1965769"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0C7299B6-4BB4-EF99-8BB7-1731B3ABF58B}"/>
              </a:ext>
            </a:extLst>
          </p:cNvPr>
          <p:cNvCxnSpPr/>
          <p:nvPr/>
        </p:nvCxnSpPr>
        <p:spPr>
          <a:xfrm>
            <a:off x="6571229" y="3761839"/>
            <a:ext cx="1965769"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9D30F5A3-6B1E-6245-D194-9C0A5FC8F7F7}"/>
              </a:ext>
            </a:extLst>
          </p:cNvPr>
          <p:cNvCxnSpPr/>
          <p:nvPr/>
        </p:nvCxnSpPr>
        <p:spPr>
          <a:xfrm>
            <a:off x="9445906" y="3761839"/>
            <a:ext cx="1965769"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A28CA014-5B08-CF33-D652-588D1DE8E4F4}"/>
              </a:ext>
            </a:extLst>
          </p:cNvPr>
          <p:cNvSpPr txBox="1"/>
          <p:nvPr/>
        </p:nvSpPr>
        <p:spPr>
          <a:xfrm>
            <a:off x="789383" y="3900695"/>
            <a:ext cx="1965769" cy="461665"/>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chemeClr val="bg1"/>
                </a:solidFill>
                <a:latin typeface="Aptos" panose="020B0004020202020204" pitchFamily="34" charset="0"/>
              </a:rPr>
              <a:t>Customer count</a:t>
            </a:r>
          </a:p>
          <a:p>
            <a:pPr marL="285750" indent="-285750">
              <a:buFont typeface="Arial" panose="020B0604020202020204" pitchFamily="34" charset="0"/>
              <a:buChar char="•"/>
            </a:pPr>
            <a:r>
              <a:rPr lang="en-US" sz="1200" dirty="0">
                <a:solidFill>
                  <a:schemeClr val="bg1"/>
                </a:solidFill>
                <a:latin typeface="Aptos" panose="020B0004020202020204" pitchFamily="34" charset="0"/>
              </a:rPr>
              <a:t>Order frequency</a:t>
            </a:r>
          </a:p>
        </p:txBody>
      </p:sp>
      <p:sp>
        <p:nvSpPr>
          <p:cNvPr id="101" name="TextBox 100">
            <a:extLst>
              <a:ext uri="{FF2B5EF4-FFF2-40B4-BE49-F238E27FC236}">
                <a16:creationId xmlns:a16="http://schemas.microsoft.com/office/drawing/2014/main" id="{DE938274-B973-E5B0-3F9A-6E415AC3C097}"/>
              </a:ext>
            </a:extLst>
          </p:cNvPr>
          <p:cNvSpPr txBox="1"/>
          <p:nvPr/>
        </p:nvSpPr>
        <p:spPr>
          <a:xfrm>
            <a:off x="3603648" y="3900695"/>
            <a:ext cx="1965769"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chemeClr val="bg1"/>
                </a:solidFill>
                <a:latin typeface="Aptos" panose="020B0004020202020204" pitchFamily="34" charset="0"/>
              </a:rPr>
              <a:t>Price</a:t>
            </a:r>
          </a:p>
          <a:p>
            <a:pPr marL="285750" indent="-285750">
              <a:buFont typeface="Arial" panose="020B0604020202020204" pitchFamily="34" charset="0"/>
              <a:buChar char="•"/>
            </a:pPr>
            <a:r>
              <a:rPr lang="en-US" sz="1200" dirty="0">
                <a:solidFill>
                  <a:schemeClr val="bg1"/>
                </a:solidFill>
                <a:latin typeface="Aptos" panose="020B0004020202020204" pitchFamily="34" charset="0"/>
              </a:rPr>
              <a:t>Discounts</a:t>
            </a:r>
          </a:p>
          <a:p>
            <a:pPr marL="285750" indent="-285750">
              <a:buFont typeface="Arial" panose="020B0604020202020204" pitchFamily="34" charset="0"/>
              <a:buChar char="•"/>
            </a:pPr>
            <a:r>
              <a:rPr lang="en-US" sz="1200" dirty="0">
                <a:solidFill>
                  <a:schemeClr val="bg1"/>
                </a:solidFill>
                <a:latin typeface="Aptos" panose="020B0004020202020204" pitchFamily="34" charset="0"/>
              </a:rPr>
              <a:t>Order mix</a:t>
            </a:r>
          </a:p>
        </p:txBody>
      </p:sp>
      <p:sp>
        <p:nvSpPr>
          <p:cNvPr id="102" name="TextBox 101">
            <a:extLst>
              <a:ext uri="{FF2B5EF4-FFF2-40B4-BE49-F238E27FC236}">
                <a16:creationId xmlns:a16="http://schemas.microsoft.com/office/drawing/2014/main" id="{6CA95EBF-6E7D-4F35-BB42-F8310B9C0D49}"/>
              </a:ext>
            </a:extLst>
          </p:cNvPr>
          <p:cNvSpPr txBox="1"/>
          <p:nvPr/>
        </p:nvSpPr>
        <p:spPr>
          <a:xfrm>
            <a:off x="6500602" y="3900695"/>
            <a:ext cx="1965769"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chemeClr val="bg1"/>
                </a:solidFill>
                <a:latin typeface="Aptos" panose="020B0004020202020204" pitchFamily="34" charset="0"/>
              </a:rPr>
              <a:t>Courier cost</a:t>
            </a:r>
          </a:p>
          <a:p>
            <a:pPr marL="285750" indent="-285750">
              <a:buFont typeface="Arial" panose="020B0604020202020204" pitchFamily="34" charset="0"/>
              <a:buChar char="•"/>
            </a:pPr>
            <a:r>
              <a:rPr lang="en-US" sz="1200" dirty="0">
                <a:solidFill>
                  <a:schemeClr val="bg1"/>
                </a:solidFill>
                <a:latin typeface="Aptos" panose="020B0004020202020204" pitchFamily="34" charset="0"/>
              </a:rPr>
              <a:t>Zone density</a:t>
            </a:r>
          </a:p>
          <a:p>
            <a:pPr marL="285750" indent="-285750">
              <a:buFont typeface="Arial" panose="020B0604020202020204" pitchFamily="34" charset="0"/>
              <a:buChar char="•"/>
            </a:pPr>
            <a:r>
              <a:rPr lang="en-US" sz="1200" dirty="0">
                <a:solidFill>
                  <a:schemeClr val="bg1"/>
                </a:solidFill>
                <a:latin typeface="Aptos" panose="020B0004020202020204" pitchFamily="34" charset="0"/>
              </a:rPr>
              <a:t>Distance</a:t>
            </a:r>
          </a:p>
        </p:txBody>
      </p:sp>
      <p:sp>
        <p:nvSpPr>
          <p:cNvPr id="103" name="TextBox 102">
            <a:extLst>
              <a:ext uri="{FF2B5EF4-FFF2-40B4-BE49-F238E27FC236}">
                <a16:creationId xmlns:a16="http://schemas.microsoft.com/office/drawing/2014/main" id="{F5348ED3-6909-FB62-240C-68DD24EA24E1}"/>
              </a:ext>
            </a:extLst>
          </p:cNvPr>
          <p:cNvSpPr txBox="1"/>
          <p:nvPr/>
        </p:nvSpPr>
        <p:spPr>
          <a:xfrm>
            <a:off x="9423763" y="3900695"/>
            <a:ext cx="1965769"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chemeClr val="bg1"/>
                </a:solidFill>
                <a:latin typeface="Aptos" panose="020B0004020202020204" pitchFamily="34" charset="0"/>
              </a:rPr>
              <a:t>Technology</a:t>
            </a:r>
          </a:p>
          <a:p>
            <a:pPr marL="285750" indent="-285750">
              <a:buFont typeface="Arial" panose="020B0604020202020204" pitchFamily="34" charset="0"/>
              <a:buChar char="•"/>
            </a:pPr>
            <a:r>
              <a:rPr lang="en-US" sz="1200" dirty="0">
                <a:solidFill>
                  <a:schemeClr val="bg1"/>
                </a:solidFill>
                <a:latin typeface="Aptos" panose="020B0004020202020204" pitchFamily="34" charset="0"/>
              </a:rPr>
              <a:t>Support</a:t>
            </a:r>
          </a:p>
          <a:p>
            <a:pPr marL="285750" indent="-285750">
              <a:buFont typeface="Arial" panose="020B0604020202020204" pitchFamily="34" charset="0"/>
              <a:buChar char="•"/>
            </a:pPr>
            <a:r>
              <a:rPr lang="en-US" sz="1200" dirty="0">
                <a:solidFill>
                  <a:schemeClr val="bg1"/>
                </a:solidFill>
                <a:latin typeface="Aptos" panose="020B0004020202020204" pitchFamily="34" charset="0"/>
              </a:rPr>
              <a:t>Overhead</a:t>
            </a:r>
          </a:p>
        </p:txBody>
      </p:sp>
      <p:sp>
        <p:nvSpPr>
          <p:cNvPr id="117" name="Rounded Rectangle 116">
            <a:extLst>
              <a:ext uri="{FF2B5EF4-FFF2-40B4-BE49-F238E27FC236}">
                <a16:creationId xmlns:a16="http://schemas.microsoft.com/office/drawing/2014/main" id="{2DF08692-F817-F41A-598E-BDCEB29318DF}"/>
              </a:ext>
            </a:extLst>
          </p:cNvPr>
          <p:cNvSpPr/>
          <p:nvPr/>
        </p:nvSpPr>
        <p:spPr>
          <a:xfrm>
            <a:off x="329158" y="5124187"/>
            <a:ext cx="11442295" cy="70605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ounded Rectangle 117">
            <a:extLst>
              <a:ext uri="{FF2B5EF4-FFF2-40B4-BE49-F238E27FC236}">
                <a16:creationId xmlns:a16="http://schemas.microsoft.com/office/drawing/2014/main" id="{8D351AF4-CDCE-330A-40EC-E82FF7BA5058}"/>
              </a:ext>
            </a:extLst>
          </p:cNvPr>
          <p:cNvSpPr/>
          <p:nvPr/>
        </p:nvSpPr>
        <p:spPr>
          <a:xfrm>
            <a:off x="329158" y="5964353"/>
            <a:ext cx="11442295" cy="70605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TextBox 118">
            <a:extLst>
              <a:ext uri="{FF2B5EF4-FFF2-40B4-BE49-F238E27FC236}">
                <a16:creationId xmlns:a16="http://schemas.microsoft.com/office/drawing/2014/main" id="{AA753850-B696-EB9A-A8C7-299840CEADC4}"/>
              </a:ext>
            </a:extLst>
          </p:cNvPr>
          <p:cNvSpPr txBox="1"/>
          <p:nvPr/>
        </p:nvSpPr>
        <p:spPr>
          <a:xfrm>
            <a:off x="552449" y="5321643"/>
            <a:ext cx="1785463" cy="307777"/>
          </a:xfrm>
          <a:prstGeom prst="rect">
            <a:avLst/>
          </a:prstGeom>
          <a:noFill/>
        </p:spPr>
        <p:txBody>
          <a:bodyPr wrap="square" rtlCol="0">
            <a:spAutoFit/>
          </a:bodyPr>
          <a:lstStyle/>
          <a:p>
            <a:r>
              <a:rPr lang="en-US" sz="1400" b="1" dirty="0">
                <a:solidFill>
                  <a:schemeClr val="accent6"/>
                </a:solidFill>
                <a:latin typeface="Aptos" panose="020B0004020202020204" pitchFamily="34" charset="0"/>
              </a:rPr>
              <a:t>Starting Hypothesis</a:t>
            </a:r>
            <a:endParaRPr lang="en-US" b="1" dirty="0">
              <a:solidFill>
                <a:schemeClr val="accent6"/>
              </a:solidFill>
              <a:latin typeface="Aptos" panose="020B0004020202020204" pitchFamily="34" charset="0"/>
            </a:endParaRPr>
          </a:p>
        </p:txBody>
      </p:sp>
      <p:sp>
        <p:nvSpPr>
          <p:cNvPr id="120" name="TextBox 119">
            <a:extLst>
              <a:ext uri="{FF2B5EF4-FFF2-40B4-BE49-F238E27FC236}">
                <a16:creationId xmlns:a16="http://schemas.microsoft.com/office/drawing/2014/main" id="{0B99CDFC-890A-3215-5F18-9D6DE400F04C}"/>
              </a:ext>
            </a:extLst>
          </p:cNvPr>
          <p:cNvSpPr txBox="1"/>
          <p:nvPr/>
        </p:nvSpPr>
        <p:spPr>
          <a:xfrm>
            <a:off x="552449" y="6163491"/>
            <a:ext cx="1768344" cy="307777"/>
          </a:xfrm>
          <a:prstGeom prst="rect">
            <a:avLst/>
          </a:prstGeom>
          <a:noFill/>
        </p:spPr>
        <p:txBody>
          <a:bodyPr wrap="square" rtlCol="0">
            <a:spAutoFit/>
          </a:bodyPr>
          <a:lstStyle/>
          <a:p>
            <a:r>
              <a:rPr lang="en-US" sz="1400" b="1" dirty="0">
                <a:solidFill>
                  <a:schemeClr val="accent6"/>
                </a:solidFill>
                <a:latin typeface="Aptos" panose="020B0004020202020204" pitchFamily="34" charset="0"/>
              </a:rPr>
              <a:t>Segmentation lens</a:t>
            </a:r>
          </a:p>
        </p:txBody>
      </p:sp>
      <p:sp>
        <p:nvSpPr>
          <p:cNvPr id="121" name="TextBox 120">
            <a:extLst>
              <a:ext uri="{FF2B5EF4-FFF2-40B4-BE49-F238E27FC236}">
                <a16:creationId xmlns:a16="http://schemas.microsoft.com/office/drawing/2014/main" id="{34DAFADE-D121-50EB-1E04-B372EC700C81}"/>
              </a:ext>
            </a:extLst>
          </p:cNvPr>
          <p:cNvSpPr txBox="1"/>
          <p:nvPr/>
        </p:nvSpPr>
        <p:spPr>
          <a:xfrm>
            <a:off x="2337912" y="5337031"/>
            <a:ext cx="8110839" cy="276999"/>
          </a:xfrm>
          <a:prstGeom prst="rect">
            <a:avLst/>
          </a:prstGeom>
          <a:noFill/>
        </p:spPr>
        <p:txBody>
          <a:bodyPr wrap="square" rtlCol="0">
            <a:spAutoFit/>
          </a:bodyPr>
          <a:lstStyle/>
          <a:p>
            <a:r>
              <a:rPr lang="en-US" sz="1200" dirty="0">
                <a:solidFill>
                  <a:schemeClr val="bg2">
                    <a:lumMod val="20000"/>
                    <a:lumOff val="80000"/>
                  </a:schemeClr>
                </a:solidFill>
                <a:latin typeface="Aptos" panose="020B0004020202020204" pitchFamily="34" charset="0"/>
              </a:rPr>
              <a:t>Growth may be masking weaker unit economics through lower revenue per order or higher delivery cost per order.</a:t>
            </a:r>
          </a:p>
        </p:txBody>
      </p:sp>
      <p:sp>
        <p:nvSpPr>
          <p:cNvPr id="122" name="TextBox 121">
            <a:extLst>
              <a:ext uri="{FF2B5EF4-FFF2-40B4-BE49-F238E27FC236}">
                <a16:creationId xmlns:a16="http://schemas.microsoft.com/office/drawing/2014/main" id="{FF51D923-0774-F254-726E-DC0907DED809}"/>
              </a:ext>
            </a:extLst>
          </p:cNvPr>
          <p:cNvSpPr txBox="1"/>
          <p:nvPr/>
        </p:nvSpPr>
        <p:spPr>
          <a:xfrm>
            <a:off x="2337912" y="6178879"/>
            <a:ext cx="8547009" cy="276999"/>
          </a:xfrm>
          <a:prstGeom prst="rect">
            <a:avLst/>
          </a:prstGeom>
          <a:noFill/>
        </p:spPr>
        <p:txBody>
          <a:bodyPr wrap="square" rtlCol="0">
            <a:spAutoFit/>
          </a:bodyPr>
          <a:lstStyle/>
          <a:p>
            <a:r>
              <a:rPr lang="en-US" sz="1200" dirty="0">
                <a:solidFill>
                  <a:schemeClr val="bg2">
                    <a:lumMod val="20000"/>
                    <a:lumOff val="80000"/>
                  </a:schemeClr>
                </a:solidFill>
                <a:latin typeface="Aptos" panose="020B0004020202020204" pitchFamily="34" charset="0"/>
              </a:rPr>
              <a:t>Test every branch by zone • customer cohort • order type</a:t>
            </a:r>
          </a:p>
        </p:txBody>
      </p:sp>
      <p:sp>
        <p:nvSpPr>
          <p:cNvPr id="5" name="Rounded Rectangle 4">
            <a:extLst>
              <a:ext uri="{FF2B5EF4-FFF2-40B4-BE49-F238E27FC236}">
                <a16:creationId xmlns:a16="http://schemas.microsoft.com/office/drawing/2014/main" id="{E4EDC2CE-F0FD-E989-58B4-9A88C67F1F7A}"/>
              </a:ext>
            </a:extLst>
          </p:cNvPr>
          <p:cNvSpPr/>
          <p:nvPr/>
        </p:nvSpPr>
        <p:spPr>
          <a:xfrm>
            <a:off x="1445182" y="2442673"/>
            <a:ext cx="3626051" cy="37837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4CE2931A-FA91-32C6-D7D2-CA2A4AB04221}"/>
              </a:ext>
            </a:extLst>
          </p:cNvPr>
          <p:cNvSpPr/>
          <p:nvPr/>
        </p:nvSpPr>
        <p:spPr>
          <a:xfrm>
            <a:off x="7078727" y="2438480"/>
            <a:ext cx="3626051" cy="37837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16627DA-D241-543C-7828-C7D4002397DD}"/>
              </a:ext>
            </a:extLst>
          </p:cNvPr>
          <p:cNvSpPr txBox="1"/>
          <p:nvPr/>
        </p:nvSpPr>
        <p:spPr>
          <a:xfrm>
            <a:off x="2338019" y="2454107"/>
            <a:ext cx="1840375" cy="338554"/>
          </a:xfrm>
          <a:prstGeom prst="rect">
            <a:avLst/>
          </a:prstGeom>
          <a:noFill/>
        </p:spPr>
        <p:txBody>
          <a:bodyPr wrap="square" rtlCol="0">
            <a:spAutoFit/>
          </a:bodyPr>
          <a:lstStyle/>
          <a:p>
            <a:pPr algn="ctr"/>
            <a:r>
              <a:rPr lang="en-US" sz="1600" b="1" dirty="0">
                <a:solidFill>
                  <a:schemeClr val="bg1"/>
                </a:solidFill>
                <a:latin typeface="Aptos" panose="020B0004020202020204" pitchFamily="34" charset="0"/>
              </a:rPr>
              <a:t>Revenue Drivers</a:t>
            </a:r>
            <a:endParaRPr lang="en-US" b="1" dirty="0">
              <a:solidFill>
                <a:schemeClr val="bg1"/>
              </a:solidFill>
              <a:latin typeface="Aptos" panose="020B0004020202020204" pitchFamily="34" charset="0"/>
            </a:endParaRPr>
          </a:p>
        </p:txBody>
      </p:sp>
      <p:sp>
        <p:nvSpPr>
          <p:cNvPr id="8" name="TextBox 7">
            <a:extLst>
              <a:ext uri="{FF2B5EF4-FFF2-40B4-BE49-F238E27FC236}">
                <a16:creationId xmlns:a16="http://schemas.microsoft.com/office/drawing/2014/main" id="{183AF466-AB08-4ACB-639A-E32AB2841CC6}"/>
              </a:ext>
            </a:extLst>
          </p:cNvPr>
          <p:cNvSpPr txBox="1"/>
          <p:nvPr/>
        </p:nvSpPr>
        <p:spPr>
          <a:xfrm>
            <a:off x="7971564" y="2462582"/>
            <a:ext cx="1840375" cy="338554"/>
          </a:xfrm>
          <a:prstGeom prst="rect">
            <a:avLst/>
          </a:prstGeom>
          <a:noFill/>
        </p:spPr>
        <p:txBody>
          <a:bodyPr wrap="square" rtlCol="0">
            <a:spAutoFit/>
          </a:bodyPr>
          <a:lstStyle/>
          <a:p>
            <a:pPr algn="ctr"/>
            <a:r>
              <a:rPr lang="en-US" sz="1600" b="1" dirty="0">
                <a:solidFill>
                  <a:schemeClr val="bg1"/>
                </a:solidFill>
                <a:latin typeface="Aptos" panose="020B0004020202020204" pitchFamily="34" charset="0"/>
              </a:rPr>
              <a:t>Cost Drivers</a:t>
            </a:r>
            <a:endParaRPr lang="en-US" b="1" dirty="0">
              <a:solidFill>
                <a:schemeClr val="bg1"/>
              </a:solidFill>
              <a:latin typeface="Aptos" panose="020B0004020202020204" pitchFamily="34" charset="0"/>
            </a:endParaRPr>
          </a:p>
        </p:txBody>
      </p:sp>
      <p:cxnSp>
        <p:nvCxnSpPr>
          <p:cNvPr id="11" name="Straight Connector 10">
            <a:extLst>
              <a:ext uri="{FF2B5EF4-FFF2-40B4-BE49-F238E27FC236}">
                <a16:creationId xmlns:a16="http://schemas.microsoft.com/office/drawing/2014/main" id="{C5A0EE0B-C37A-4C32-7E91-B522DC346804}"/>
              </a:ext>
            </a:extLst>
          </p:cNvPr>
          <p:cNvCxnSpPr>
            <a:cxnSpLocks/>
          </p:cNvCxnSpPr>
          <p:nvPr/>
        </p:nvCxnSpPr>
        <p:spPr>
          <a:xfrm>
            <a:off x="7551288" y="2831523"/>
            <a:ext cx="0" cy="459112"/>
          </a:xfrm>
          <a:prstGeom prst="line">
            <a:avLst/>
          </a:prstGeom>
          <a:ln>
            <a:solidFill>
              <a:schemeClr val="bg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04BF044-2F65-15B0-3C5F-B510DA13AEC3}"/>
              </a:ext>
            </a:extLst>
          </p:cNvPr>
          <p:cNvCxnSpPr>
            <a:cxnSpLocks/>
          </p:cNvCxnSpPr>
          <p:nvPr/>
        </p:nvCxnSpPr>
        <p:spPr>
          <a:xfrm>
            <a:off x="10406647" y="2831524"/>
            <a:ext cx="1" cy="459111"/>
          </a:xfrm>
          <a:prstGeom prst="line">
            <a:avLst/>
          </a:prstGeom>
          <a:ln>
            <a:solidFill>
              <a:schemeClr val="bg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4202CF9-112D-004D-0DC7-F72C4B06277D}"/>
              </a:ext>
            </a:extLst>
          </p:cNvPr>
          <p:cNvCxnSpPr>
            <a:cxnSpLocks/>
            <a:endCxn id="5" idx="0"/>
          </p:cNvCxnSpPr>
          <p:nvPr/>
        </p:nvCxnSpPr>
        <p:spPr>
          <a:xfrm>
            <a:off x="3258206" y="2054535"/>
            <a:ext cx="2" cy="388138"/>
          </a:xfrm>
          <a:prstGeom prst="line">
            <a:avLst/>
          </a:prstGeom>
          <a:ln>
            <a:solidFill>
              <a:schemeClr val="bg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D68AECC4-1E35-B319-9157-43141D6AEF4F}"/>
              </a:ext>
            </a:extLst>
          </p:cNvPr>
          <p:cNvCxnSpPr>
            <a:cxnSpLocks/>
          </p:cNvCxnSpPr>
          <p:nvPr/>
        </p:nvCxnSpPr>
        <p:spPr>
          <a:xfrm>
            <a:off x="8891749" y="2050342"/>
            <a:ext cx="2" cy="388138"/>
          </a:xfrm>
          <a:prstGeom prst="line">
            <a:avLst/>
          </a:prstGeom>
          <a:ln>
            <a:solidFill>
              <a:schemeClr val="bg1">
                <a:lumMod val="40000"/>
                <a:lumOff val="6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00549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fade">
                                      <p:cBhvr>
                                        <p:cTn id="12" dur="500"/>
                                        <p:tgtEl>
                                          <p:spTgt spid="7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fade">
                                      <p:cBhvr>
                                        <p:cTn id="17" dur="500"/>
                                        <p:tgtEl>
                                          <p:spTgt spid="7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3"/>
                                        </p:tgtEl>
                                        <p:attrNameLst>
                                          <p:attrName>style.visibility</p:attrName>
                                        </p:attrNameLst>
                                      </p:cBhvr>
                                      <p:to>
                                        <p:strVal val="visible"/>
                                      </p:to>
                                    </p:set>
                                    <p:animEffect transition="in" filter="fade">
                                      <p:cBhvr>
                                        <p:cTn id="35" dur="500"/>
                                        <p:tgtEl>
                                          <p:spTgt spid="8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87"/>
                                        </p:tgtEl>
                                        <p:attrNameLst>
                                          <p:attrName>style.visibility</p:attrName>
                                        </p:attrNameLst>
                                      </p:cBhvr>
                                      <p:to>
                                        <p:strVal val="visible"/>
                                      </p:to>
                                    </p:set>
                                    <p:animEffect transition="in" filter="fade">
                                      <p:cBhvr>
                                        <p:cTn id="40" dur="500"/>
                                        <p:tgtEl>
                                          <p:spTgt spid="8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1"/>
                                        </p:tgtEl>
                                        <p:attrNameLst>
                                          <p:attrName>style.visibility</p:attrName>
                                        </p:attrNameLst>
                                      </p:cBhvr>
                                      <p:to>
                                        <p:strVal val="visible"/>
                                      </p:to>
                                    </p:set>
                                    <p:animEffect transition="in" filter="fade">
                                      <p:cBhvr>
                                        <p:cTn id="43" dur="500"/>
                                        <p:tgtEl>
                                          <p:spTgt spid="91"/>
                                        </p:tgtEl>
                                      </p:cBhvr>
                                    </p:animEffect>
                                  </p:childTnLst>
                                </p:cTn>
                              </p:par>
                              <p:par>
                                <p:cTn id="44" presetID="10" presetClass="entr" presetSubtype="0" fill="hold" nodeType="withEffect">
                                  <p:stCondLst>
                                    <p:cond delay="0"/>
                                  </p:stCondLst>
                                  <p:childTnLst>
                                    <p:set>
                                      <p:cBhvr>
                                        <p:cTn id="45" dur="1" fill="hold">
                                          <p:stCondLst>
                                            <p:cond delay="0"/>
                                          </p:stCondLst>
                                        </p:cTn>
                                        <p:tgtEl>
                                          <p:spTgt spid="96"/>
                                        </p:tgtEl>
                                        <p:attrNameLst>
                                          <p:attrName>style.visibility</p:attrName>
                                        </p:attrNameLst>
                                      </p:cBhvr>
                                      <p:to>
                                        <p:strVal val="visible"/>
                                      </p:to>
                                    </p:set>
                                    <p:animEffect transition="in" filter="fade">
                                      <p:cBhvr>
                                        <p:cTn id="46" dur="500"/>
                                        <p:tgtEl>
                                          <p:spTgt spid="9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0"/>
                                        </p:tgtEl>
                                        <p:attrNameLst>
                                          <p:attrName>style.visibility</p:attrName>
                                        </p:attrNameLst>
                                      </p:cBhvr>
                                      <p:to>
                                        <p:strVal val="visible"/>
                                      </p:to>
                                    </p:set>
                                    <p:animEffect transition="in" filter="fade">
                                      <p:cBhvr>
                                        <p:cTn id="49" dur="500"/>
                                        <p:tgtEl>
                                          <p:spTgt spid="10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86"/>
                                        </p:tgtEl>
                                        <p:attrNameLst>
                                          <p:attrName>style.visibility</p:attrName>
                                        </p:attrNameLst>
                                      </p:cBhvr>
                                      <p:to>
                                        <p:strVal val="visible"/>
                                      </p:to>
                                    </p:set>
                                    <p:animEffect transition="in" filter="fade">
                                      <p:cBhvr>
                                        <p:cTn id="54" dur="500"/>
                                        <p:tgtEl>
                                          <p:spTgt spid="8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88"/>
                                        </p:tgtEl>
                                        <p:attrNameLst>
                                          <p:attrName>style.visibility</p:attrName>
                                        </p:attrNameLst>
                                      </p:cBhvr>
                                      <p:to>
                                        <p:strVal val="visible"/>
                                      </p:to>
                                    </p:set>
                                    <p:animEffect transition="in" filter="fade">
                                      <p:cBhvr>
                                        <p:cTn id="59" dur="500"/>
                                        <p:tgtEl>
                                          <p:spTgt spid="8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92"/>
                                        </p:tgtEl>
                                        <p:attrNameLst>
                                          <p:attrName>style.visibility</p:attrName>
                                        </p:attrNameLst>
                                      </p:cBhvr>
                                      <p:to>
                                        <p:strVal val="visible"/>
                                      </p:to>
                                    </p:set>
                                    <p:animEffect transition="in" filter="fade">
                                      <p:cBhvr>
                                        <p:cTn id="62" dur="500"/>
                                        <p:tgtEl>
                                          <p:spTgt spid="92"/>
                                        </p:tgtEl>
                                      </p:cBhvr>
                                    </p:animEffect>
                                  </p:childTnLst>
                                </p:cTn>
                              </p:par>
                              <p:par>
                                <p:cTn id="63" presetID="10" presetClass="entr" presetSubtype="0" fill="hold" nodeType="withEffect">
                                  <p:stCondLst>
                                    <p:cond delay="0"/>
                                  </p:stCondLst>
                                  <p:childTnLst>
                                    <p:set>
                                      <p:cBhvr>
                                        <p:cTn id="64" dur="1" fill="hold">
                                          <p:stCondLst>
                                            <p:cond delay="0"/>
                                          </p:stCondLst>
                                        </p:cTn>
                                        <p:tgtEl>
                                          <p:spTgt spid="97"/>
                                        </p:tgtEl>
                                        <p:attrNameLst>
                                          <p:attrName>style.visibility</p:attrName>
                                        </p:attrNameLst>
                                      </p:cBhvr>
                                      <p:to>
                                        <p:strVal val="visible"/>
                                      </p:to>
                                    </p:set>
                                    <p:animEffect transition="in" filter="fade">
                                      <p:cBhvr>
                                        <p:cTn id="65" dur="500"/>
                                        <p:tgtEl>
                                          <p:spTgt spid="9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01"/>
                                        </p:tgtEl>
                                        <p:attrNameLst>
                                          <p:attrName>style.visibility</p:attrName>
                                        </p:attrNameLst>
                                      </p:cBhvr>
                                      <p:to>
                                        <p:strVal val="visible"/>
                                      </p:to>
                                    </p:set>
                                    <p:animEffect transition="in" filter="fade">
                                      <p:cBhvr>
                                        <p:cTn id="68" dur="500"/>
                                        <p:tgtEl>
                                          <p:spTgt spid="10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500"/>
                                        <p:tgtEl>
                                          <p:spTgt spid="2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fade">
                                      <p:cBhvr>
                                        <p:cTn id="78" dur="500"/>
                                        <p:tgtEl>
                                          <p:spTgt spid="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500"/>
                                        <p:tgtEl>
                                          <p:spTgt spid="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1"/>
                                        </p:tgtEl>
                                        <p:attrNameLst>
                                          <p:attrName>style.visibility</p:attrName>
                                        </p:attrNameLst>
                                      </p:cBhvr>
                                      <p:to>
                                        <p:strVal val="visible"/>
                                      </p:to>
                                    </p:set>
                                    <p:animEffect transition="in" filter="fade">
                                      <p:cBhvr>
                                        <p:cTn id="86" dur="500"/>
                                        <p:tgtEl>
                                          <p:spTgt spid="11"/>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89"/>
                                        </p:tgtEl>
                                        <p:attrNameLst>
                                          <p:attrName>style.visibility</p:attrName>
                                        </p:attrNameLst>
                                      </p:cBhvr>
                                      <p:to>
                                        <p:strVal val="visible"/>
                                      </p:to>
                                    </p:set>
                                    <p:animEffect transition="in" filter="fade">
                                      <p:cBhvr>
                                        <p:cTn id="91" dur="500"/>
                                        <p:tgtEl>
                                          <p:spTgt spid="8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93"/>
                                        </p:tgtEl>
                                        <p:attrNameLst>
                                          <p:attrName>style.visibility</p:attrName>
                                        </p:attrNameLst>
                                      </p:cBhvr>
                                      <p:to>
                                        <p:strVal val="visible"/>
                                      </p:to>
                                    </p:set>
                                    <p:animEffect transition="in" filter="fade">
                                      <p:cBhvr>
                                        <p:cTn id="94" dur="500"/>
                                        <p:tgtEl>
                                          <p:spTgt spid="93"/>
                                        </p:tgtEl>
                                      </p:cBhvr>
                                    </p:animEffect>
                                  </p:childTnLst>
                                </p:cTn>
                              </p:par>
                              <p:par>
                                <p:cTn id="95" presetID="10" presetClass="entr" presetSubtype="0" fill="hold" nodeType="withEffect">
                                  <p:stCondLst>
                                    <p:cond delay="0"/>
                                  </p:stCondLst>
                                  <p:childTnLst>
                                    <p:set>
                                      <p:cBhvr>
                                        <p:cTn id="96" dur="1" fill="hold">
                                          <p:stCondLst>
                                            <p:cond delay="0"/>
                                          </p:stCondLst>
                                        </p:cTn>
                                        <p:tgtEl>
                                          <p:spTgt spid="98"/>
                                        </p:tgtEl>
                                        <p:attrNameLst>
                                          <p:attrName>style.visibility</p:attrName>
                                        </p:attrNameLst>
                                      </p:cBhvr>
                                      <p:to>
                                        <p:strVal val="visible"/>
                                      </p:to>
                                    </p:set>
                                    <p:animEffect transition="in" filter="fade">
                                      <p:cBhvr>
                                        <p:cTn id="97" dur="500"/>
                                        <p:tgtEl>
                                          <p:spTgt spid="98"/>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02"/>
                                        </p:tgtEl>
                                        <p:attrNameLst>
                                          <p:attrName>style.visibility</p:attrName>
                                        </p:attrNameLst>
                                      </p:cBhvr>
                                      <p:to>
                                        <p:strVal val="visible"/>
                                      </p:to>
                                    </p:set>
                                    <p:animEffect transition="in" filter="fade">
                                      <p:cBhvr>
                                        <p:cTn id="100" dur="500"/>
                                        <p:tgtEl>
                                          <p:spTgt spid="102"/>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13"/>
                                        </p:tgtEl>
                                        <p:attrNameLst>
                                          <p:attrName>style.visibility</p:attrName>
                                        </p:attrNameLst>
                                      </p:cBhvr>
                                      <p:to>
                                        <p:strVal val="visible"/>
                                      </p:to>
                                    </p:set>
                                    <p:animEffect transition="in" filter="fade">
                                      <p:cBhvr>
                                        <p:cTn id="105" dur="500"/>
                                        <p:tgtEl>
                                          <p:spTgt spid="13"/>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90"/>
                                        </p:tgtEl>
                                        <p:attrNameLst>
                                          <p:attrName>style.visibility</p:attrName>
                                        </p:attrNameLst>
                                      </p:cBhvr>
                                      <p:to>
                                        <p:strVal val="visible"/>
                                      </p:to>
                                    </p:set>
                                    <p:animEffect transition="in" filter="fade">
                                      <p:cBhvr>
                                        <p:cTn id="110" dur="500"/>
                                        <p:tgtEl>
                                          <p:spTgt spid="9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94"/>
                                        </p:tgtEl>
                                        <p:attrNameLst>
                                          <p:attrName>style.visibility</p:attrName>
                                        </p:attrNameLst>
                                      </p:cBhvr>
                                      <p:to>
                                        <p:strVal val="visible"/>
                                      </p:to>
                                    </p:set>
                                    <p:animEffect transition="in" filter="fade">
                                      <p:cBhvr>
                                        <p:cTn id="113" dur="500"/>
                                        <p:tgtEl>
                                          <p:spTgt spid="94"/>
                                        </p:tgtEl>
                                      </p:cBhvr>
                                    </p:animEffect>
                                  </p:childTnLst>
                                </p:cTn>
                              </p:par>
                              <p:par>
                                <p:cTn id="114" presetID="10" presetClass="entr" presetSubtype="0" fill="hold" nodeType="withEffect">
                                  <p:stCondLst>
                                    <p:cond delay="0"/>
                                  </p:stCondLst>
                                  <p:childTnLst>
                                    <p:set>
                                      <p:cBhvr>
                                        <p:cTn id="115" dur="1" fill="hold">
                                          <p:stCondLst>
                                            <p:cond delay="0"/>
                                          </p:stCondLst>
                                        </p:cTn>
                                        <p:tgtEl>
                                          <p:spTgt spid="99"/>
                                        </p:tgtEl>
                                        <p:attrNameLst>
                                          <p:attrName>style.visibility</p:attrName>
                                        </p:attrNameLst>
                                      </p:cBhvr>
                                      <p:to>
                                        <p:strVal val="visible"/>
                                      </p:to>
                                    </p:set>
                                    <p:animEffect transition="in" filter="fade">
                                      <p:cBhvr>
                                        <p:cTn id="116" dur="500"/>
                                        <p:tgtEl>
                                          <p:spTgt spid="99"/>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103"/>
                                        </p:tgtEl>
                                        <p:attrNameLst>
                                          <p:attrName>style.visibility</p:attrName>
                                        </p:attrNameLst>
                                      </p:cBhvr>
                                      <p:to>
                                        <p:strVal val="visible"/>
                                      </p:to>
                                    </p:set>
                                    <p:animEffect transition="in" filter="fade">
                                      <p:cBhvr>
                                        <p:cTn id="119" dur="500"/>
                                        <p:tgtEl>
                                          <p:spTgt spid="103"/>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117"/>
                                        </p:tgtEl>
                                        <p:attrNameLst>
                                          <p:attrName>style.visibility</p:attrName>
                                        </p:attrNameLst>
                                      </p:cBhvr>
                                      <p:to>
                                        <p:strVal val="visible"/>
                                      </p:to>
                                    </p:set>
                                    <p:animEffect transition="in" filter="fade">
                                      <p:cBhvr>
                                        <p:cTn id="124" dur="500"/>
                                        <p:tgtEl>
                                          <p:spTgt spid="117"/>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19"/>
                                        </p:tgtEl>
                                        <p:attrNameLst>
                                          <p:attrName>style.visibility</p:attrName>
                                        </p:attrNameLst>
                                      </p:cBhvr>
                                      <p:to>
                                        <p:strVal val="visible"/>
                                      </p:to>
                                    </p:set>
                                    <p:animEffect transition="in" filter="fade">
                                      <p:cBhvr>
                                        <p:cTn id="127" dur="500"/>
                                        <p:tgtEl>
                                          <p:spTgt spid="119"/>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21"/>
                                        </p:tgtEl>
                                        <p:attrNameLst>
                                          <p:attrName>style.visibility</p:attrName>
                                        </p:attrNameLst>
                                      </p:cBhvr>
                                      <p:to>
                                        <p:strVal val="visible"/>
                                      </p:to>
                                    </p:set>
                                    <p:animEffect transition="in" filter="fade">
                                      <p:cBhvr>
                                        <p:cTn id="130" dur="500"/>
                                        <p:tgtEl>
                                          <p:spTgt spid="121"/>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118"/>
                                        </p:tgtEl>
                                        <p:attrNameLst>
                                          <p:attrName>style.visibility</p:attrName>
                                        </p:attrNameLst>
                                      </p:cBhvr>
                                      <p:to>
                                        <p:strVal val="visible"/>
                                      </p:to>
                                    </p:set>
                                    <p:animEffect transition="in" filter="fade">
                                      <p:cBhvr>
                                        <p:cTn id="135" dur="500"/>
                                        <p:tgtEl>
                                          <p:spTgt spid="118"/>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120"/>
                                        </p:tgtEl>
                                        <p:attrNameLst>
                                          <p:attrName>style.visibility</p:attrName>
                                        </p:attrNameLst>
                                      </p:cBhvr>
                                      <p:to>
                                        <p:strVal val="visible"/>
                                      </p:to>
                                    </p:set>
                                    <p:animEffect transition="in" filter="fade">
                                      <p:cBhvr>
                                        <p:cTn id="138" dur="500"/>
                                        <p:tgtEl>
                                          <p:spTgt spid="120"/>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122"/>
                                        </p:tgtEl>
                                        <p:attrNameLst>
                                          <p:attrName>style.visibility</p:attrName>
                                        </p:attrNameLst>
                                      </p:cBhvr>
                                      <p:to>
                                        <p:strVal val="visible"/>
                                      </p:to>
                                    </p:set>
                                    <p:animEffect transition="in" filter="fade">
                                      <p:cBhvr>
                                        <p:cTn id="141"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87" grpId="0" animBg="1"/>
      <p:bldP spid="88" grpId="0" animBg="1"/>
      <p:bldP spid="89" grpId="0" animBg="1"/>
      <p:bldP spid="90" grpId="0" animBg="1"/>
      <p:bldP spid="91" grpId="0"/>
      <p:bldP spid="92" grpId="0"/>
      <p:bldP spid="93" grpId="0"/>
      <p:bldP spid="94" grpId="0"/>
      <p:bldP spid="100" grpId="0"/>
      <p:bldP spid="101" grpId="0"/>
      <p:bldP spid="102" grpId="0"/>
      <p:bldP spid="103" grpId="0"/>
      <p:bldP spid="117" grpId="0" animBg="1"/>
      <p:bldP spid="118" grpId="0" animBg="1"/>
      <p:bldP spid="119" grpId="0"/>
      <p:bldP spid="120" grpId="0"/>
      <p:bldP spid="121" grpId="0"/>
      <p:bldP spid="122" grpId="0"/>
      <p:bldP spid="5" grpId="0" animBg="1"/>
      <p:bldP spid="6" grpId="0" animBg="1"/>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0D090AB4-EEF6-44F0-DCE2-356479BE0AE1}"/>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AA674EFF-D18E-9576-73E4-2701DB380D70}"/>
              </a:ext>
            </a:extLst>
          </p:cNvPr>
          <p:cNvSpPr/>
          <p:nvPr/>
        </p:nvSpPr>
        <p:spPr>
          <a:xfrm>
            <a:off x="329158" y="206609"/>
            <a:ext cx="1311321"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CALCULATION 1</a:t>
            </a:r>
          </a:p>
        </p:txBody>
      </p:sp>
      <p:sp>
        <p:nvSpPr>
          <p:cNvPr id="75" name="Rectangle 74">
            <a:extLst>
              <a:ext uri="{FF2B5EF4-FFF2-40B4-BE49-F238E27FC236}">
                <a16:creationId xmlns:a16="http://schemas.microsoft.com/office/drawing/2014/main" id="{3830ED8D-3747-CCC4-2A18-546B4398F669}"/>
              </a:ext>
            </a:extLst>
          </p:cNvPr>
          <p:cNvSpPr/>
          <p:nvPr/>
        </p:nvSpPr>
        <p:spPr>
          <a:xfrm>
            <a:off x="329159" y="567893"/>
            <a:ext cx="11291824" cy="384721"/>
          </a:xfrm>
          <a:prstGeom prst="rect">
            <a:avLst/>
          </a:prstGeom>
        </p:spPr>
        <p:txBody>
          <a:bodyPr wrap="square" lIns="0" tIns="0" rIns="0" bIns="0">
            <a:spAutoFit/>
          </a:bodyPr>
          <a:lstStyle/>
          <a:p>
            <a:r>
              <a:rPr lang="en-US" sz="2500" b="1" dirty="0">
                <a:latin typeface="+mj-lt"/>
              </a:rPr>
              <a:t>Orders outpaced revenue, cutting revenue per order 4%</a:t>
            </a:r>
          </a:p>
        </p:txBody>
      </p:sp>
      <p:cxnSp>
        <p:nvCxnSpPr>
          <p:cNvPr id="3" name="Straight Connector 2">
            <a:extLst>
              <a:ext uri="{FF2B5EF4-FFF2-40B4-BE49-F238E27FC236}">
                <a16:creationId xmlns:a16="http://schemas.microsoft.com/office/drawing/2014/main" id="{3F6EAA9D-6E84-304D-F105-4DA5C0E37EEB}"/>
              </a:ext>
            </a:extLst>
          </p:cNvPr>
          <p:cNvCxnSpPr>
            <a:cxnSpLocks/>
          </p:cNvCxnSpPr>
          <p:nvPr/>
        </p:nvCxnSpPr>
        <p:spPr>
          <a:xfrm>
            <a:off x="5959366" y="1227165"/>
            <a:ext cx="0" cy="487680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9BE8C63-2FE6-647D-4A7F-601BA1BC3963}"/>
              </a:ext>
            </a:extLst>
          </p:cNvPr>
          <p:cNvCxnSpPr>
            <a:cxnSpLocks/>
          </p:cNvCxnSpPr>
          <p:nvPr/>
        </p:nvCxnSpPr>
        <p:spPr>
          <a:xfrm flipH="1">
            <a:off x="430924" y="3647171"/>
            <a:ext cx="11330152" cy="0"/>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27B64A3-2464-6CC3-3A52-35080EE93152}"/>
              </a:ext>
            </a:extLst>
          </p:cNvPr>
          <p:cNvSpPr txBox="1"/>
          <p:nvPr/>
        </p:nvSpPr>
        <p:spPr>
          <a:xfrm>
            <a:off x="430931" y="1249484"/>
            <a:ext cx="4284873"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1. Calculated revenue per order</a:t>
            </a:r>
            <a:endParaRPr lang="en-US" b="1" dirty="0">
              <a:solidFill>
                <a:schemeClr val="bg1"/>
              </a:solidFill>
              <a:latin typeface="Aptos" panose="020B0004020202020204" pitchFamily="34" charset="0"/>
            </a:endParaRPr>
          </a:p>
        </p:txBody>
      </p:sp>
      <p:sp>
        <p:nvSpPr>
          <p:cNvPr id="20" name="TextBox 19">
            <a:extLst>
              <a:ext uri="{FF2B5EF4-FFF2-40B4-BE49-F238E27FC236}">
                <a16:creationId xmlns:a16="http://schemas.microsoft.com/office/drawing/2014/main" id="{BADF6E3B-E313-523E-1E75-BBB28DF96665}"/>
              </a:ext>
            </a:extLst>
          </p:cNvPr>
          <p:cNvSpPr txBox="1"/>
          <p:nvPr/>
        </p:nvSpPr>
        <p:spPr>
          <a:xfrm>
            <a:off x="430924" y="3810007"/>
            <a:ext cx="4284880"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2. Measured the per-order decline</a:t>
            </a:r>
            <a:endParaRPr lang="en-US" b="1" dirty="0">
              <a:solidFill>
                <a:schemeClr val="bg1"/>
              </a:solidFill>
              <a:latin typeface="Aptos" panose="020B0004020202020204" pitchFamily="34" charset="0"/>
            </a:endParaRPr>
          </a:p>
        </p:txBody>
      </p:sp>
      <p:sp>
        <p:nvSpPr>
          <p:cNvPr id="22" name="TextBox 21">
            <a:extLst>
              <a:ext uri="{FF2B5EF4-FFF2-40B4-BE49-F238E27FC236}">
                <a16:creationId xmlns:a16="http://schemas.microsoft.com/office/drawing/2014/main" id="{7469D2D6-155F-F070-CBBA-6BAD72F475C5}"/>
              </a:ext>
            </a:extLst>
          </p:cNvPr>
          <p:cNvSpPr txBox="1"/>
          <p:nvPr/>
        </p:nvSpPr>
        <p:spPr>
          <a:xfrm>
            <a:off x="6232634" y="1249484"/>
            <a:ext cx="4435357"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3. Translated the decline into annual pressure</a:t>
            </a:r>
            <a:endParaRPr lang="en-US" b="1" dirty="0">
              <a:solidFill>
                <a:schemeClr val="bg1"/>
              </a:solidFill>
              <a:latin typeface="Aptos" panose="020B0004020202020204" pitchFamily="34" charset="0"/>
            </a:endParaRPr>
          </a:p>
        </p:txBody>
      </p:sp>
      <p:sp>
        <p:nvSpPr>
          <p:cNvPr id="23" name="TextBox 22">
            <a:extLst>
              <a:ext uri="{FF2B5EF4-FFF2-40B4-BE49-F238E27FC236}">
                <a16:creationId xmlns:a16="http://schemas.microsoft.com/office/drawing/2014/main" id="{217A94A7-A409-F83A-8A72-D12944B085D2}"/>
              </a:ext>
            </a:extLst>
          </p:cNvPr>
          <p:cNvSpPr txBox="1"/>
          <p:nvPr/>
        </p:nvSpPr>
        <p:spPr>
          <a:xfrm>
            <a:off x="6232640" y="3805863"/>
            <a:ext cx="4288209"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What it means:</a:t>
            </a:r>
            <a:endParaRPr lang="en-US" b="1" dirty="0">
              <a:solidFill>
                <a:schemeClr val="bg1"/>
              </a:solidFill>
              <a:latin typeface="Aptos" panose="020B0004020202020204" pitchFamily="34" charset="0"/>
            </a:endParaRPr>
          </a:p>
        </p:txBody>
      </p:sp>
      <p:sp>
        <p:nvSpPr>
          <p:cNvPr id="24" name="TextBox 23">
            <a:extLst>
              <a:ext uri="{FF2B5EF4-FFF2-40B4-BE49-F238E27FC236}">
                <a16:creationId xmlns:a16="http://schemas.microsoft.com/office/drawing/2014/main" id="{7E825B97-829C-C812-87FF-457542FF2F89}"/>
              </a:ext>
            </a:extLst>
          </p:cNvPr>
          <p:cNvSpPr txBox="1"/>
          <p:nvPr/>
        </p:nvSpPr>
        <p:spPr>
          <a:xfrm>
            <a:off x="430923" y="2042259"/>
            <a:ext cx="4621213" cy="1015663"/>
          </a:xfrm>
          <a:prstGeom prst="rect">
            <a:avLst/>
          </a:prstGeom>
          <a:noFill/>
        </p:spPr>
        <p:txBody>
          <a:bodyPr wrap="square" rtlCol="0">
            <a:spAutoFit/>
          </a:bodyPr>
          <a:lstStyle/>
          <a:p>
            <a:r>
              <a:rPr lang="en-US" sz="2000" b="1" dirty="0">
                <a:solidFill>
                  <a:schemeClr val="bg1"/>
                </a:solidFill>
                <a:latin typeface="Aptos" panose="020B0004020202020204" pitchFamily="34" charset="0"/>
              </a:rPr>
              <a:t>Prior year:  $30.0M ÷ 1.00M = $30.00</a:t>
            </a:r>
          </a:p>
          <a:p>
            <a:endParaRPr lang="en-US" sz="2000" b="1" dirty="0">
              <a:solidFill>
                <a:schemeClr val="bg1"/>
              </a:solidFill>
              <a:latin typeface="Aptos" panose="020B0004020202020204" pitchFamily="34" charset="0"/>
            </a:endParaRPr>
          </a:p>
          <a:p>
            <a:r>
              <a:rPr lang="en-US" sz="2000" b="1" dirty="0">
                <a:solidFill>
                  <a:schemeClr val="bg1"/>
                </a:solidFill>
                <a:latin typeface="Aptos" panose="020B0004020202020204" pitchFamily="34" charset="0"/>
              </a:rPr>
              <a:t>Current year:  $36.0M ÷ 1.25M = $28.80</a:t>
            </a:r>
          </a:p>
        </p:txBody>
      </p:sp>
      <p:sp>
        <p:nvSpPr>
          <p:cNvPr id="25" name="TextBox 24">
            <a:extLst>
              <a:ext uri="{FF2B5EF4-FFF2-40B4-BE49-F238E27FC236}">
                <a16:creationId xmlns:a16="http://schemas.microsoft.com/office/drawing/2014/main" id="{7144132D-FBDB-6B14-735A-21EB42DC6CC7}"/>
              </a:ext>
            </a:extLst>
          </p:cNvPr>
          <p:cNvSpPr txBox="1"/>
          <p:nvPr/>
        </p:nvSpPr>
        <p:spPr>
          <a:xfrm>
            <a:off x="430924" y="4435962"/>
            <a:ext cx="4621213" cy="1631216"/>
          </a:xfrm>
          <a:prstGeom prst="rect">
            <a:avLst/>
          </a:prstGeom>
          <a:noFill/>
        </p:spPr>
        <p:txBody>
          <a:bodyPr wrap="square" rtlCol="0">
            <a:spAutoFit/>
          </a:bodyPr>
          <a:lstStyle/>
          <a:p>
            <a:r>
              <a:rPr lang="en-US" sz="2000" b="1" dirty="0">
                <a:solidFill>
                  <a:schemeClr val="bg1"/>
                </a:solidFill>
                <a:latin typeface="Aptos" panose="020B0004020202020204" pitchFamily="34" charset="0"/>
              </a:rPr>
              <a:t>$28.80 − $30.00 = </a:t>
            </a:r>
            <a:r>
              <a:rPr lang="en-US" sz="2000" b="1" dirty="0">
                <a:solidFill>
                  <a:srgbClr val="C00000"/>
                </a:solidFill>
                <a:latin typeface="Aptos" panose="020B0004020202020204" pitchFamily="34" charset="0"/>
              </a:rPr>
              <a:t>-$1.20 </a:t>
            </a:r>
            <a:r>
              <a:rPr lang="en-US" sz="2000" b="1" dirty="0">
                <a:solidFill>
                  <a:schemeClr val="bg1"/>
                </a:solidFill>
                <a:latin typeface="Aptos" panose="020B0004020202020204" pitchFamily="34" charset="0"/>
              </a:rPr>
              <a:t>per order</a:t>
            </a:r>
          </a:p>
          <a:p>
            <a:endParaRPr lang="en-US" sz="2000" b="1" dirty="0">
              <a:solidFill>
                <a:schemeClr val="bg1"/>
              </a:solidFill>
              <a:latin typeface="Aptos" panose="020B0004020202020204" pitchFamily="34" charset="0"/>
            </a:endParaRPr>
          </a:p>
          <a:p>
            <a:r>
              <a:rPr lang="en-US" sz="2000" b="1" dirty="0">
                <a:solidFill>
                  <a:schemeClr val="bg1"/>
                </a:solidFill>
                <a:latin typeface="Aptos" panose="020B0004020202020204" pitchFamily="34" charset="0"/>
              </a:rPr>
              <a:t>-$1.20 ÷ $30.00 = </a:t>
            </a:r>
            <a:r>
              <a:rPr lang="en-US" sz="2000" b="1" dirty="0">
                <a:solidFill>
                  <a:srgbClr val="C00000"/>
                </a:solidFill>
                <a:latin typeface="Aptos" panose="020B0004020202020204" pitchFamily="34" charset="0"/>
              </a:rPr>
              <a:t>-4.0%</a:t>
            </a:r>
          </a:p>
          <a:p>
            <a:endParaRPr lang="en-US" sz="2000" b="1" dirty="0">
              <a:solidFill>
                <a:srgbClr val="C00000"/>
              </a:solidFill>
              <a:latin typeface="Aptos" panose="020B0004020202020204" pitchFamily="34" charset="0"/>
            </a:endParaRPr>
          </a:p>
          <a:p>
            <a:r>
              <a:rPr lang="en-US" sz="2000" b="1" dirty="0">
                <a:solidFill>
                  <a:srgbClr val="C00000"/>
                </a:solidFill>
                <a:latin typeface="Aptos" panose="020B0004020202020204" pitchFamily="34" charset="0"/>
              </a:rPr>
              <a:t>Revenue per order fell 4%</a:t>
            </a:r>
          </a:p>
        </p:txBody>
      </p:sp>
      <p:sp>
        <p:nvSpPr>
          <p:cNvPr id="27" name="TextBox 26">
            <a:extLst>
              <a:ext uri="{FF2B5EF4-FFF2-40B4-BE49-F238E27FC236}">
                <a16:creationId xmlns:a16="http://schemas.microsoft.com/office/drawing/2014/main" id="{0DBB9CF5-715F-4F23-DBA8-C0F3DD25786C}"/>
              </a:ext>
            </a:extLst>
          </p:cNvPr>
          <p:cNvSpPr txBox="1"/>
          <p:nvPr/>
        </p:nvSpPr>
        <p:spPr>
          <a:xfrm>
            <a:off x="6232635" y="2196147"/>
            <a:ext cx="4621213" cy="707886"/>
          </a:xfrm>
          <a:prstGeom prst="rect">
            <a:avLst/>
          </a:prstGeom>
          <a:noFill/>
        </p:spPr>
        <p:txBody>
          <a:bodyPr wrap="square" rtlCol="0">
            <a:spAutoFit/>
          </a:bodyPr>
          <a:lstStyle/>
          <a:p>
            <a:r>
              <a:rPr lang="en-US" sz="2000" b="1" dirty="0">
                <a:solidFill>
                  <a:schemeClr val="bg1"/>
                </a:solidFill>
                <a:latin typeface="Aptos" panose="020B0004020202020204" pitchFamily="34" charset="0"/>
              </a:rPr>
              <a:t>Revenue / order impact:</a:t>
            </a:r>
          </a:p>
          <a:p>
            <a:r>
              <a:rPr lang="en-US" sz="2000" b="1" dirty="0">
                <a:solidFill>
                  <a:schemeClr val="bg1"/>
                </a:solidFill>
                <a:latin typeface="Aptos" panose="020B0004020202020204" pitchFamily="34" charset="0"/>
              </a:rPr>
              <a:t>(-$1.20) × 1.25M orders = </a:t>
            </a:r>
            <a:r>
              <a:rPr lang="en-US" sz="2000" b="1" dirty="0">
                <a:solidFill>
                  <a:srgbClr val="C00000"/>
                </a:solidFill>
                <a:latin typeface="Aptos" panose="020B0004020202020204" pitchFamily="34" charset="0"/>
              </a:rPr>
              <a:t>-$1.50M</a:t>
            </a:r>
          </a:p>
        </p:txBody>
      </p:sp>
      <p:sp>
        <p:nvSpPr>
          <p:cNvPr id="28" name="TextBox 27">
            <a:extLst>
              <a:ext uri="{FF2B5EF4-FFF2-40B4-BE49-F238E27FC236}">
                <a16:creationId xmlns:a16="http://schemas.microsoft.com/office/drawing/2014/main" id="{3F6BFFAD-3E78-AC96-95E4-1F7A7BF901E2}"/>
              </a:ext>
            </a:extLst>
          </p:cNvPr>
          <p:cNvSpPr txBox="1"/>
          <p:nvPr/>
        </p:nvSpPr>
        <p:spPr>
          <a:xfrm>
            <a:off x="1903946" y="6364048"/>
            <a:ext cx="8110839" cy="276999"/>
          </a:xfrm>
          <a:prstGeom prst="rect">
            <a:avLst/>
          </a:prstGeom>
          <a:noFill/>
        </p:spPr>
        <p:txBody>
          <a:bodyPr wrap="square" rtlCol="0">
            <a:spAutoFit/>
          </a:bodyPr>
          <a:lstStyle/>
          <a:p>
            <a:pPr algn="ctr"/>
            <a:r>
              <a:rPr lang="en-US" sz="1200" dirty="0">
                <a:solidFill>
                  <a:schemeClr val="bg1">
                    <a:lumMod val="60000"/>
                    <a:lumOff val="40000"/>
                  </a:schemeClr>
                </a:solidFill>
                <a:latin typeface="Aptos" panose="020B0004020202020204" pitchFamily="34" charset="0"/>
              </a:rPr>
              <a:t>Provided data: orders increased from 1.00M to 1.25M; revenue increased from $30.0M to $36.0M.</a:t>
            </a:r>
          </a:p>
        </p:txBody>
      </p:sp>
      <p:sp>
        <p:nvSpPr>
          <p:cNvPr id="29" name="TextBox 28">
            <a:extLst>
              <a:ext uri="{FF2B5EF4-FFF2-40B4-BE49-F238E27FC236}">
                <a16:creationId xmlns:a16="http://schemas.microsoft.com/office/drawing/2014/main" id="{EEAF7BD7-B3D5-9FCA-B351-3A078E1AF340}"/>
              </a:ext>
            </a:extLst>
          </p:cNvPr>
          <p:cNvSpPr txBox="1"/>
          <p:nvPr/>
        </p:nvSpPr>
        <p:spPr>
          <a:xfrm>
            <a:off x="6166052" y="4435962"/>
            <a:ext cx="5388338" cy="400110"/>
          </a:xfrm>
          <a:prstGeom prst="rect">
            <a:avLst/>
          </a:prstGeom>
          <a:noFill/>
        </p:spPr>
        <p:txBody>
          <a:bodyPr wrap="square" rtlCol="0">
            <a:spAutoFit/>
          </a:bodyPr>
          <a:lstStyle/>
          <a:p>
            <a:r>
              <a:rPr lang="en-US" sz="2000" b="1" dirty="0">
                <a:solidFill>
                  <a:schemeClr val="bg1"/>
                </a:solidFill>
                <a:latin typeface="Aptos" panose="020B0004020202020204" pitchFamily="34" charset="0"/>
              </a:rPr>
              <a:t>The company added orders faster than value.</a:t>
            </a:r>
          </a:p>
        </p:txBody>
      </p:sp>
      <p:sp>
        <p:nvSpPr>
          <p:cNvPr id="30" name="TextBox 29">
            <a:extLst>
              <a:ext uri="{FF2B5EF4-FFF2-40B4-BE49-F238E27FC236}">
                <a16:creationId xmlns:a16="http://schemas.microsoft.com/office/drawing/2014/main" id="{CEC9809A-BBD0-6955-21C5-0DC58EE9A721}"/>
              </a:ext>
            </a:extLst>
          </p:cNvPr>
          <p:cNvSpPr txBox="1"/>
          <p:nvPr/>
        </p:nvSpPr>
        <p:spPr>
          <a:xfrm>
            <a:off x="6166052" y="4998419"/>
            <a:ext cx="4621213" cy="707886"/>
          </a:xfrm>
          <a:prstGeom prst="rect">
            <a:avLst/>
          </a:prstGeom>
          <a:noFill/>
        </p:spPr>
        <p:txBody>
          <a:bodyPr wrap="square" rtlCol="0">
            <a:spAutoFit/>
          </a:bodyPr>
          <a:lstStyle/>
          <a:p>
            <a:r>
              <a:rPr lang="en-US" sz="2000" b="1" dirty="0">
                <a:solidFill>
                  <a:schemeClr val="bg1"/>
                </a:solidFill>
                <a:latin typeface="Aptos" panose="020B0004020202020204" pitchFamily="34" charset="0"/>
              </a:rPr>
              <a:t>Annual Pressure:</a:t>
            </a:r>
          </a:p>
          <a:p>
            <a:r>
              <a:rPr lang="en-US" sz="2000" b="1" dirty="0">
                <a:solidFill>
                  <a:schemeClr val="bg1"/>
                </a:solidFill>
                <a:latin typeface="Aptos" panose="020B0004020202020204" pitchFamily="34" charset="0"/>
              </a:rPr>
              <a:t>$1.50M</a:t>
            </a:r>
          </a:p>
        </p:txBody>
      </p:sp>
    </p:spTree>
    <p:extLst>
      <p:ext uri="{BB962C8B-B14F-4D97-AF65-F5344CB8AC3E}">
        <p14:creationId xmlns:p14="http://schemas.microsoft.com/office/powerpoint/2010/main" val="40364281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5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3" grpId="0" animBg="1"/>
      <p:bldP spid="24" grpId="0"/>
      <p:bldP spid="25" grpId="0"/>
      <p:bldP spid="27" grpId="0"/>
      <p:bldP spid="28" grpId="0"/>
      <p:bldP spid="29"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58CFB827-9E5B-E597-24B2-2FEB23FC2A06}"/>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C988E428-B109-1AF5-0278-90104E1AC650}"/>
              </a:ext>
            </a:extLst>
          </p:cNvPr>
          <p:cNvSpPr/>
          <p:nvPr/>
        </p:nvSpPr>
        <p:spPr>
          <a:xfrm>
            <a:off x="329158" y="206609"/>
            <a:ext cx="1311321"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CALCULATION 2</a:t>
            </a:r>
          </a:p>
        </p:txBody>
      </p:sp>
      <p:sp>
        <p:nvSpPr>
          <p:cNvPr id="75" name="Rectangle 74">
            <a:extLst>
              <a:ext uri="{FF2B5EF4-FFF2-40B4-BE49-F238E27FC236}">
                <a16:creationId xmlns:a16="http://schemas.microsoft.com/office/drawing/2014/main" id="{3988ACC8-7FEF-3ADF-EE3A-9DA5D0423FF3}"/>
              </a:ext>
            </a:extLst>
          </p:cNvPr>
          <p:cNvSpPr/>
          <p:nvPr/>
        </p:nvSpPr>
        <p:spPr>
          <a:xfrm>
            <a:off x="329159" y="567893"/>
            <a:ext cx="11291824" cy="384721"/>
          </a:xfrm>
          <a:prstGeom prst="rect">
            <a:avLst/>
          </a:prstGeom>
        </p:spPr>
        <p:txBody>
          <a:bodyPr wrap="square" lIns="0" tIns="0" rIns="0" bIns="0">
            <a:spAutoFit/>
          </a:bodyPr>
          <a:lstStyle/>
          <a:p>
            <a:r>
              <a:rPr lang="en-US" sz="2500" b="1" dirty="0">
                <a:latin typeface="+mj-lt"/>
              </a:rPr>
              <a:t>Delivery cost per order increased 18%, creating $1.75M of pressure</a:t>
            </a:r>
          </a:p>
        </p:txBody>
      </p:sp>
      <p:cxnSp>
        <p:nvCxnSpPr>
          <p:cNvPr id="3" name="Straight Connector 2">
            <a:extLst>
              <a:ext uri="{FF2B5EF4-FFF2-40B4-BE49-F238E27FC236}">
                <a16:creationId xmlns:a16="http://schemas.microsoft.com/office/drawing/2014/main" id="{77B15043-B772-378E-86D7-343D1DBCD1CF}"/>
              </a:ext>
            </a:extLst>
          </p:cNvPr>
          <p:cNvCxnSpPr>
            <a:cxnSpLocks/>
          </p:cNvCxnSpPr>
          <p:nvPr/>
        </p:nvCxnSpPr>
        <p:spPr>
          <a:xfrm>
            <a:off x="5959366" y="1227165"/>
            <a:ext cx="0" cy="487680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FBFC0A9-597A-A1A0-6BAC-A3070DDC4CF2}"/>
              </a:ext>
            </a:extLst>
          </p:cNvPr>
          <p:cNvCxnSpPr>
            <a:cxnSpLocks/>
          </p:cNvCxnSpPr>
          <p:nvPr/>
        </p:nvCxnSpPr>
        <p:spPr>
          <a:xfrm flipH="1">
            <a:off x="430924" y="3647171"/>
            <a:ext cx="11330152" cy="0"/>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6D40F43-1CDB-18C6-36CC-207D2EF02611}"/>
              </a:ext>
            </a:extLst>
          </p:cNvPr>
          <p:cNvSpPr txBox="1"/>
          <p:nvPr/>
        </p:nvSpPr>
        <p:spPr>
          <a:xfrm>
            <a:off x="430931" y="1249484"/>
            <a:ext cx="4284873"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1. Compared delivery cost per order</a:t>
            </a:r>
            <a:endParaRPr lang="en-US" b="1" dirty="0">
              <a:solidFill>
                <a:schemeClr val="bg1"/>
              </a:solidFill>
              <a:latin typeface="Aptos" panose="020B0004020202020204" pitchFamily="34" charset="0"/>
            </a:endParaRPr>
          </a:p>
        </p:txBody>
      </p:sp>
      <p:sp>
        <p:nvSpPr>
          <p:cNvPr id="20" name="TextBox 19">
            <a:extLst>
              <a:ext uri="{FF2B5EF4-FFF2-40B4-BE49-F238E27FC236}">
                <a16:creationId xmlns:a16="http://schemas.microsoft.com/office/drawing/2014/main" id="{ABDF8923-3AFC-BE21-CDE4-7477E9E2FBFC}"/>
              </a:ext>
            </a:extLst>
          </p:cNvPr>
          <p:cNvSpPr txBox="1"/>
          <p:nvPr/>
        </p:nvSpPr>
        <p:spPr>
          <a:xfrm>
            <a:off x="430924" y="3810007"/>
            <a:ext cx="4284880"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2. Measured the per-order increase</a:t>
            </a:r>
            <a:endParaRPr lang="en-US" b="1" dirty="0">
              <a:solidFill>
                <a:schemeClr val="bg1"/>
              </a:solidFill>
              <a:latin typeface="Aptos" panose="020B0004020202020204" pitchFamily="34" charset="0"/>
            </a:endParaRPr>
          </a:p>
        </p:txBody>
      </p:sp>
      <p:sp>
        <p:nvSpPr>
          <p:cNvPr id="22" name="TextBox 21">
            <a:extLst>
              <a:ext uri="{FF2B5EF4-FFF2-40B4-BE49-F238E27FC236}">
                <a16:creationId xmlns:a16="http://schemas.microsoft.com/office/drawing/2014/main" id="{423513D3-4503-FEE5-3E43-7C3393C67E17}"/>
              </a:ext>
            </a:extLst>
          </p:cNvPr>
          <p:cNvSpPr txBox="1"/>
          <p:nvPr/>
        </p:nvSpPr>
        <p:spPr>
          <a:xfrm>
            <a:off x="6232634" y="1249484"/>
            <a:ext cx="4554627"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3. Translated the increase into annual pressure</a:t>
            </a:r>
            <a:endParaRPr lang="en-US" b="1" dirty="0">
              <a:solidFill>
                <a:schemeClr val="bg1"/>
              </a:solidFill>
              <a:latin typeface="Aptos" panose="020B0004020202020204" pitchFamily="34" charset="0"/>
            </a:endParaRPr>
          </a:p>
        </p:txBody>
      </p:sp>
      <p:sp>
        <p:nvSpPr>
          <p:cNvPr id="23" name="TextBox 22">
            <a:extLst>
              <a:ext uri="{FF2B5EF4-FFF2-40B4-BE49-F238E27FC236}">
                <a16:creationId xmlns:a16="http://schemas.microsoft.com/office/drawing/2014/main" id="{FB4BF9C4-866A-C980-1CB1-A4EDF4B4159A}"/>
              </a:ext>
            </a:extLst>
          </p:cNvPr>
          <p:cNvSpPr txBox="1"/>
          <p:nvPr/>
        </p:nvSpPr>
        <p:spPr>
          <a:xfrm>
            <a:off x="6232640" y="3805863"/>
            <a:ext cx="4288209"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What it means:</a:t>
            </a:r>
            <a:endParaRPr lang="en-US" b="1" dirty="0">
              <a:solidFill>
                <a:schemeClr val="bg1"/>
              </a:solidFill>
              <a:latin typeface="Aptos" panose="020B0004020202020204" pitchFamily="34" charset="0"/>
            </a:endParaRPr>
          </a:p>
        </p:txBody>
      </p:sp>
      <p:sp>
        <p:nvSpPr>
          <p:cNvPr id="24" name="TextBox 23">
            <a:extLst>
              <a:ext uri="{FF2B5EF4-FFF2-40B4-BE49-F238E27FC236}">
                <a16:creationId xmlns:a16="http://schemas.microsoft.com/office/drawing/2014/main" id="{458FCB81-39E1-AB4C-0534-E41C110448BD}"/>
              </a:ext>
            </a:extLst>
          </p:cNvPr>
          <p:cNvSpPr txBox="1"/>
          <p:nvPr/>
        </p:nvSpPr>
        <p:spPr>
          <a:xfrm>
            <a:off x="430923" y="2042259"/>
            <a:ext cx="4621213" cy="1015663"/>
          </a:xfrm>
          <a:prstGeom prst="rect">
            <a:avLst/>
          </a:prstGeom>
          <a:noFill/>
        </p:spPr>
        <p:txBody>
          <a:bodyPr wrap="square" rtlCol="0">
            <a:spAutoFit/>
          </a:bodyPr>
          <a:lstStyle/>
          <a:p>
            <a:r>
              <a:rPr lang="en-US" sz="2000" b="1" dirty="0">
                <a:solidFill>
                  <a:schemeClr val="bg1"/>
                </a:solidFill>
                <a:latin typeface="Aptos" panose="020B0004020202020204" pitchFamily="34" charset="0"/>
              </a:rPr>
              <a:t>Prior year:  $8.00 per order</a:t>
            </a:r>
          </a:p>
          <a:p>
            <a:endParaRPr lang="en-US" sz="2000" b="1" dirty="0">
              <a:solidFill>
                <a:schemeClr val="bg1"/>
              </a:solidFill>
              <a:latin typeface="Aptos" panose="020B0004020202020204" pitchFamily="34" charset="0"/>
            </a:endParaRPr>
          </a:p>
          <a:p>
            <a:r>
              <a:rPr lang="en-US" sz="2000" b="1" dirty="0">
                <a:solidFill>
                  <a:schemeClr val="bg1"/>
                </a:solidFill>
                <a:latin typeface="Aptos" panose="020B0004020202020204" pitchFamily="34" charset="0"/>
              </a:rPr>
              <a:t>Current year:  $9.40 per order</a:t>
            </a:r>
          </a:p>
        </p:txBody>
      </p:sp>
      <p:sp>
        <p:nvSpPr>
          <p:cNvPr id="25" name="TextBox 24">
            <a:extLst>
              <a:ext uri="{FF2B5EF4-FFF2-40B4-BE49-F238E27FC236}">
                <a16:creationId xmlns:a16="http://schemas.microsoft.com/office/drawing/2014/main" id="{6ACBD07F-9121-B5B2-861A-24296644E6AC}"/>
              </a:ext>
            </a:extLst>
          </p:cNvPr>
          <p:cNvSpPr txBox="1"/>
          <p:nvPr/>
        </p:nvSpPr>
        <p:spPr>
          <a:xfrm>
            <a:off x="430924" y="4435962"/>
            <a:ext cx="4621213" cy="1631216"/>
          </a:xfrm>
          <a:prstGeom prst="rect">
            <a:avLst/>
          </a:prstGeom>
          <a:noFill/>
        </p:spPr>
        <p:txBody>
          <a:bodyPr wrap="square" rtlCol="0">
            <a:spAutoFit/>
          </a:bodyPr>
          <a:lstStyle/>
          <a:p>
            <a:r>
              <a:rPr lang="en-US" sz="2000" b="1" dirty="0">
                <a:solidFill>
                  <a:schemeClr val="bg1"/>
                </a:solidFill>
                <a:latin typeface="Aptos" panose="020B0004020202020204" pitchFamily="34" charset="0"/>
              </a:rPr>
              <a:t>$9.40 - $8.00 = +$1.40 per order</a:t>
            </a:r>
          </a:p>
          <a:p>
            <a:endParaRPr lang="en-US" sz="2000" b="1" dirty="0">
              <a:solidFill>
                <a:schemeClr val="bg1"/>
              </a:solidFill>
              <a:latin typeface="Aptos" panose="020B0004020202020204" pitchFamily="34" charset="0"/>
            </a:endParaRPr>
          </a:p>
          <a:p>
            <a:r>
              <a:rPr lang="en-US" sz="2000" b="1" dirty="0">
                <a:solidFill>
                  <a:schemeClr val="bg1"/>
                </a:solidFill>
                <a:latin typeface="Aptos" panose="020B0004020202020204" pitchFamily="34" charset="0"/>
              </a:rPr>
              <a:t>$1.40 ÷ $8.00 = +17.5% ≈ 18%</a:t>
            </a:r>
          </a:p>
          <a:p>
            <a:endParaRPr lang="en-US" sz="2000" b="1" dirty="0">
              <a:solidFill>
                <a:srgbClr val="C00000"/>
              </a:solidFill>
              <a:latin typeface="Aptos" panose="020B0004020202020204" pitchFamily="34" charset="0"/>
            </a:endParaRPr>
          </a:p>
          <a:p>
            <a:r>
              <a:rPr lang="en-US" sz="2000" b="1" dirty="0">
                <a:solidFill>
                  <a:srgbClr val="C00000"/>
                </a:solidFill>
                <a:latin typeface="Aptos" panose="020B0004020202020204" pitchFamily="34" charset="0"/>
              </a:rPr>
              <a:t>Delivery cost per order rose 18%</a:t>
            </a:r>
          </a:p>
        </p:txBody>
      </p:sp>
      <p:sp>
        <p:nvSpPr>
          <p:cNvPr id="27" name="TextBox 26">
            <a:extLst>
              <a:ext uri="{FF2B5EF4-FFF2-40B4-BE49-F238E27FC236}">
                <a16:creationId xmlns:a16="http://schemas.microsoft.com/office/drawing/2014/main" id="{30345EC7-D236-CBCA-2B29-A7F360DDB05A}"/>
              </a:ext>
            </a:extLst>
          </p:cNvPr>
          <p:cNvSpPr txBox="1"/>
          <p:nvPr/>
        </p:nvSpPr>
        <p:spPr>
          <a:xfrm>
            <a:off x="6232634" y="2190947"/>
            <a:ext cx="4621213" cy="707886"/>
          </a:xfrm>
          <a:prstGeom prst="rect">
            <a:avLst/>
          </a:prstGeom>
          <a:noFill/>
        </p:spPr>
        <p:txBody>
          <a:bodyPr wrap="square" rtlCol="0">
            <a:spAutoFit/>
          </a:bodyPr>
          <a:lstStyle/>
          <a:p>
            <a:r>
              <a:rPr lang="en-US" sz="2000" b="1" dirty="0">
                <a:solidFill>
                  <a:schemeClr val="bg1"/>
                </a:solidFill>
                <a:latin typeface="Aptos" panose="020B0004020202020204" pitchFamily="34" charset="0"/>
              </a:rPr>
              <a:t>Delivery cost impact:</a:t>
            </a:r>
          </a:p>
          <a:p>
            <a:r>
              <a:rPr lang="en-US" sz="2000" b="1" dirty="0">
                <a:solidFill>
                  <a:schemeClr val="bg1"/>
                </a:solidFill>
                <a:latin typeface="Aptos" panose="020B0004020202020204" pitchFamily="34" charset="0"/>
              </a:rPr>
              <a:t>$1.40 × 1.25M orders = $1.75M</a:t>
            </a:r>
          </a:p>
        </p:txBody>
      </p:sp>
      <p:sp>
        <p:nvSpPr>
          <p:cNvPr id="28" name="TextBox 27">
            <a:extLst>
              <a:ext uri="{FF2B5EF4-FFF2-40B4-BE49-F238E27FC236}">
                <a16:creationId xmlns:a16="http://schemas.microsoft.com/office/drawing/2014/main" id="{D65BAA37-6BCF-F23E-6A42-19CD5C914350}"/>
              </a:ext>
            </a:extLst>
          </p:cNvPr>
          <p:cNvSpPr txBox="1"/>
          <p:nvPr/>
        </p:nvSpPr>
        <p:spPr>
          <a:xfrm>
            <a:off x="1903946" y="6364048"/>
            <a:ext cx="8110839" cy="276999"/>
          </a:xfrm>
          <a:prstGeom prst="rect">
            <a:avLst/>
          </a:prstGeom>
          <a:noFill/>
        </p:spPr>
        <p:txBody>
          <a:bodyPr wrap="square" rtlCol="0">
            <a:spAutoFit/>
          </a:bodyPr>
          <a:lstStyle/>
          <a:p>
            <a:pPr algn="ctr"/>
            <a:r>
              <a:rPr lang="en-US" sz="1200" dirty="0">
                <a:solidFill>
                  <a:schemeClr val="bg1">
                    <a:lumMod val="60000"/>
                    <a:lumOff val="40000"/>
                  </a:schemeClr>
                </a:solidFill>
                <a:latin typeface="Aptos" panose="020B0004020202020204" pitchFamily="34" charset="0"/>
              </a:rPr>
              <a:t>Provided data: delivery cost per order increased from $8.00 to $9.40</a:t>
            </a:r>
          </a:p>
        </p:txBody>
      </p:sp>
      <p:sp>
        <p:nvSpPr>
          <p:cNvPr id="29" name="TextBox 28">
            <a:extLst>
              <a:ext uri="{FF2B5EF4-FFF2-40B4-BE49-F238E27FC236}">
                <a16:creationId xmlns:a16="http://schemas.microsoft.com/office/drawing/2014/main" id="{0DC1CB07-0291-A38D-BAB3-3753995C6D59}"/>
              </a:ext>
            </a:extLst>
          </p:cNvPr>
          <p:cNvSpPr txBox="1"/>
          <p:nvPr/>
        </p:nvSpPr>
        <p:spPr>
          <a:xfrm>
            <a:off x="6166051" y="4435962"/>
            <a:ext cx="5454929" cy="400110"/>
          </a:xfrm>
          <a:prstGeom prst="rect">
            <a:avLst/>
          </a:prstGeom>
          <a:noFill/>
        </p:spPr>
        <p:txBody>
          <a:bodyPr wrap="square" rtlCol="0">
            <a:spAutoFit/>
          </a:bodyPr>
          <a:lstStyle/>
          <a:p>
            <a:r>
              <a:rPr lang="en-US" sz="2000" b="1" dirty="0">
                <a:solidFill>
                  <a:schemeClr val="bg1"/>
                </a:solidFill>
                <a:latin typeface="Aptos" panose="020B0004020202020204" pitchFamily="34" charset="0"/>
              </a:rPr>
              <a:t>This exceeds the revenue-per-order pressure.</a:t>
            </a:r>
          </a:p>
        </p:txBody>
      </p:sp>
      <p:sp>
        <p:nvSpPr>
          <p:cNvPr id="30" name="TextBox 29">
            <a:extLst>
              <a:ext uri="{FF2B5EF4-FFF2-40B4-BE49-F238E27FC236}">
                <a16:creationId xmlns:a16="http://schemas.microsoft.com/office/drawing/2014/main" id="{3F9D8659-AD75-ACAE-E24F-E5DD2BFBBADA}"/>
              </a:ext>
            </a:extLst>
          </p:cNvPr>
          <p:cNvSpPr txBox="1"/>
          <p:nvPr/>
        </p:nvSpPr>
        <p:spPr>
          <a:xfrm>
            <a:off x="6166052" y="4998419"/>
            <a:ext cx="4621213" cy="707886"/>
          </a:xfrm>
          <a:prstGeom prst="rect">
            <a:avLst/>
          </a:prstGeom>
          <a:noFill/>
        </p:spPr>
        <p:txBody>
          <a:bodyPr wrap="square" rtlCol="0">
            <a:spAutoFit/>
          </a:bodyPr>
          <a:lstStyle/>
          <a:p>
            <a:r>
              <a:rPr lang="en-US" sz="2000" b="1" dirty="0">
                <a:solidFill>
                  <a:schemeClr val="bg1"/>
                </a:solidFill>
                <a:latin typeface="Aptos" panose="020B0004020202020204" pitchFamily="34" charset="0"/>
              </a:rPr>
              <a:t>Annual Pressure:</a:t>
            </a:r>
          </a:p>
          <a:p>
            <a:r>
              <a:rPr lang="en-US" sz="2000" b="1" dirty="0">
                <a:solidFill>
                  <a:schemeClr val="bg1"/>
                </a:solidFill>
                <a:latin typeface="Aptos" panose="020B0004020202020204" pitchFamily="34" charset="0"/>
              </a:rPr>
              <a:t>$1.75M</a:t>
            </a:r>
          </a:p>
        </p:txBody>
      </p:sp>
    </p:spTree>
    <p:extLst>
      <p:ext uri="{BB962C8B-B14F-4D97-AF65-F5344CB8AC3E}">
        <p14:creationId xmlns:p14="http://schemas.microsoft.com/office/powerpoint/2010/main" val="8792936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5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3" grpId="0" animBg="1"/>
      <p:bldP spid="24" grpId="0"/>
      <p:bldP spid="25" grpId="0"/>
      <p:bldP spid="27" grpId="0"/>
      <p:bldP spid="28" grpId="0"/>
      <p:bldP spid="29"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D0AA6F98-5345-9AE0-EC50-5E3E014987D0}"/>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ED84DD99-DE9F-5CD1-63D0-374B6FB9439C}"/>
              </a:ext>
            </a:extLst>
          </p:cNvPr>
          <p:cNvSpPr/>
          <p:nvPr/>
        </p:nvSpPr>
        <p:spPr>
          <a:xfrm>
            <a:off x="329158" y="206609"/>
            <a:ext cx="1311321"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CALCULATION 3</a:t>
            </a:r>
          </a:p>
        </p:txBody>
      </p:sp>
      <p:sp>
        <p:nvSpPr>
          <p:cNvPr id="75" name="Rectangle 74">
            <a:extLst>
              <a:ext uri="{FF2B5EF4-FFF2-40B4-BE49-F238E27FC236}">
                <a16:creationId xmlns:a16="http://schemas.microsoft.com/office/drawing/2014/main" id="{EE0CDD5E-9636-8817-7A36-DC3598BF257C}"/>
              </a:ext>
            </a:extLst>
          </p:cNvPr>
          <p:cNvSpPr/>
          <p:nvPr/>
        </p:nvSpPr>
        <p:spPr>
          <a:xfrm>
            <a:off x="329159" y="567893"/>
            <a:ext cx="11291824" cy="384721"/>
          </a:xfrm>
          <a:prstGeom prst="rect">
            <a:avLst/>
          </a:prstGeom>
        </p:spPr>
        <p:txBody>
          <a:bodyPr wrap="square" lIns="0" tIns="0" rIns="0" bIns="0">
            <a:spAutoFit/>
          </a:bodyPr>
          <a:lstStyle/>
          <a:p>
            <a:r>
              <a:rPr lang="en-US" sz="2500" b="1" dirty="0">
                <a:latin typeface="+mj-lt"/>
              </a:rPr>
              <a:t>A $1.33M residual partly absorbed $3.25M of pressure</a:t>
            </a:r>
          </a:p>
        </p:txBody>
      </p:sp>
      <p:sp>
        <p:nvSpPr>
          <p:cNvPr id="28" name="TextBox 27">
            <a:extLst>
              <a:ext uri="{FF2B5EF4-FFF2-40B4-BE49-F238E27FC236}">
                <a16:creationId xmlns:a16="http://schemas.microsoft.com/office/drawing/2014/main" id="{5C2306E6-F8F9-5038-6C22-D60584BE4F92}"/>
              </a:ext>
            </a:extLst>
          </p:cNvPr>
          <p:cNvSpPr txBox="1"/>
          <p:nvPr/>
        </p:nvSpPr>
        <p:spPr>
          <a:xfrm>
            <a:off x="1907230" y="6419792"/>
            <a:ext cx="8110839" cy="276999"/>
          </a:xfrm>
          <a:prstGeom prst="rect">
            <a:avLst/>
          </a:prstGeom>
          <a:noFill/>
        </p:spPr>
        <p:txBody>
          <a:bodyPr wrap="square" rtlCol="0">
            <a:spAutoFit/>
          </a:bodyPr>
          <a:lstStyle/>
          <a:p>
            <a:pPr algn="ctr"/>
            <a:r>
              <a:rPr lang="en-US" sz="1200" dirty="0">
                <a:solidFill>
                  <a:schemeClr val="bg1">
                    <a:lumMod val="60000"/>
                    <a:lumOff val="40000"/>
                  </a:schemeClr>
                </a:solidFill>
                <a:latin typeface="Aptos" panose="020B0004020202020204" pitchFamily="34" charset="0"/>
              </a:rPr>
              <a:t>Residual may include scale leverage or other unobserved effects; it is not causal attribution</a:t>
            </a:r>
          </a:p>
        </p:txBody>
      </p:sp>
      <p:sp>
        <p:nvSpPr>
          <p:cNvPr id="2" name="text">
            <a:extLst>
              <a:ext uri="{FF2B5EF4-FFF2-40B4-BE49-F238E27FC236}">
                <a16:creationId xmlns:a16="http://schemas.microsoft.com/office/drawing/2014/main" id="{3BA1C401-162C-7F81-E169-21070DA0EE74}"/>
              </a:ext>
            </a:extLst>
          </p:cNvPr>
          <p:cNvSpPr>
            <a:spLocks noGrp="1"/>
          </p:cNvSpPr>
          <p:nvPr/>
        </p:nvSpPr>
        <p:spPr>
          <a:xfrm>
            <a:off x="533400" y="2830044"/>
            <a:ext cx="1524000" cy="2057400"/>
          </a:xfrm>
          <a:prstGeom prst="rect">
            <a:avLst/>
          </a:prstGeom>
          <a:solidFill>
            <a:schemeClr val="bg1"/>
          </a:solidFill>
          <a:ln w="9525">
            <a:solidFill>
              <a:srgbClr val="2457A6"/>
            </a:solidFill>
            <a:prstDash val="solid"/>
          </a:ln>
        </p:spPr>
        <p:txBody>
          <a:bodyPr wrap="square" lIns="47625" tIns="47625" rIns="47625" bIns="47625" anchor="ctr">
            <a:normAutofit/>
          </a:bodyPr>
          <a:lstStyle/>
          <a:p>
            <a:pPr algn="ctr">
              <a:buNone/>
              <a:defRPr sz="1050" b="1">
                <a:solidFill>
                  <a:srgbClr val="FFFFFF"/>
                </a:solidFill>
                <a:latin typeface="Arial"/>
                <a:ea typeface="Arial"/>
                <a:cs typeface="Arial"/>
              </a:defRPr>
            </a:pPr>
            <a:r>
              <a:rPr sz="1050" b="1">
                <a:solidFill>
                  <a:srgbClr val="FFFFFF"/>
                </a:solidFill>
                <a:latin typeface="Aptos" panose="020B0004020202020204" pitchFamily="34" charset="0"/>
                <a:ea typeface="Arial"/>
                <a:cs typeface="Arial"/>
              </a:rPr>
              <a:t>Prior profit</a:t>
            </a:r>
          </a:p>
          <a:p>
            <a:pPr algn="ctr">
              <a:buNone/>
              <a:defRPr sz="1050" b="1">
                <a:solidFill>
                  <a:srgbClr val="FFFFFF"/>
                </a:solidFill>
                <a:latin typeface="Arial"/>
                <a:ea typeface="Arial"/>
                <a:cs typeface="Arial"/>
              </a:defRPr>
            </a:pPr>
            <a:r>
              <a:rPr sz="1050" b="1">
                <a:solidFill>
                  <a:srgbClr val="FFFFFF"/>
                </a:solidFill>
                <a:latin typeface="Aptos" panose="020B0004020202020204" pitchFamily="34" charset="0"/>
                <a:ea typeface="Arial"/>
                <a:cs typeface="Arial"/>
              </a:rPr>
              <a:t>$2.40M</a:t>
            </a:r>
          </a:p>
        </p:txBody>
      </p:sp>
      <p:sp>
        <p:nvSpPr>
          <p:cNvPr id="4" name="text">
            <a:extLst>
              <a:ext uri="{FF2B5EF4-FFF2-40B4-BE49-F238E27FC236}">
                <a16:creationId xmlns:a16="http://schemas.microsoft.com/office/drawing/2014/main" id="{E56D1021-A8DC-36D3-7BE8-0008D5E51F5F}"/>
              </a:ext>
            </a:extLst>
          </p:cNvPr>
          <p:cNvSpPr>
            <a:spLocks noGrp="1"/>
          </p:cNvSpPr>
          <p:nvPr/>
        </p:nvSpPr>
        <p:spPr>
          <a:xfrm>
            <a:off x="2343150" y="2315694"/>
            <a:ext cx="1524000" cy="514350"/>
          </a:xfrm>
          <a:prstGeom prst="rect">
            <a:avLst/>
          </a:prstGeom>
          <a:solidFill>
            <a:srgbClr val="00B050"/>
          </a:solidFill>
          <a:ln w="9525">
            <a:solidFill>
              <a:srgbClr val="78A9F5"/>
            </a:solidFill>
            <a:prstDash val="solid"/>
          </a:ln>
        </p:spPr>
        <p:txBody>
          <a:bodyPr wrap="square" lIns="47625" tIns="47625" rIns="47625" bIns="47625" anchor="ctr">
            <a:normAutofit fontScale="92500" lnSpcReduction="10000"/>
          </a:bodyPr>
          <a:lstStyle/>
          <a:p>
            <a:pPr algn="ctr">
              <a:buNone/>
              <a:defRPr sz="1050" b="1">
                <a:solidFill>
                  <a:srgbClr val="10233F"/>
                </a:solidFill>
                <a:latin typeface="Arial"/>
                <a:ea typeface="Arial"/>
                <a:cs typeface="Arial"/>
              </a:defRPr>
            </a:pPr>
            <a:r>
              <a:rPr lang="en-US" sz="1050" b="1" dirty="0">
                <a:solidFill>
                  <a:schemeClr val="bg2">
                    <a:lumMod val="20000"/>
                    <a:lumOff val="80000"/>
                  </a:schemeClr>
                </a:solidFill>
                <a:latin typeface="Aptos" panose="020B0004020202020204" pitchFamily="34" charset="0"/>
                <a:ea typeface="Arial"/>
                <a:cs typeface="Arial"/>
              </a:rPr>
              <a:t>Volume at prior average economics:</a:t>
            </a:r>
            <a:endParaRPr sz="1050" b="1" dirty="0">
              <a:solidFill>
                <a:schemeClr val="bg2">
                  <a:lumMod val="20000"/>
                  <a:lumOff val="80000"/>
                </a:schemeClr>
              </a:solidFill>
              <a:latin typeface="Aptos" panose="020B0004020202020204" pitchFamily="34" charset="0"/>
              <a:ea typeface="Arial"/>
              <a:cs typeface="Arial"/>
            </a:endParaRPr>
          </a:p>
          <a:p>
            <a:pPr algn="ctr">
              <a:buNone/>
              <a:defRPr sz="1050" b="1">
                <a:solidFill>
                  <a:srgbClr val="10233F"/>
                </a:solidFill>
                <a:latin typeface="Arial"/>
                <a:ea typeface="Arial"/>
                <a:cs typeface="Arial"/>
              </a:defRPr>
            </a:pPr>
            <a:r>
              <a:rPr sz="1050" b="1" dirty="0">
                <a:solidFill>
                  <a:schemeClr val="bg2">
                    <a:lumMod val="20000"/>
                    <a:lumOff val="80000"/>
                  </a:schemeClr>
                </a:solidFill>
                <a:latin typeface="Aptos" panose="020B0004020202020204" pitchFamily="34" charset="0"/>
                <a:ea typeface="Arial"/>
                <a:cs typeface="Arial"/>
              </a:rPr>
              <a:t>+$0.60M</a:t>
            </a:r>
          </a:p>
        </p:txBody>
      </p:sp>
      <p:sp>
        <p:nvSpPr>
          <p:cNvPr id="5" name="text">
            <a:extLst>
              <a:ext uri="{FF2B5EF4-FFF2-40B4-BE49-F238E27FC236}">
                <a16:creationId xmlns:a16="http://schemas.microsoft.com/office/drawing/2014/main" id="{D23DA9A0-DF99-5DF2-C44D-C6979C5AF512}"/>
              </a:ext>
            </a:extLst>
          </p:cNvPr>
          <p:cNvSpPr>
            <a:spLocks noGrp="1"/>
          </p:cNvSpPr>
          <p:nvPr/>
        </p:nvSpPr>
        <p:spPr>
          <a:xfrm>
            <a:off x="4152900" y="2315694"/>
            <a:ext cx="1524000" cy="1285875"/>
          </a:xfrm>
          <a:prstGeom prst="rect">
            <a:avLst/>
          </a:prstGeom>
          <a:solidFill>
            <a:srgbClr val="C00000"/>
          </a:solidFill>
          <a:ln w="9525">
            <a:solidFill>
              <a:srgbClr val="E85B56"/>
            </a:solidFill>
            <a:prstDash val="solid"/>
          </a:ln>
        </p:spPr>
        <p:txBody>
          <a:bodyPr wrap="square" lIns="47625" tIns="47625" rIns="47625" bIns="47625" anchor="ctr">
            <a:normAutofit/>
          </a:bodyPr>
          <a:lstStyle/>
          <a:p>
            <a:pPr algn="ctr">
              <a:buNone/>
              <a:defRPr sz="1050" b="1">
                <a:solidFill>
                  <a:srgbClr val="FFFFFF"/>
                </a:solidFill>
                <a:latin typeface="Arial"/>
                <a:ea typeface="Arial"/>
                <a:cs typeface="Arial"/>
              </a:defRPr>
            </a:pPr>
            <a:r>
              <a:rPr sz="1050" b="1" dirty="0">
                <a:solidFill>
                  <a:schemeClr val="bg2">
                    <a:lumMod val="20000"/>
                    <a:lumOff val="80000"/>
                  </a:schemeClr>
                </a:solidFill>
                <a:latin typeface="Aptos" panose="020B0004020202020204" pitchFamily="34" charset="0"/>
                <a:ea typeface="Arial"/>
                <a:cs typeface="Arial"/>
              </a:rPr>
              <a:t>Revenue / order</a:t>
            </a:r>
          </a:p>
          <a:p>
            <a:pPr algn="ctr">
              <a:buNone/>
              <a:defRPr sz="1050" b="1">
                <a:solidFill>
                  <a:srgbClr val="FFFFFF"/>
                </a:solidFill>
                <a:latin typeface="Arial"/>
                <a:ea typeface="Arial"/>
                <a:cs typeface="Arial"/>
              </a:defRPr>
            </a:pPr>
            <a:r>
              <a:rPr lang="en-US" sz="1050" b="1" dirty="0">
                <a:solidFill>
                  <a:schemeClr val="bg2">
                    <a:lumMod val="20000"/>
                    <a:lumOff val="80000"/>
                  </a:schemeClr>
                </a:solidFill>
                <a:latin typeface="Aptos" panose="020B0004020202020204" pitchFamily="34" charset="0"/>
                <a:ea typeface="Arial"/>
                <a:cs typeface="Arial"/>
              </a:rPr>
              <a:t>-</a:t>
            </a:r>
            <a:r>
              <a:rPr sz="1050" b="1" dirty="0">
                <a:solidFill>
                  <a:schemeClr val="bg2">
                    <a:lumMod val="20000"/>
                    <a:lumOff val="80000"/>
                  </a:schemeClr>
                </a:solidFill>
                <a:latin typeface="Aptos" panose="020B0004020202020204" pitchFamily="34" charset="0"/>
                <a:ea typeface="Arial"/>
                <a:cs typeface="Arial"/>
              </a:rPr>
              <a:t>$1.50M</a:t>
            </a:r>
          </a:p>
        </p:txBody>
      </p:sp>
      <p:sp>
        <p:nvSpPr>
          <p:cNvPr id="6" name="text">
            <a:extLst>
              <a:ext uri="{FF2B5EF4-FFF2-40B4-BE49-F238E27FC236}">
                <a16:creationId xmlns:a16="http://schemas.microsoft.com/office/drawing/2014/main" id="{2E03C5E4-189F-5CDD-A4BF-BF6F279A3B66}"/>
              </a:ext>
            </a:extLst>
          </p:cNvPr>
          <p:cNvSpPr>
            <a:spLocks noGrp="1"/>
          </p:cNvSpPr>
          <p:nvPr/>
        </p:nvSpPr>
        <p:spPr>
          <a:xfrm>
            <a:off x="5962650" y="3601569"/>
            <a:ext cx="1524000" cy="1504950"/>
          </a:xfrm>
          <a:prstGeom prst="rect">
            <a:avLst/>
          </a:prstGeom>
          <a:solidFill>
            <a:srgbClr val="C00000"/>
          </a:solidFill>
          <a:ln w="9525">
            <a:solidFill>
              <a:srgbClr val="C9423D"/>
            </a:solidFill>
            <a:prstDash val="solid"/>
          </a:ln>
        </p:spPr>
        <p:txBody>
          <a:bodyPr wrap="square" lIns="47625" tIns="47625" rIns="47625" bIns="47625" anchor="ctr">
            <a:normAutofit/>
          </a:bodyPr>
          <a:lstStyle/>
          <a:p>
            <a:pPr algn="ctr">
              <a:buNone/>
              <a:defRPr sz="1050" b="1">
                <a:solidFill>
                  <a:srgbClr val="FFFFFF"/>
                </a:solidFill>
                <a:latin typeface="Arial"/>
                <a:ea typeface="Arial"/>
                <a:cs typeface="Arial"/>
              </a:defRPr>
            </a:pPr>
            <a:r>
              <a:rPr sz="1050" b="1" dirty="0">
                <a:solidFill>
                  <a:schemeClr val="bg2">
                    <a:lumMod val="20000"/>
                    <a:lumOff val="80000"/>
                  </a:schemeClr>
                </a:solidFill>
                <a:latin typeface="Aptos" panose="020B0004020202020204" pitchFamily="34" charset="0"/>
                <a:ea typeface="Arial"/>
                <a:cs typeface="Arial"/>
              </a:rPr>
              <a:t>Delivery cost / order</a:t>
            </a:r>
          </a:p>
          <a:p>
            <a:pPr algn="ctr">
              <a:buNone/>
              <a:defRPr sz="1050" b="1">
                <a:solidFill>
                  <a:srgbClr val="FFFFFF"/>
                </a:solidFill>
                <a:latin typeface="Arial"/>
                <a:ea typeface="Arial"/>
                <a:cs typeface="Arial"/>
              </a:defRPr>
            </a:pPr>
            <a:r>
              <a:rPr lang="en-US" sz="1050" b="1" dirty="0">
                <a:solidFill>
                  <a:schemeClr val="bg2">
                    <a:lumMod val="20000"/>
                    <a:lumOff val="80000"/>
                  </a:schemeClr>
                </a:solidFill>
                <a:latin typeface="Aptos" panose="020B0004020202020204" pitchFamily="34" charset="0"/>
                <a:ea typeface="Arial"/>
                <a:cs typeface="Arial"/>
              </a:rPr>
              <a:t>-</a:t>
            </a:r>
            <a:r>
              <a:rPr sz="1050" b="1" dirty="0">
                <a:solidFill>
                  <a:schemeClr val="bg2">
                    <a:lumMod val="20000"/>
                    <a:lumOff val="80000"/>
                  </a:schemeClr>
                </a:solidFill>
                <a:latin typeface="Aptos" panose="020B0004020202020204" pitchFamily="34" charset="0"/>
                <a:ea typeface="Arial"/>
                <a:cs typeface="Arial"/>
              </a:rPr>
              <a:t>$1.75M</a:t>
            </a:r>
          </a:p>
        </p:txBody>
      </p:sp>
      <p:sp>
        <p:nvSpPr>
          <p:cNvPr id="7" name="text">
            <a:extLst>
              <a:ext uri="{FF2B5EF4-FFF2-40B4-BE49-F238E27FC236}">
                <a16:creationId xmlns:a16="http://schemas.microsoft.com/office/drawing/2014/main" id="{84DE5BE9-029A-B248-397E-F0170774E716}"/>
              </a:ext>
            </a:extLst>
          </p:cNvPr>
          <p:cNvSpPr>
            <a:spLocks noGrp="1"/>
          </p:cNvSpPr>
          <p:nvPr/>
        </p:nvSpPr>
        <p:spPr>
          <a:xfrm>
            <a:off x="329158" y="1349621"/>
            <a:ext cx="11049000" cy="266700"/>
          </a:xfrm>
          <a:prstGeom prst="rect">
            <a:avLst/>
          </a:prstGeom>
          <a:noFill/>
          <a:ln w="0">
            <a:noFill/>
            <a:prstDash val="solid"/>
          </a:ln>
        </p:spPr>
        <p:txBody>
          <a:bodyPr anchor="ctr">
            <a:normAutofit fontScale="95833"/>
          </a:bodyPr>
          <a:lstStyle/>
          <a:p>
            <a:pPr algn="l">
              <a:buNone/>
              <a:defRPr sz="1200" b="1">
                <a:solidFill>
                  <a:srgbClr val="2E7CF6"/>
                </a:solidFill>
                <a:latin typeface="Arial"/>
                <a:ea typeface="Arial"/>
                <a:cs typeface="Arial"/>
              </a:defRPr>
            </a:pPr>
            <a:r>
              <a:rPr sz="1200" b="1" dirty="0">
                <a:solidFill>
                  <a:schemeClr val="bg1"/>
                </a:solidFill>
                <a:latin typeface="Aptos" panose="020B0004020202020204" pitchFamily="34" charset="0"/>
                <a:ea typeface="Arial"/>
                <a:cs typeface="Arial"/>
              </a:rPr>
              <a:t>Current-volume operating-profit bridge ($M)</a:t>
            </a:r>
          </a:p>
        </p:txBody>
      </p:sp>
      <p:cxnSp>
        <p:nvCxnSpPr>
          <p:cNvPr id="8" name="Straight Arrow Connector 7">
            <a:extLst>
              <a:ext uri="{FF2B5EF4-FFF2-40B4-BE49-F238E27FC236}">
                <a16:creationId xmlns:a16="http://schemas.microsoft.com/office/drawing/2014/main" id="{5A81A879-EF4E-B986-B847-27F1D6B1C6A4}"/>
              </a:ext>
            </a:extLst>
          </p:cNvPr>
          <p:cNvCxnSpPr/>
          <p:nvPr/>
        </p:nvCxnSpPr>
        <p:spPr>
          <a:xfrm>
            <a:off x="533400" y="4887444"/>
            <a:ext cx="10572750" cy="0"/>
          </a:xfrm>
          <a:prstGeom prst="straightConnector1">
            <a:avLst/>
          </a:prstGeom>
          <a:ln w="9525">
            <a:solidFill>
              <a:srgbClr val="A7AFBA"/>
            </a:solidFill>
            <a:prstDash val="solid"/>
          </a:ln>
        </p:spPr>
      </p:cxnSp>
      <p:sp>
        <p:nvSpPr>
          <p:cNvPr id="9" name="text">
            <a:extLst>
              <a:ext uri="{FF2B5EF4-FFF2-40B4-BE49-F238E27FC236}">
                <a16:creationId xmlns:a16="http://schemas.microsoft.com/office/drawing/2014/main" id="{B685ACB6-0542-E77A-C88A-492E4DC449C7}"/>
              </a:ext>
            </a:extLst>
          </p:cNvPr>
          <p:cNvSpPr>
            <a:spLocks noGrp="1"/>
          </p:cNvSpPr>
          <p:nvPr/>
        </p:nvSpPr>
        <p:spPr>
          <a:xfrm>
            <a:off x="7772400" y="3963519"/>
            <a:ext cx="1524000" cy="1143000"/>
          </a:xfrm>
          <a:prstGeom prst="rect">
            <a:avLst/>
          </a:prstGeom>
          <a:solidFill>
            <a:srgbClr val="00B050"/>
          </a:solidFill>
          <a:ln w="9525">
            <a:solidFill>
              <a:srgbClr val="9CC4FF"/>
            </a:solidFill>
            <a:prstDash val="solid"/>
          </a:ln>
        </p:spPr>
        <p:txBody>
          <a:bodyPr wrap="square" lIns="47625" tIns="47625" rIns="47625" bIns="47625" anchor="ctr">
            <a:normAutofit/>
          </a:bodyPr>
          <a:lstStyle/>
          <a:p>
            <a:pPr algn="ctr">
              <a:buNone/>
              <a:defRPr sz="1050" b="1">
                <a:solidFill>
                  <a:srgbClr val="10233F"/>
                </a:solidFill>
                <a:latin typeface="Arial"/>
                <a:ea typeface="Arial"/>
                <a:cs typeface="Arial"/>
              </a:defRPr>
            </a:pPr>
            <a:r>
              <a:rPr sz="1050" b="1" dirty="0">
                <a:solidFill>
                  <a:schemeClr val="bg2">
                    <a:lumMod val="20000"/>
                    <a:lumOff val="80000"/>
                  </a:schemeClr>
                </a:solidFill>
                <a:latin typeface="Aptos" panose="020B0004020202020204" pitchFamily="34" charset="0"/>
                <a:ea typeface="Arial"/>
                <a:cs typeface="Arial"/>
              </a:rPr>
              <a:t>Residual</a:t>
            </a:r>
          </a:p>
          <a:p>
            <a:pPr algn="ctr">
              <a:buNone/>
              <a:defRPr sz="1050" b="1">
                <a:solidFill>
                  <a:srgbClr val="10233F"/>
                </a:solidFill>
                <a:latin typeface="Arial"/>
                <a:ea typeface="Arial"/>
                <a:cs typeface="Arial"/>
              </a:defRPr>
            </a:pPr>
            <a:r>
              <a:rPr sz="1050" b="1" dirty="0">
                <a:solidFill>
                  <a:schemeClr val="bg2">
                    <a:lumMod val="20000"/>
                    <a:lumOff val="80000"/>
                  </a:schemeClr>
                </a:solidFill>
                <a:latin typeface="Aptos" panose="020B0004020202020204" pitchFamily="34" charset="0"/>
                <a:ea typeface="Arial"/>
                <a:cs typeface="Arial"/>
              </a:rPr>
              <a:t>+$1.33M</a:t>
            </a:r>
          </a:p>
        </p:txBody>
      </p:sp>
      <p:sp>
        <p:nvSpPr>
          <p:cNvPr id="11" name="text">
            <a:extLst>
              <a:ext uri="{FF2B5EF4-FFF2-40B4-BE49-F238E27FC236}">
                <a16:creationId xmlns:a16="http://schemas.microsoft.com/office/drawing/2014/main" id="{D49E63B3-6385-5C8F-C1C2-B7B92DB4DC14}"/>
              </a:ext>
            </a:extLst>
          </p:cNvPr>
          <p:cNvSpPr>
            <a:spLocks noGrp="1"/>
          </p:cNvSpPr>
          <p:nvPr/>
        </p:nvSpPr>
        <p:spPr>
          <a:xfrm>
            <a:off x="9582150" y="3963519"/>
            <a:ext cx="1524000" cy="923925"/>
          </a:xfrm>
          <a:prstGeom prst="rect">
            <a:avLst/>
          </a:prstGeom>
          <a:solidFill>
            <a:schemeClr val="bg1"/>
          </a:solidFill>
          <a:ln w="9525">
            <a:solidFill>
              <a:schemeClr val="tx1"/>
            </a:solidFill>
            <a:prstDash val="solid"/>
          </a:ln>
        </p:spPr>
        <p:txBody>
          <a:bodyPr wrap="square" lIns="47625" tIns="47625" rIns="47625" bIns="47625" anchor="ctr">
            <a:normAutofit/>
          </a:bodyPr>
          <a:lstStyle/>
          <a:p>
            <a:pPr algn="ctr">
              <a:buNone/>
              <a:defRPr sz="1050" b="1">
                <a:solidFill>
                  <a:srgbClr val="FFFFFF"/>
                </a:solidFill>
                <a:latin typeface="Arial"/>
                <a:ea typeface="Arial"/>
                <a:cs typeface="Arial"/>
              </a:defRPr>
            </a:pPr>
            <a:r>
              <a:rPr sz="1050" b="1">
                <a:solidFill>
                  <a:srgbClr val="FFFFFF"/>
                </a:solidFill>
                <a:latin typeface="Aptos" panose="020B0004020202020204" pitchFamily="34" charset="0"/>
                <a:ea typeface="Arial"/>
                <a:cs typeface="Arial"/>
              </a:rPr>
              <a:t>Current profit</a:t>
            </a:r>
          </a:p>
          <a:p>
            <a:pPr algn="ctr">
              <a:buNone/>
              <a:defRPr sz="1050" b="1">
                <a:solidFill>
                  <a:srgbClr val="FFFFFF"/>
                </a:solidFill>
                <a:latin typeface="Arial"/>
                <a:ea typeface="Arial"/>
                <a:cs typeface="Arial"/>
              </a:defRPr>
            </a:pPr>
            <a:r>
              <a:rPr sz="1050" b="1">
                <a:solidFill>
                  <a:srgbClr val="FFFFFF"/>
                </a:solidFill>
                <a:latin typeface="Aptos" panose="020B0004020202020204" pitchFamily="34" charset="0"/>
                <a:ea typeface="Arial"/>
                <a:cs typeface="Arial"/>
              </a:rPr>
              <a:t>$1.08M</a:t>
            </a:r>
          </a:p>
        </p:txBody>
      </p:sp>
      <p:sp>
        <p:nvSpPr>
          <p:cNvPr id="12" name="text">
            <a:extLst>
              <a:ext uri="{FF2B5EF4-FFF2-40B4-BE49-F238E27FC236}">
                <a16:creationId xmlns:a16="http://schemas.microsoft.com/office/drawing/2014/main" id="{6DA45308-F696-36E0-824D-2370F5E552C3}"/>
              </a:ext>
            </a:extLst>
          </p:cNvPr>
          <p:cNvSpPr>
            <a:spLocks noGrp="1"/>
          </p:cNvSpPr>
          <p:nvPr/>
        </p:nvSpPr>
        <p:spPr>
          <a:xfrm>
            <a:off x="7620000" y="5220762"/>
            <a:ext cx="3638550" cy="228600"/>
          </a:xfrm>
          <a:prstGeom prst="rect">
            <a:avLst/>
          </a:prstGeom>
          <a:noFill/>
          <a:ln w="0">
            <a:noFill/>
            <a:prstDash val="solid"/>
          </a:ln>
        </p:spPr>
        <p:txBody>
          <a:bodyPr anchor="ctr">
            <a:normAutofit/>
          </a:bodyPr>
          <a:lstStyle/>
          <a:p>
            <a:pPr algn="ctr">
              <a:buNone/>
              <a:defRPr sz="900" b="1">
                <a:solidFill>
                  <a:srgbClr val="C9423D"/>
                </a:solidFill>
                <a:latin typeface="Arial"/>
                <a:ea typeface="Arial"/>
                <a:cs typeface="Arial"/>
              </a:defRPr>
            </a:pPr>
            <a:r>
              <a:rPr sz="900" b="1" dirty="0">
                <a:solidFill>
                  <a:srgbClr val="C9423D"/>
                </a:solidFill>
                <a:latin typeface="Aptos" panose="020B0004020202020204" pitchFamily="34" charset="0"/>
                <a:ea typeface="Arial"/>
                <a:cs typeface="Arial"/>
              </a:rPr>
              <a:t>Residual offset</a:t>
            </a:r>
            <a:r>
              <a:rPr lang="en-US" sz="900" b="1" dirty="0">
                <a:solidFill>
                  <a:srgbClr val="C9423D"/>
                </a:solidFill>
                <a:latin typeface="Aptos" panose="020B0004020202020204" pitchFamily="34" charset="0"/>
                <a:ea typeface="Arial"/>
                <a:cs typeface="Arial"/>
              </a:rPr>
              <a:t> - </a:t>
            </a:r>
            <a:r>
              <a:rPr sz="900" b="1" dirty="0">
                <a:solidFill>
                  <a:srgbClr val="C9423D"/>
                </a:solidFill>
                <a:latin typeface="Aptos" panose="020B0004020202020204" pitchFamily="34" charset="0"/>
                <a:ea typeface="Arial"/>
                <a:cs typeface="Arial"/>
              </a:rPr>
              <a:t>not observable in exhibit</a:t>
            </a:r>
          </a:p>
        </p:txBody>
      </p:sp>
      <p:sp>
        <p:nvSpPr>
          <p:cNvPr id="13" name="text">
            <a:extLst>
              <a:ext uri="{FF2B5EF4-FFF2-40B4-BE49-F238E27FC236}">
                <a16:creationId xmlns:a16="http://schemas.microsoft.com/office/drawing/2014/main" id="{77B977C0-4913-58BB-7789-969B4AEDEE96}"/>
              </a:ext>
            </a:extLst>
          </p:cNvPr>
          <p:cNvSpPr>
            <a:spLocks noGrp="1"/>
          </p:cNvSpPr>
          <p:nvPr/>
        </p:nvSpPr>
        <p:spPr>
          <a:xfrm>
            <a:off x="329158" y="5619750"/>
            <a:ext cx="2095500" cy="209550"/>
          </a:xfrm>
          <a:prstGeom prst="rect">
            <a:avLst/>
          </a:prstGeom>
          <a:noFill/>
          <a:ln w="0">
            <a:noFill/>
            <a:prstDash val="solid"/>
          </a:ln>
        </p:spPr>
        <p:txBody>
          <a:bodyPr anchor="ctr">
            <a:noAutofit/>
          </a:bodyPr>
          <a:lstStyle/>
          <a:p>
            <a:pPr algn="l">
              <a:buNone/>
              <a:defRPr sz="900" b="1">
                <a:solidFill>
                  <a:srgbClr val="2E7CF6"/>
                </a:solidFill>
                <a:latin typeface="Arial"/>
                <a:ea typeface="Arial"/>
                <a:cs typeface="Arial"/>
              </a:defRPr>
            </a:pPr>
            <a:r>
              <a:rPr sz="1000" b="1" dirty="0">
                <a:solidFill>
                  <a:schemeClr val="bg1"/>
                </a:solidFill>
                <a:latin typeface="Aptos" panose="020B0004020202020204" pitchFamily="34" charset="0"/>
                <a:ea typeface="Arial"/>
                <a:cs typeface="Arial"/>
              </a:rPr>
              <a:t>Arithmetic reconciliation</a:t>
            </a:r>
          </a:p>
        </p:txBody>
      </p:sp>
      <p:sp>
        <p:nvSpPr>
          <p:cNvPr id="14" name="text">
            <a:extLst>
              <a:ext uri="{FF2B5EF4-FFF2-40B4-BE49-F238E27FC236}">
                <a16:creationId xmlns:a16="http://schemas.microsoft.com/office/drawing/2014/main" id="{33F1DE7E-6201-32F5-7CEB-43C1871BDA83}"/>
              </a:ext>
            </a:extLst>
          </p:cNvPr>
          <p:cNvSpPr>
            <a:spLocks noGrp="1"/>
          </p:cNvSpPr>
          <p:nvPr/>
        </p:nvSpPr>
        <p:spPr>
          <a:xfrm>
            <a:off x="329158" y="5829300"/>
            <a:ext cx="3959063" cy="257175"/>
          </a:xfrm>
          <a:prstGeom prst="rect">
            <a:avLst/>
          </a:prstGeom>
          <a:noFill/>
          <a:ln w="0">
            <a:noFill/>
            <a:prstDash val="solid"/>
          </a:ln>
        </p:spPr>
        <p:txBody>
          <a:bodyPr anchor="ctr">
            <a:noAutofit/>
          </a:bodyPr>
          <a:lstStyle/>
          <a:p>
            <a:pPr algn="l">
              <a:buNone/>
              <a:defRPr sz="1125" b="1">
                <a:solidFill>
                  <a:srgbClr val="111111"/>
                </a:solidFill>
                <a:latin typeface="Arial"/>
                <a:ea typeface="Arial"/>
                <a:cs typeface="Arial"/>
              </a:defRPr>
            </a:pPr>
            <a:r>
              <a:rPr sz="1200" b="1" dirty="0">
                <a:solidFill>
                  <a:schemeClr val="bg1"/>
                </a:solidFill>
                <a:latin typeface="Aptos" panose="020B0004020202020204" pitchFamily="34" charset="0"/>
                <a:ea typeface="Arial"/>
                <a:cs typeface="Arial"/>
              </a:rPr>
              <a:t>$2.40M + $0.60M </a:t>
            </a:r>
            <a:r>
              <a:rPr lang="en-US" sz="1200" b="1" dirty="0">
                <a:solidFill>
                  <a:schemeClr val="bg1"/>
                </a:solidFill>
                <a:latin typeface="Aptos" panose="020B0004020202020204" pitchFamily="34" charset="0"/>
                <a:ea typeface="Arial"/>
                <a:cs typeface="Arial"/>
              </a:rPr>
              <a:t>-</a:t>
            </a:r>
            <a:r>
              <a:rPr sz="1200" b="1" dirty="0">
                <a:solidFill>
                  <a:schemeClr val="bg1"/>
                </a:solidFill>
                <a:latin typeface="Aptos" panose="020B0004020202020204" pitchFamily="34" charset="0"/>
                <a:ea typeface="Arial"/>
                <a:cs typeface="Arial"/>
              </a:rPr>
              <a:t> $1.50M </a:t>
            </a:r>
            <a:r>
              <a:rPr lang="en-US" sz="1200" b="1" dirty="0">
                <a:solidFill>
                  <a:schemeClr val="bg1"/>
                </a:solidFill>
                <a:latin typeface="Aptos" panose="020B0004020202020204" pitchFamily="34" charset="0"/>
                <a:ea typeface="Arial"/>
                <a:cs typeface="Arial"/>
              </a:rPr>
              <a:t>-</a:t>
            </a:r>
            <a:r>
              <a:rPr sz="1200" b="1" dirty="0">
                <a:solidFill>
                  <a:schemeClr val="bg1"/>
                </a:solidFill>
                <a:latin typeface="Aptos" panose="020B0004020202020204" pitchFamily="34" charset="0"/>
                <a:ea typeface="Arial"/>
                <a:cs typeface="Arial"/>
              </a:rPr>
              <a:t> $1.75M + $1.33M = $1.08M</a:t>
            </a:r>
          </a:p>
        </p:txBody>
      </p:sp>
      <p:cxnSp>
        <p:nvCxnSpPr>
          <p:cNvPr id="16" name="Straight Connector 15">
            <a:extLst>
              <a:ext uri="{FF2B5EF4-FFF2-40B4-BE49-F238E27FC236}">
                <a16:creationId xmlns:a16="http://schemas.microsoft.com/office/drawing/2014/main" id="{AC612C3C-7844-EB3D-469F-401150212B4F}"/>
              </a:ext>
            </a:extLst>
          </p:cNvPr>
          <p:cNvCxnSpPr/>
          <p:nvPr/>
        </p:nvCxnSpPr>
        <p:spPr>
          <a:xfrm>
            <a:off x="2057400" y="2830044"/>
            <a:ext cx="285750"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EF373D89-DB48-FEA1-E238-0B78DFA86104}"/>
              </a:ext>
            </a:extLst>
          </p:cNvPr>
          <p:cNvCxnSpPr>
            <a:cxnSpLocks/>
          </p:cNvCxnSpPr>
          <p:nvPr/>
        </p:nvCxnSpPr>
        <p:spPr>
          <a:xfrm>
            <a:off x="5676900" y="3601569"/>
            <a:ext cx="285750"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1E76102F-30C9-13C1-CA2D-0A166BA15FF3}"/>
              </a:ext>
            </a:extLst>
          </p:cNvPr>
          <p:cNvCxnSpPr/>
          <p:nvPr/>
        </p:nvCxnSpPr>
        <p:spPr>
          <a:xfrm>
            <a:off x="3867150" y="2315694"/>
            <a:ext cx="285750"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674AE9B-FAF4-72BB-CD67-DF347550DBD4}"/>
              </a:ext>
            </a:extLst>
          </p:cNvPr>
          <p:cNvCxnSpPr>
            <a:cxnSpLocks/>
          </p:cNvCxnSpPr>
          <p:nvPr/>
        </p:nvCxnSpPr>
        <p:spPr>
          <a:xfrm>
            <a:off x="7486650" y="5106519"/>
            <a:ext cx="285750"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1227C16B-17B3-3EB1-E56A-27A2DF5CFCD2}"/>
              </a:ext>
            </a:extLst>
          </p:cNvPr>
          <p:cNvCxnSpPr>
            <a:cxnSpLocks/>
          </p:cNvCxnSpPr>
          <p:nvPr/>
        </p:nvCxnSpPr>
        <p:spPr>
          <a:xfrm>
            <a:off x="9296400" y="3963519"/>
            <a:ext cx="285750"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8594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par>
                                <p:cTn id="40" presetID="10" presetClass="entr" presetSubtype="0"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par>
                                <p:cTn id="43" presetID="10"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500"/>
                                        <p:tgtEl>
                                          <p:spTgt spid="39"/>
                                        </p:tgtEl>
                                      </p:cBhvr>
                                    </p:animEffect>
                                  </p:childTnLst>
                                </p:cTn>
                              </p:par>
                              <p:par>
                                <p:cTn id="46" presetID="10" presetClass="entr" presetSubtype="0" fill="hold" nodeType="with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fade">
                                      <p:cBhvr>
                                        <p:cTn id="48" dur="500"/>
                                        <p:tgtEl>
                                          <p:spTgt spid="4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 grpId="0" animBg="1"/>
      <p:bldP spid="4" grpId="0" animBg="1"/>
      <p:bldP spid="5" grpId="0" animBg="1"/>
      <p:bldP spid="6" grpId="0" animBg="1"/>
      <p:bldP spid="7" grpId="0"/>
      <p:bldP spid="9" grpId="0" animBg="1"/>
      <p:bldP spid="11" grpId="0" animBg="1"/>
      <p:bldP spid="12" grpId="0"/>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83C9AA0A-DFC8-A2CC-3B69-BC09C3B854AD}"/>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8E27E91E-D02B-683B-40CE-79439F21DD48}"/>
              </a:ext>
            </a:extLst>
          </p:cNvPr>
          <p:cNvSpPr/>
          <p:nvPr/>
        </p:nvSpPr>
        <p:spPr>
          <a:xfrm>
            <a:off x="329158" y="206609"/>
            <a:ext cx="1311321"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CALCULATION 4</a:t>
            </a:r>
          </a:p>
        </p:txBody>
      </p:sp>
      <p:sp>
        <p:nvSpPr>
          <p:cNvPr id="75" name="Rectangle 74">
            <a:extLst>
              <a:ext uri="{FF2B5EF4-FFF2-40B4-BE49-F238E27FC236}">
                <a16:creationId xmlns:a16="http://schemas.microsoft.com/office/drawing/2014/main" id="{D16F491A-0295-2EAD-D3D3-93A29C201E18}"/>
              </a:ext>
            </a:extLst>
          </p:cNvPr>
          <p:cNvSpPr/>
          <p:nvPr/>
        </p:nvSpPr>
        <p:spPr>
          <a:xfrm>
            <a:off x="329159" y="567893"/>
            <a:ext cx="11291824" cy="384721"/>
          </a:xfrm>
          <a:prstGeom prst="rect">
            <a:avLst/>
          </a:prstGeom>
        </p:spPr>
        <p:txBody>
          <a:bodyPr wrap="square" lIns="0" tIns="0" rIns="0" bIns="0">
            <a:spAutoFit/>
          </a:bodyPr>
          <a:lstStyle/>
          <a:p>
            <a:r>
              <a:rPr lang="en-US" sz="2500" b="1" dirty="0">
                <a:latin typeface="+mj-lt"/>
              </a:rPr>
              <a:t>An illustrative 8% target requires $1.80M</a:t>
            </a:r>
          </a:p>
        </p:txBody>
      </p:sp>
      <p:cxnSp>
        <p:nvCxnSpPr>
          <p:cNvPr id="3" name="Straight Connector 2">
            <a:extLst>
              <a:ext uri="{FF2B5EF4-FFF2-40B4-BE49-F238E27FC236}">
                <a16:creationId xmlns:a16="http://schemas.microsoft.com/office/drawing/2014/main" id="{C54A2508-73C5-6239-47FA-8827D782AEDE}"/>
              </a:ext>
            </a:extLst>
          </p:cNvPr>
          <p:cNvCxnSpPr>
            <a:cxnSpLocks/>
          </p:cNvCxnSpPr>
          <p:nvPr/>
        </p:nvCxnSpPr>
        <p:spPr>
          <a:xfrm>
            <a:off x="5959366" y="1227165"/>
            <a:ext cx="0" cy="487680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37F91B5-CF19-450B-05FC-B65138AE7778}"/>
              </a:ext>
            </a:extLst>
          </p:cNvPr>
          <p:cNvCxnSpPr>
            <a:cxnSpLocks/>
          </p:cNvCxnSpPr>
          <p:nvPr/>
        </p:nvCxnSpPr>
        <p:spPr>
          <a:xfrm flipH="1">
            <a:off x="430924" y="3647171"/>
            <a:ext cx="11330152" cy="0"/>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1CC56901-9C56-495E-7DC6-0D8A9BBFE2A4}"/>
              </a:ext>
            </a:extLst>
          </p:cNvPr>
          <p:cNvSpPr txBox="1"/>
          <p:nvPr/>
        </p:nvSpPr>
        <p:spPr>
          <a:xfrm>
            <a:off x="430931" y="1249484"/>
            <a:ext cx="4284873"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1. Calculated target operating profit</a:t>
            </a:r>
            <a:endParaRPr lang="en-US" b="1" dirty="0">
              <a:solidFill>
                <a:schemeClr val="bg1"/>
              </a:solidFill>
              <a:latin typeface="Aptos" panose="020B0004020202020204" pitchFamily="34" charset="0"/>
            </a:endParaRPr>
          </a:p>
        </p:txBody>
      </p:sp>
      <p:sp>
        <p:nvSpPr>
          <p:cNvPr id="20" name="TextBox 19">
            <a:extLst>
              <a:ext uri="{FF2B5EF4-FFF2-40B4-BE49-F238E27FC236}">
                <a16:creationId xmlns:a16="http://schemas.microsoft.com/office/drawing/2014/main" id="{F65B41E7-91FC-D8E3-171E-F140F60FC21B}"/>
              </a:ext>
            </a:extLst>
          </p:cNvPr>
          <p:cNvSpPr txBox="1"/>
          <p:nvPr/>
        </p:nvSpPr>
        <p:spPr>
          <a:xfrm>
            <a:off x="430924" y="3810007"/>
            <a:ext cx="4284880"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2. Sized the annual recovery required</a:t>
            </a:r>
            <a:endParaRPr lang="en-US" b="1" dirty="0">
              <a:solidFill>
                <a:schemeClr val="bg1"/>
              </a:solidFill>
              <a:latin typeface="Aptos" panose="020B0004020202020204" pitchFamily="34" charset="0"/>
            </a:endParaRPr>
          </a:p>
        </p:txBody>
      </p:sp>
      <p:sp>
        <p:nvSpPr>
          <p:cNvPr id="22" name="TextBox 21">
            <a:extLst>
              <a:ext uri="{FF2B5EF4-FFF2-40B4-BE49-F238E27FC236}">
                <a16:creationId xmlns:a16="http://schemas.microsoft.com/office/drawing/2014/main" id="{9DA44490-3F70-8EFE-FDDE-AE6F658C202F}"/>
              </a:ext>
            </a:extLst>
          </p:cNvPr>
          <p:cNvSpPr txBox="1"/>
          <p:nvPr/>
        </p:nvSpPr>
        <p:spPr>
          <a:xfrm>
            <a:off x="6232634" y="1249484"/>
            <a:ext cx="4554627"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3. Spread the recovery across all orders</a:t>
            </a:r>
            <a:endParaRPr lang="en-US" b="1" dirty="0">
              <a:solidFill>
                <a:schemeClr val="bg1"/>
              </a:solidFill>
              <a:latin typeface="Aptos" panose="020B0004020202020204" pitchFamily="34" charset="0"/>
            </a:endParaRPr>
          </a:p>
        </p:txBody>
      </p:sp>
      <p:sp>
        <p:nvSpPr>
          <p:cNvPr id="23" name="TextBox 22">
            <a:extLst>
              <a:ext uri="{FF2B5EF4-FFF2-40B4-BE49-F238E27FC236}">
                <a16:creationId xmlns:a16="http://schemas.microsoft.com/office/drawing/2014/main" id="{230117CA-760D-F672-FD73-A323A0D29DA0}"/>
              </a:ext>
            </a:extLst>
          </p:cNvPr>
          <p:cNvSpPr txBox="1"/>
          <p:nvPr/>
        </p:nvSpPr>
        <p:spPr>
          <a:xfrm>
            <a:off x="6232640" y="3805863"/>
            <a:ext cx="4288209" cy="338554"/>
          </a:xfrm>
          <a:prstGeom prst="rect">
            <a:avLst/>
          </a:prstGeom>
          <a:noFill/>
          <a:ln>
            <a:solidFill>
              <a:schemeClr val="tx1"/>
            </a:solidFill>
          </a:ln>
        </p:spPr>
        <p:txBody>
          <a:bodyPr wrap="square" rtlCol="0">
            <a:spAutoFit/>
          </a:bodyPr>
          <a:lstStyle/>
          <a:p>
            <a:r>
              <a:rPr lang="en-US" sz="1600" b="1" dirty="0">
                <a:solidFill>
                  <a:schemeClr val="bg1"/>
                </a:solidFill>
                <a:latin typeface="Aptos" panose="020B0004020202020204" pitchFamily="34" charset="0"/>
              </a:rPr>
              <a:t>What it means:</a:t>
            </a:r>
            <a:endParaRPr lang="en-US" b="1" dirty="0">
              <a:solidFill>
                <a:schemeClr val="bg1"/>
              </a:solidFill>
              <a:latin typeface="Aptos" panose="020B0004020202020204" pitchFamily="34" charset="0"/>
            </a:endParaRPr>
          </a:p>
        </p:txBody>
      </p:sp>
      <p:sp>
        <p:nvSpPr>
          <p:cNvPr id="24" name="TextBox 23">
            <a:extLst>
              <a:ext uri="{FF2B5EF4-FFF2-40B4-BE49-F238E27FC236}">
                <a16:creationId xmlns:a16="http://schemas.microsoft.com/office/drawing/2014/main" id="{01E56EBC-1780-AB39-3182-DEBB3DF20B1F}"/>
              </a:ext>
            </a:extLst>
          </p:cNvPr>
          <p:cNvSpPr txBox="1"/>
          <p:nvPr/>
        </p:nvSpPr>
        <p:spPr>
          <a:xfrm>
            <a:off x="430923" y="2042259"/>
            <a:ext cx="4621213" cy="1015663"/>
          </a:xfrm>
          <a:prstGeom prst="rect">
            <a:avLst/>
          </a:prstGeom>
          <a:noFill/>
        </p:spPr>
        <p:txBody>
          <a:bodyPr wrap="square" rtlCol="0">
            <a:spAutoFit/>
          </a:bodyPr>
          <a:lstStyle/>
          <a:p>
            <a:r>
              <a:rPr lang="en-US" sz="2000" b="1" dirty="0">
                <a:solidFill>
                  <a:schemeClr val="bg1"/>
                </a:solidFill>
                <a:latin typeface="Aptos" panose="020B0004020202020204" pitchFamily="34" charset="0"/>
              </a:rPr>
              <a:t>Target profit:  $36.0M × 8% = $2.88M</a:t>
            </a:r>
          </a:p>
          <a:p>
            <a:endParaRPr lang="en-US" sz="2000" b="1" dirty="0">
              <a:solidFill>
                <a:schemeClr val="bg1"/>
              </a:solidFill>
              <a:latin typeface="Aptos" panose="020B0004020202020204" pitchFamily="34" charset="0"/>
            </a:endParaRPr>
          </a:p>
          <a:p>
            <a:r>
              <a:rPr lang="en-US" sz="2000" b="1" dirty="0">
                <a:solidFill>
                  <a:schemeClr val="bg1"/>
                </a:solidFill>
                <a:latin typeface="Aptos" panose="020B0004020202020204" pitchFamily="34" charset="0"/>
              </a:rPr>
              <a:t>Current profit:  $36.0M × 3% = $1.08M</a:t>
            </a:r>
          </a:p>
        </p:txBody>
      </p:sp>
      <p:sp>
        <p:nvSpPr>
          <p:cNvPr id="25" name="TextBox 24">
            <a:extLst>
              <a:ext uri="{FF2B5EF4-FFF2-40B4-BE49-F238E27FC236}">
                <a16:creationId xmlns:a16="http://schemas.microsoft.com/office/drawing/2014/main" id="{41E7F369-51E8-F4BD-BC94-61480647C02B}"/>
              </a:ext>
            </a:extLst>
          </p:cNvPr>
          <p:cNvSpPr txBox="1"/>
          <p:nvPr/>
        </p:nvSpPr>
        <p:spPr>
          <a:xfrm>
            <a:off x="430924" y="4435962"/>
            <a:ext cx="4621213" cy="1631216"/>
          </a:xfrm>
          <a:prstGeom prst="rect">
            <a:avLst/>
          </a:prstGeom>
          <a:noFill/>
        </p:spPr>
        <p:txBody>
          <a:bodyPr wrap="square" rtlCol="0">
            <a:spAutoFit/>
          </a:bodyPr>
          <a:lstStyle/>
          <a:p>
            <a:r>
              <a:rPr lang="en-US" sz="2000" b="1" dirty="0">
                <a:solidFill>
                  <a:schemeClr val="bg1"/>
                </a:solidFill>
                <a:latin typeface="Aptos" panose="020B0004020202020204" pitchFamily="34" charset="0"/>
              </a:rPr>
              <a:t>$2.88M − $1.08M = $1.80M</a:t>
            </a:r>
          </a:p>
          <a:p>
            <a:endParaRPr lang="en-US" sz="2000" b="1" dirty="0">
              <a:solidFill>
                <a:schemeClr val="bg1"/>
              </a:solidFill>
              <a:latin typeface="Aptos" panose="020B0004020202020204" pitchFamily="34" charset="0"/>
            </a:endParaRPr>
          </a:p>
          <a:p>
            <a:r>
              <a:rPr lang="en-US" sz="2000" b="1" dirty="0">
                <a:solidFill>
                  <a:schemeClr val="bg1"/>
                </a:solidFill>
                <a:latin typeface="Aptos" panose="020B0004020202020204" pitchFamily="34" charset="0"/>
              </a:rPr>
              <a:t>Required annual improvement</a:t>
            </a:r>
          </a:p>
          <a:p>
            <a:endParaRPr lang="en-US" sz="2000" b="1" dirty="0">
              <a:solidFill>
                <a:srgbClr val="C00000"/>
              </a:solidFill>
              <a:latin typeface="Aptos" panose="020B0004020202020204" pitchFamily="34" charset="0"/>
            </a:endParaRPr>
          </a:p>
          <a:p>
            <a:r>
              <a:rPr lang="en-US" sz="2000" b="1" dirty="0">
                <a:solidFill>
                  <a:srgbClr val="C00000"/>
                </a:solidFill>
                <a:latin typeface="Aptos" panose="020B0004020202020204" pitchFamily="34" charset="0"/>
              </a:rPr>
              <a:t>Required recovery: $1.80M</a:t>
            </a:r>
          </a:p>
        </p:txBody>
      </p:sp>
      <p:sp>
        <p:nvSpPr>
          <p:cNvPr id="27" name="TextBox 26">
            <a:extLst>
              <a:ext uri="{FF2B5EF4-FFF2-40B4-BE49-F238E27FC236}">
                <a16:creationId xmlns:a16="http://schemas.microsoft.com/office/drawing/2014/main" id="{3659BB2B-13EB-C86D-0D4B-FA7F06E44745}"/>
              </a:ext>
            </a:extLst>
          </p:cNvPr>
          <p:cNvSpPr txBox="1"/>
          <p:nvPr/>
        </p:nvSpPr>
        <p:spPr>
          <a:xfrm>
            <a:off x="6232634" y="2190947"/>
            <a:ext cx="4740162" cy="707886"/>
          </a:xfrm>
          <a:prstGeom prst="rect">
            <a:avLst/>
          </a:prstGeom>
          <a:noFill/>
        </p:spPr>
        <p:txBody>
          <a:bodyPr wrap="square" rtlCol="0">
            <a:spAutoFit/>
          </a:bodyPr>
          <a:lstStyle/>
          <a:p>
            <a:r>
              <a:rPr lang="en-US" sz="2000" b="1" dirty="0">
                <a:solidFill>
                  <a:schemeClr val="bg1"/>
                </a:solidFill>
                <a:latin typeface="Aptos" panose="020B0004020202020204" pitchFamily="34" charset="0"/>
              </a:rPr>
              <a:t>Across the full order base:</a:t>
            </a:r>
          </a:p>
          <a:p>
            <a:r>
              <a:rPr lang="en-US" sz="2000" b="1" dirty="0">
                <a:solidFill>
                  <a:schemeClr val="bg1"/>
                </a:solidFill>
                <a:latin typeface="Aptos" panose="020B0004020202020204" pitchFamily="34" charset="0"/>
              </a:rPr>
              <a:t>$1.80M ÷ 1.25M orders = $1.44 per order</a:t>
            </a:r>
          </a:p>
        </p:txBody>
      </p:sp>
      <p:sp>
        <p:nvSpPr>
          <p:cNvPr id="28" name="TextBox 27">
            <a:extLst>
              <a:ext uri="{FF2B5EF4-FFF2-40B4-BE49-F238E27FC236}">
                <a16:creationId xmlns:a16="http://schemas.microsoft.com/office/drawing/2014/main" id="{328D1A2D-5E2D-E1B7-9FAB-3D07E14B9B1E}"/>
              </a:ext>
            </a:extLst>
          </p:cNvPr>
          <p:cNvSpPr txBox="1"/>
          <p:nvPr/>
        </p:nvSpPr>
        <p:spPr>
          <a:xfrm>
            <a:off x="1903946" y="6364048"/>
            <a:ext cx="8110839" cy="276999"/>
          </a:xfrm>
          <a:prstGeom prst="rect">
            <a:avLst/>
          </a:prstGeom>
          <a:noFill/>
        </p:spPr>
        <p:txBody>
          <a:bodyPr wrap="square" rtlCol="0">
            <a:spAutoFit/>
          </a:bodyPr>
          <a:lstStyle/>
          <a:p>
            <a:pPr algn="ctr"/>
            <a:r>
              <a:rPr lang="en-US" sz="1200" dirty="0">
                <a:solidFill>
                  <a:schemeClr val="bg1">
                    <a:lumMod val="60000"/>
                    <a:lumOff val="40000"/>
                  </a:schemeClr>
                </a:solidFill>
                <a:latin typeface="Aptos" panose="020B0004020202020204" pitchFamily="34" charset="0"/>
              </a:rPr>
              <a:t>Assumes revenue and order volume remain at current-year levels; customer demand response is not modeled</a:t>
            </a:r>
          </a:p>
        </p:txBody>
      </p:sp>
      <p:sp>
        <p:nvSpPr>
          <p:cNvPr id="29" name="TextBox 28">
            <a:extLst>
              <a:ext uri="{FF2B5EF4-FFF2-40B4-BE49-F238E27FC236}">
                <a16:creationId xmlns:a16="http://schemas.microsoft.com/office/drawing/2014/main" id="{90D12B3B-6AB7-F359-A864-6DE588274530}"/>
              </a:ext>
            </a:extLst>
          </p:cNvPr>
          <p:cNvSpPr txBox="1"/>
          <p:nvPr/>
        </p:nvSpPr>
        <p:spPr>
          <a:xfrm>
            <a:off x="6166051" y="4435962"/>
            <a:ext cx="5595024" cy="400110"/>
          </a:xfrm>
          <a:prstGeom prst="rect">
            <a:avLst/>
          </a:prstGeom>
          <a:noFill/>
        </p:spPr>
        <p:txBody>
          <a:bodyPr wrap="square" rtlCol="0">
            <a:spAutoFit/>
          </a:bodyPr>
          <a:lstStyle/>
          <a:p>
            <a:r>
              <a:rPr lang="en-US" sz="2000" b="1" dirty="0">
                <a:solidFill>
                  <a:schemeClr val="bg1"/>
                </a:solidFill>
                <a:latin typeface="Aptos" panose="020B0004020202020204" pitchFamily="34" charset="0"/>
              </a:rPr>
              <a:t>The required action depends on concentration.</a:t>
            </a:r>
          </a:p>
        </p:txBody>
      </p:sp>
      <p:sp>
        <p:nvSpPr>
          <p:cNvPr id="30" name="TextBox 29">
            <a:extLst>
              <a:ext uri="{FF2B5EF4-FFF2-40B4-BE49-F238E27FC236}">
                <a16:creationId xmlns:a16="http://schemas.microsoft.com/office/drawing/2014/main" id="{A189B98F-5568-E5E3-9506-A7DB81E2570D}"/>
              </a:ext>
            </a:extLst>
          </p:cNvPr>
          <p:cNvSpPr txBox="1"/>
          <p:nvPr/>
        </p:nvSpPr>
        <p:spPr>
          <a:xfrm>
            <a:off x="6166052" y="4998419"/>
            <a:ext cx="4621213" cy="707886"/>
          </a:xfrm>
          <a:prstGeom prst="rect">
            <a:avLst/>
          </a:prstGeom>
          <a:noFill/>
        </p:spPr>
        <p:txBody>
          <a:bodyPr wrap="square" rtlCol="0">
            <a:spAutoFit/>
          </a:bodyPr>
          <a:lstStyle/>
          <a:p>
            <a:r>
              <a:rPr lang="en-US" sz="2000" b="1" dirty="0">
                <a:solidFill>
                  <a:schemeClr val="bg1"/>
                </a:solidFill>
                <a:latin typeface="Aptos" panose="020B0004020202020204" pitchFamily="34" charset="0"/>
              </a:rPr>
              <a:t>Across all orders:</a:t>
            </a:r>
          </a:p>
          <a:p>
            <a:r>
              <a:rPr lang="en-US" sz="2000" b="1" dirty="0">
                <a:solidFill>
                  <a:schemeClr val="bg1"/>
                </a:solidFill>
                <a:latin typeface="Aptos" panose="020B0004020202020204" pitchFamily="34" charset="0"/>
              </a:rPr>
              <a:t>$1.44 per order</a:t>
            </a:r>
          </a:p>
        </p:txBody>
      </p:sp>
    </p:spTree>
    <p:extLst>
      <p:ext uri="{BB962C8B-B14F-4D97-AF65-F5344CB8AC3E}">
        <p14:creationId xmlns:p14="http://schemas.microsoft.com/office/powerpoint/2010/main" val="36829604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5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3" grpId="0" animBg="1"/>
      <p:bldP spid="24" grpId="0"/>
      <p:bldP spid="25" grpId="0"/>
      <p:bldP spid="27" grpId="0"/>
      <p:bldP spid="28" grpId="0"/>
      <p:bldP spid="29" grpId="0"/>
      <p:bldP spid="3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24B2B0B1-0DA1-0B10-9D5E-01F11D7A93AD}"/>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68D147EF-4FAC-A6E6-0413-6FD9AA15116C}"/>
              </a:ext>
            </a:extLst>
          </p:cNvPr>
          <p:cNvSpPr/>
          <p:nvPr/>
        </p:nvSpPr>
        <p:spPr>
          <a:xfrm>
            <a:off x="329158" y="206609"/>
            <a:ext cx="2503699"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CONCENTRATION SENSITIVITY</a:t>
            </a:r>
          </a:p>
        </p:txBody>
      </p:sp>
      <p:sp>
        <p:nvSpPr>
          <p:cNvPr id="75" name="Rectangle 74">
            <a:extLst>
              <a:ext uri="{FF2B5EF4-FFF2-40B4-BE49-F238E27FC236}">
                <a16:creationId xmlns:a16="http://schemas.microsoft.com/office/drawing/2014/main" id="{C5EA63C1-B06B-11FC-E1B8-9B2E97BBE08F}"/>
              </a:ext>
            </a:extLst>
          </p:cNvPr>
          <p:cNvSpPr/>
          <p:nvPr/>
        </p:nvSpPr>
        <p:spPr>
          <a:xfrm>
            <a:off x="329159" y="567893"/>
            <a:ext cx="11291824" cy="384721"/>
          </a:xfrm>
          <a:prstGeom prst="rect">
            <a:avLst/>
          </a:prstGeom>
        </p:spPr>
        <p:txBody>
          <a:bodyPr wrap="square" lIns="0" tIns="0" rIns="0" bIns="0">
            <a:spAutoFit/>
          </a:bodyPr>
          <a:lstStyle/>
          <a:p>
            <a:r>
              <a:rPr lang="en-US" sz="2500" b="1" dirty="0">
                <a:latin typeface="+mj-lt"/>
              </a:rPr>
              <a:t>A narrower problem requires more recovery per order</a:t>
            </a:r>
          </a:p>
        </p:txBody>
      </p:sp>
      <p:sp>
        <p:nvSpPr>
          <p:cNvPr id="28" name="TextBox 27">
            <a:extLst>
              <a:ext uri="{FF2B5EF4-FFF2-40B4-BE49-F238E27FC236}">
                <a16:creationId xmlns:a16="http://schemas.microsoft.com/office/drawing/2014/main" id="{56C4E609-C978-7877-3F33-AA8A4C97CC0C}"/>
              </a:ext>
            </a:extLst>
          </p:cNvPr>
          <p:cNvSpPr txBox="1"/>
          <p:nvPr/>
        </p:nvSpPr>
        <p:spPr>
          <a:xfrm>
            <a:off x="1919651" y="6391071"/>
            <a:ext cx="8110839" cy="276999"/>
          </a:xfrm>
          <a:prstGeom prst="rect">
            <a:avLst/>
          </a:prstGeom>
          <a:noFill/>
        </p:spPr>
        <p:txBody>
          <a:bodyPr wrap="square" rtlCol="0">
            <a:spAutoFit/>
          </a:bodyPr>
          <a:lstStyle/>
          <a:p>
            <a:pPr algn="ctr"/>
            <a:r>
              <a:rPr lang="en-US" sz="1200" dirty="0">
                <a:solidFill>
                  <a:schemeClr val="bg1">
                    <a:lumMod val="60000"/>
                    <a:lumOff val="40000"/>
                  </a:schemeClr>
                </a:solidFill>
                <a:latin typeface="Aptos" panose="020B0004020202020204" pitchFamily="34" charset="0"/>
              </a:rPr>
              <a:t>Assumes revenue and order volume remain at current-year levels; customer demand response is not modeled</a:t>
            </a:r>
          </a:p>
        </p:txBody>
      </p:sp>
      <p:sp>
        <p:nvSpPr>
          <p:cNvPr id="2" name="text">
            <a:extLst>
              <a:ext uri="{FF2B5EF4-FFF2-40B4-BE49-F238E27FC236}">
                <a16:creationId xmlns:a16="http://schemas.microsoft.com/office/drawing/2014/main" id="{64377735-51B7-7A3A-0AA0-24BA17172957}"/>
              </a:ext>
            </a:extLst>
          </p:cNvPr>
          <p:cNvSpPr>
            <a:spLocks noGrp="1"/>
          </p:cNvSpPr>
          <p:nvPr/>
        </p:nvSpPr>
        <p:spPr>
          <a:xfrm>
            <a:off x="311191" y="1087063"/>
            <a:ext cx="3441002" cy="252874"/>
          </a:xfrm>
          <a:prstGeom prst="rect">
            <a:avLst/>
          </a:prstGeom>
          <a:noFill/>
          <a:ln w="0">
            <a:noFill/>
            <a:prstDash val="solid"/>
          </a:ln>
        </p:spPr>
        <p:txBody>
          <a:bodyPr anchor="t">
            <a:normAutofit fontScale="77892" lnSpcReduction="10000"/>
          </a:bodyPr>
          <a:lstStyle/>
          <a:p>
            <a:pPr algn="l">
              <a:buNone/>
              <a:defRPr sz="1425" b="1">
                <a:solidFill>
                  <a:srgbClr val="5F6672"/>
                </a:solidFill>
                <a:latin typeface="Arial"/>
                <a:ea typeface="Arial"/>
                <a:cs typeface="Arial"/>
              </a:defRPr>
            </a:pPr>
            <a:r>
              <a:rPr sz="1425" dirty="0">
                <a:solidFill>
                  <a:srgbClr val="5F6672"/>
                </a:solidFill>
                <a:latin typeface="Aptos" panose="020B0004020202020204" pitchFamily="34" charset="0"/>
                <a:ea typeface="Arial"/>
                <a:cs typeface="Arial"/>
              </a:rPr>
              <a:t>Illustrative sensitivity</a:t>
            </a:r>
            <a:r>
              <a:rPr lang="en-US" sz="1425" dirty="0">
                <a:solidFill>
                  <a:srgbClr val="5F6672"/>
                </a:solidFill>
                <a:latin typeface="Aptos" panose="020B0004020202020204" pitchFamily="34" charset="0"/>
                <a:ea typeface="Arial"/>
                <a:cs typeface="Arial"/>
              </a:rPr>
              <a:t>, </a:t>
            </a:r>
            <a:r>
              <a:rPr sz="1425" dirty="0">
                <a:solidFill>
                  <a:srgbClr val="5F6672"/>
                </a:solidFill>
                <a:latin typeface="Aptos" panose="020B0004020202020204" pitchFamily="34" charset="0"/>
                <a:ea typeface="Arial"/>
                <a:cs typeface="Arial"/>
              </a:rPr>
              <a:t>not a finding from the exhibit</a:t>
            </a:r>
          </a:p>
        </p:txBody>
      </p:sp>
      <p:sp>
        <p:nvSpPr>
          <p:cNvPr id="4" name="Rectangle 3">
            <a:extLst>
              <a:ext uri="{FF2B5EF4-FFF2-40B4-BE49-F238E27FC236}">
                <a16:creationId xmlns:a16="http://schemas.microsoft.com/office/drawing/2014/main" id="{E19EC02E-67D5-D8E8-3CFB-4252A801262E}"/>
              </a:ext>
            </a:extLst>
          </p:cNvPr>
          <p:cNvSpPr>
            <a:spLocks noGrp="1"/>
          </p:cNvSpPr>
          <p:nvPr/>
        </p:nvSpPr>
        <p:spPr>
          <a:xfrm>
            <a:off x="329158" y="1563790"/>
            <a:ext cx="4038600" cy="514350"/>
          </a:xfrm>
          <a:prstGeom prst="rect">
            <a:avLst/>
          </a:prstGeom>
          <a:solidFill>
            <a:schemeClr val="bg1"/>
          </a:solidFill>
          <a:ln w="6668">
            <a:solidFill>
              <a:srgbClr val="111111"/>
            </a:solidFill>
            <a:prstDash val="solid"/>
          </a:ln>
        </p:spPr>
        <p:txBody>
          <a:bodyPr/>
          <a:lstStyle/>
          <a:p>
            <a:endParaRPr lang="en-US">
              <a:latin typeface="Aptos" panose="020B0004020202020204" pitchFamily="34" charset="0"/>
            </a:endParaRPr>
          </a:p>
        </p:txBody>
      </p:sp>
      <p:sp>
        <p:nvSpPr>
          <p:cNvPr id="5" name="text">
            <a:extLst>
              <a:ext uri="{FF2B5EF4-FFF2-40B4-BE49-F238E27FC236}">
                <a16:creationId xmlns:a16="http://schemas.microsoft.com/office/drawing/2014/main" id="{89305833-ED1D-8C4E-B60F-801C94136C5E}"/>
              </a:ext>
            </a:extLst>
          </p:cNvPr>
          <p:cNvSpPr>
            <a:spLocks noGrp="1"/>
          </p:cNvSpPr>
          <p:nvPr/>
        </p:nvSpPr>
        <p:spPr>
          <a:xfrm>
            <a:off x="443458" y="1687615"/>
            <a:ext cx="3810000" cy="323850"/>
          </a:xfrm>
          <a:prstGeom prst="rect">
            <a:avLst/>
          </a:prstGeom>
          <a:noFill/>
          <a:ln w="0">
            <a:noFill/>
            <a:prstDash val="solid"/>
          </a:ln>
        </p:spPr>
        <p:txBody>
          <a:bodyPr anchor="t">
            <a:normAutofit/>
          </a:bodyPr>
          <a:lstStyle/>
          <a:p>
            <a:pPr algn="l">
              <a:buNone/>
              <a:defRPr sz="1275" b="1">
                <a:solidFill>
                  <a:srgbClr val="FFFFFF"/>
                </a:solidFill>
                <a:latin typeface="Arial"/>
                <a:ea typeface="Arial"/>
                <a:cs typeface="Arial"/>
              </a:defRPr>
            </a:pPr>
            <a:r>
              <a:rPr sz="1275">
                <a:solidFill>
                  <a:srgbClr val="FFFFFF"/>
                </a:solidFill>
                <a:latin typeface="Aptos" panose="020B0004020202020204" pitchFamily="34" charset="0"/>
                <a:ea typeface="Arial"/>
                <a:cs typeface="Arial"/>
              </a:rPr>
              <a:t>Affected share</a:t>
            </a:r>
          </a:p>
        </p:txBody>
      </p:sp>
      <p:sp>
        <p:nvSpPr>
          <p:cNvPr id="6" name="Rectangle 5">
            <a:extLst>
              <a:ext uri="{FF2B5EF4-FFF2-40B4-BE49-F238E27FC236}">
                <a16:creationId xmlns:a16="http://schemas.microsoft.com/office/drawing/2014/main" id="{3AFDAE50-32B2-445E-96AB-A5AAF89E45B2}"/>
              </a:ext>
            </a:extLst>
          </p:cNvPr>
          <p:cNvSpPr>
            <a:spLocks noGrp="1"/>
          </p:cNvSpPr>
          <p:nvPr/>
        </p:nvSpPr>
        <p:spPr>
          <a:xfrm>
            <a:off x="4367758" y="1563790"/>
            <a:ext cx="2286000" cy="514350"/>
          </a:xfrm>
          <a:prstGeom prst="rect">
            <a:avLst/>
          </a:prstGeom>
          <a:solidFill>
            <a:schemeClr val="bg1"/>
          </a:solidFill>
          <a:ln w="6668">
            <a:solidFill>
              <a:srgbClr val="111111"/>
            </a:solidFill>
            <a:prstDash val="solid"/>
          </a:ln>
        </p:spPr>
        <p:txBody>
          <a:bodyPr/>
          <a:lstStyle/>
          <a:p>
            <a:endParaRPr lang="en-US">
              <a:latin typeface="Aptos" panose="020B0004020202020204" pitchFamily="34" charset="0"/>
            </a:endParaRPr>
          </a:p>
        </p:txBody>
      </p:sp>
      <p:sp>
        <p:nvSpPr>
          <p:cNvPr id="7" name="text">
            <a:extLst>
              <a:ext uri="{FF2B5EF4-FFF2-40B4-BE49-F238E27FC236}">
                <a16:creationId xmlns:a16="http://schemas.microsoft.com/office/drawing/2014/main" id="{C0CCED95-677B-130B-EE66-D868523B3B27}"/>
              </a:ext>
            </a:extLst>
          </p:cNvPr>
          <p:cNvSpPr>
            <a:spLocks noGrp="1"/>
          </p:cNvSpPr>
          <p:nvPr/>
        </p:nvSpPr>
        <p:spPr>
          <a:xfrm>
            <a:off x="4482058" y="1687615"/>
            <a:ext cx="2057400" cy="323850"/>
          </a:xfrm>
          <a:prstGeom prst="rect">
            <a:avLst/>
          </a:prstGeom>
          <a:noFill/>
          <a:ln w="0">
            <a:noFill/>
            <a:prstDash val="solid"/>
          </a:ln>
        </p:spPr>
        <p:txBody>
          <a:bodyPr anchor="t">
            <a:normAutofit/>
          </a:bodyPr>
          <a:lstStyle/>
          <a:p>
            <a:pPr algn="l">
              <a:buNone/>
              <a:defRPr sz="1275" b="1">
                <a:solidFill>
                  <a:srgbClr val="FFFFFF"/>
                </a:solidFill>
                <a:latin typeface="Arial"/>
                <a:ea typeface="Arial"/>
                <a:cs typeface="Arial"/>
              </a:defRPr>
            </a:pPr>
            <a:r>
              <a:rPr sz="1275">
                <a:solidFill>
                  <a:srgbClr val="FFFFFF"/>
                </a:solidFill>
                <a:latin typeface="Aptos" panose="020B0004020202020204" pitchFamily="34" charset="0"/>
                <a:ea typeface="Arial"/>
                <a:cs typeface="Arial"/>
              </a:rPr>
              <a:t>Affected orders</a:t>
            </a:r>
          </a:p>
        </p:txBody>
      </p:sp>
      <p:sp>
        <p:nvSpPr>
          <p:cNvPr id="8" name="Rectangle 7">
            <a:extLst>
              <a:ext uri="{FF2B5EF4-FFF2-40B4-BE49-F238E27FC236}">
                <a16:creationId xmlns:a16="http://schemas.microsoft.com/office/drawing/2014/main" id="{AFC7FD8E-F9F7-C3A5-72B0-9C19B8564C01}"/>
              </a:ext>
            </a:extLst>
          </p:cNvPr>
          <p:cNvSpPr>
            <a:spLocks noGrp="1"/>
          </p:cNvSpPr>
          <p:nvPr/>
        </p:nvSpPr>
        <p:spPr>
          <a:xfrm>
            <a:off x="6653758" y="1563790"/>
            <a:ext cx="2095500" cy="514350"/>
          </a:xfrm>
          <a:prstGeom prst="rect">
            <a:avLst/>
          </a:prstGeom>
          <a:solidFill>
            <a:schemeClr val="bg1"/>
          </a:solidFill>
          <a:ln w="6668">
            <a:solidFill>
              <a:srgbClr val="111111"/>
            </a:solidFill>
            <a:prstDash val="solid"/>
          </a:ln>
        </p:spPr>
        <p:txBody>
          <a:bodyPr/>
          <a:lstStyle/>
          <a:p>
            <a:endParaRPr lang="en-US">
              <a:latin typeface="Aptos" panose="020B0004020202020204" pitchFamily="34" charset="0"/>
            </a:endParaRPr>
          </a:p>
        </p:txBody>
      </p:sp>
      <p:sp>
        <p:nvSpPr>
          <p:cNvPr id="9" name="text">
            <a:extLst>
              <a:ext uri="{FF2B5EF4-FFF2-40B4-BE49-F238E27FC236}">
                <a16:creationId xmlns:a16="http://schemas.microsoft.com/office/drawing/2014/main" id="{B2618E62-5DBD-F289-F8B7-74E06FF00B08}"/>
              </a:ext>
            </a:extLst>
          </p:cNvPr>
          <p:cNvSpPr>
            <a:spLocks noGrp="1"/>
          </p:cNvSpPr>
          <p:nvPr/>
        </p:nvSpPr>
        <p:spPr>
          <a:xfrm>
            <a:off x="6768058" y="1687615"/>
            <a:ext cx="1866900" cy="323850"/>
          </a:xfrm>
          <a:prstGeom prst="rect">
            <a:avLst/>
          </a:prstGeom>
          <a:noFill/>
          <a:ln w="0">
            <a:noFill/>
            <a:prstDash val="solid"/>
          </a:ln>
        </p:spPr>
        <p:txBody>
          <a:bodyPr anchor="t">
            <a:normAutofit/>
          </a:bodyPr>
          <a:lstStyle/>
          <a:p>
            <a:pPr algn="l">
              <a:buNone/>
              <a:defRPr sz="1275" b="1">
                <a:solidFill>
                  <a:srgbClr val="FFFFFF"/>
                </a:solidFill>
                <a:latin typeface="Arial"/>
                <a:ea typeface="Arial"/>
                <a:cs typeface="Arial"/>
              </a:defRPr>
            </a:pPr>
            <a:r>
              <a:rPr sz="1275">
                <a:solidFill>
                  <a:srgbClr val="FFFFFF"/>
                </a:solidFill>
                <a:latin typeface="Aptos" panose="020B0004020202020204" pitchFamily="34" charset="0"/>
                <a:ea typeface="Arial"/>
                <a:cs typeface="Arial"/>
              </a:rPr>
              <a:t>Recovery / order</a:t>
            </a:r>
          </a:p>
        </p:txBody>
      </p:sp>
      <p:sp>
        <p:nvSpPr>
          <p:cNvPr id="11" name="Rectangle 10">
            <a:extLst>
              <a:ext uri="{FF2B5EF4-FFF2-40B4-BE49-F238E27FC236}">
                <a16:creationId xmlns:a16="http://schemas.microsoft.com/office/drawing/2014/main" id="{14B3CDC8-7986-7D3E-AC36-BF81D1007D80}"/>
              </a:ext>
            </a:extLst>
          </p:cNvPr>
          <p:cNvSpPr>
            <a:spLocks noGrp="1"/>
          </p:cNvSpPr>
          <p:nvPr/>
        </p:nvSpPr>
        <p:spPr>
          <a:xfrm>
            <a:off x="8749258" y="1563790"/>
            <a:ext cx="2705100" cy="514350"/>
          </a:xfrm>
          <a:prstGeom prst="rect">
            <a:avLst/>
          </a:prstGeom>
          <a:solidFill>
            <a:schemeClr val="bg1"/>
          </a:solidFill>
          <a:ln w="6668">
            <a:solidFill>
              <a:srgbClr val="111111"/>
            </a:solidFill>
            <a:prstDash val="solid"/>
          </a:ln>
        </p:spPr>
        <p:txBody>
          <a:bodyPr/>
          <a:lstStyle/>
          <a:p>
            <a:endParaRPr lang="en-US">
              <a:latin typeface="Aptos" panose="020B0004020202020204" pitchFamily="34" charset="0"/>
            </a:endParaRPr>
          </a:p>
        </p:txBody>
      </p:sp>
      <p:sp>
        <p:nvSpPr>
          <p:cNvPr id="12" name="text">
            <a:extLst>
              <a:ext uri="{FF2B5EF4-FFF2-40B4-BE49-F238E27FC236}">
                <a16:creationId xmlns:a16="http://schemas.microsoft.com/office/drawing/2014/main" id="{89D2E1BA-2118-0B4F-A7A5-C6FD6F576034}"/>
              </a:ext>
            </a:extLst>
          </p:cNvPr>
          <p:cNvSpPr>
            <a:spLocks noGrp="1"/>
          </p:cNvSpPr>
          <p:nvPr/>
        </p:nvSpPr>
        <p:spPr>
          <a:xfrm>
            <a:off x="8863558" y="1687615"/>
            <a:ext cx="2476500" cy="323850"/>
          </a:xfrm>
          <a:prstGeom prst="rect">
            <a:avLst/>
          </a:prstGeom>
          <a:noFill/>
          <a:ln w="0">
            <a:noFill/>
            <a:prstDash val="solid"/>
          </a:ln>
        </p:spPr>
        <p:txBody>
          <a:bodyPr anchor="t">
            <a:normAutofit/>
          </a:bodyPr>
          <a:lstStyle/>
          <a:p>
            <a:pPr algn="l">
              <a:buNone/>
              <a:defRPr sz="1275" b="1">
                <a:solidFill>
                  <a:srgbClr val="FFFFFF"/>
                </a:solidFill>
                <a:latin typeface="Arial"/>
                <a:ea typeface="Arial"/>
                <a:cs typeface="Arial"/>
              </a:defRPr>
            </a:pPr>
            <a:r>
              <a:rPr sz="1275">
                <a:solidFill>
                  <a:srgbClr val="FFFFFF"/>
                </a:solidFill>
                <a:latin typeface="Aptos" panose="020B0004020202020204" pitchFamily="34" charset="0"/>
                <a:ea typeface="Arial"/>
                <a:cs typeface="Arial"/>
              </a:rPr>
              <a:t>Vs. full-book requirement</a:t>
            </a:r>
          </a:p>
        </p:txBody>
      </p:sp>
      <p:sp>
        <p:nvSpPr>
          <p:cNvPr id="13" name="Rectangle 12">
            <a:extLst>
              <a:ext uri="{FF2B5EF4-FFF2-40B4-BE49-F238E27FC236}">
                <a16:creationId xmlns:a16="http://schemas.microsoft.com/office/drawing/2014/main" id="{16CCD85C-7C47-E56D-5F33-E1DC9D9BCDAC}"/>
              </a:ext>
            </a:extLst>
          </p:cNvPr>
          <p:cNvSpPr>
            <a:spLocks noGrp="1"/>
          </p:cNvSpPr>
          <p:nvPr/>
        </p:nvSpPr>
        <p:spPr>
          <a:xfrm>
            <a:off x="329158" y="2078140"/>
            <a:ext cx="40386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14" name="text">
            <a:extLst>
              <a:ext uri="{FF2B5EF4-FFF2-40B4-BE49-F238E27FC236}">
                <a16:creationId xmlns:a16="http://schemas.microsoft.com/office/drawing/2014/main" id="{DB53D2B1-17AB-911F-555C-F85CA6BCC0D1}"/>
              </a:ext>
            </a:extLst>
          </p:cNvPr>
          <p:cNvSpPr>
            <a:spLocks noGrp="1"/>
          </p:cNvSpPr>
          <p:nvPr/>
        </p:nvSpPr>
        <p:spPr>
          <a:xfrm>
            <a:off x="443458" y="2201965"/>
            <a:ext cx="3810000" cy="438150"/>
          </a:xfrm>
          <a:prstGeom prst="rect">
            <a:avLst/>
          </a:prstGeom>
          <a:noFill/>
          <a:ln w="0">
            <a:noFill/>
            <a:prstDash val="solid"/>
          </a:ln>
        </p:spPr>
        <p:txBody>
          <a:bodyPr anchor="t">
            <a:normAutofit/>
          </a:bodyPr>
          <a:lstStyle/>
          <a:p>
            <a:pPr algn="l">
              <a:buNone/>
              <a:defRPr sz="1350" b="1">
                <a:solidFill>
                  <a:srgbClr val="111111"/>
                </a:solidFill>
                <a:latin typeface="Arial"/>
                <a:ea typeface="Arial"/>
                <a:cs typeface="Arial"/>
              </a:defRPr>
            </a:pPr>
            <a:r>
              <a:rPr sz="1350" dirty="0">
                <a:solidFill>
                  <a:schemeClr val="bg1"/>
                </a:solidFill>
                <a:latin typeface="Aptos" panose="020B0004020202020204" pitchFamily="34" charset="0"/>
                <a:ea typeface="Arial"/>
                <a:cs typeface="Arial"/>
              </a:rPr>
              <a:t>100%</a:t>
            </a:r>
          </a:p>
        </p:txBody>
      </p:sp>
      <p:sp>
        <p:nvSpPr>
          <p:cNvPr id="15" name="Rectangle 14">
            <a:extLst>
              <a:ext uri="{FF2B5EF4-FFF2-40B4-BE49-F238E27FC236}">
                <a16:creationId xmlns:a16="http://schemas.microsoft.com/office/drawing/2014/main" id="{C32CB9AC-0686-FF0C-DB25-DAE3CAFCAD4B}"/>
              </a:ext>
            </a:extLst>
          </p:cNvPr>
          <p:cNvSpPr>
            <a:spLocks noGrp="1"/>
          </p:cNvSpPr>
          <p:nvPr/>
        </p:nvSpPr>
        <p:spPr>
          <a:xfrm>
            <a:off x="4367758" y="2078140"/>
            <a:ext cx="22860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16" name="text">
            <a:extLst>
              <a:ext uri="{FF2B5EF4-FFF2-40B4-BE49-F238E27FC236}">
                <a16:creationId xmlns:a16="http://schemas.microsoft.com/office/drawing/2014/main" id="{24C9143C-5AB5-9DAA-1073-ACE12B24264C}"/>
              </a:ext>
            </a:extLst>
          </p:cNvPr>
          <p:cNvSpPr>
            <a:spLocks noGrp="1"/>
          </p:cNvSpPr>
          <p:nvPr/>
        </p:nvSpPr>
        <p:spPr>
          <a:xfrm>
            <a:off x="4482058" y="2201965"/>
            <a:ext cx="20574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dirty="0">
                <a:solidFill>
                  <a:schemeClr val="bg1"/>
                </a:solidFill>
                <a:latin typeface="Aptos" panose="020B0004020202020204" pitchFamily="34" charset="0"/>
                <a:ea typeface="Arial"/>
                <a:cs typeface="Arial"/>
              </a:rPr>
              <a:t>1,250,000</a:t>
            </a:r>
          </a:p>
        </p:txBody>
      </p:sp>
      <p:sp>
        <p:nvSpPr>
          <p:cNvPr id="17" name="Rectangle 16">
            <a:extLst>
              <a:ext uri="{FF2B5EF4-FFF2-40B4-BE49-F238E27FC236}">
                <a16:creationId xmlns:a16="http://schemas.microsoft.com/office/drawing/2014/main" id="{E9253783-E0DC-9416-1C57-2BDBABCED38E}"/>
              </a:ext>
            </a:extLst>
          </p:cNvPr>
          <p:cNvSpPr>
            <a:spLocks noGrp="1"/>
          </p:cNvSpPr>
          <p:nvPr/>
        </p:nvSpPr>
        <p:spPr>
          <a:xfrm>
            <a:off x="6653758" y="2078140"/>
            <a:ext cx="20955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18" name="text">
            <a:extLst>
              <a:ext uri="{FF2B5EF4-FFF2-40B4-BE49-F238E27FC236}">
                <a16:creationId xmlns:a16="http://schemas.microsoft.com/office/drawing/2014/main" id="{BD76E5AE-3437-044E-9D89-CBF482BDF9FE}"/>
              </a:ext>
            </a:extLst>
          </p:cNvPr>
          <p:cNvSpPr>
            <a:spLocks noGrp="1"/>
          </p:cNvSpPr>
          <p:nvPr/>
        </p:nvSpPr>
        <p:spPr>
          <a:xfrm>
            <a:off x="6768058" y="2201965"/>
            <a:ext cx="18669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$1.44</a:t>
            </a:r>
          </a:p>
        </p:txBody>
      </p:sp>
      <p:sp>
        <p:nvSpPr>
          <p:cNvPr id="21" name="Rectangle 20">
            <a:extLst>
              <a:ext uri="{FF2B5EF4-FFF2-40B4-BE49-F238E27FC236}">
                <a16:creationId xmlns:a16="http://schemas.microsoft.com/office/drawing/2014/main" id="{11B0976C-D401-682F-FE0D-92D3EB7752BB}"/>
              </a:ext>
            </a:extLst>
          </p:cNvPr>
          <p:cNvSpPr>
            <a:spLocks noGrp="1"/>
          </p:cNvSpPr>
          <p:nvPr/>
        </p:nvSpPr>
        <p:spPr>
          <a:xfrm>
            <a:off x="8749258" y="2078140"/>
            <a:ext cx="27051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26" name="text">
            <a:extLst>
              <a:ext uri="{FF2B5EF4-FFF2-40B4-BE49-F238E27FC236}">
                <a16:creationId xmlns:a16="http://schemas.microsoft.com/office/drawing/2014/main" id="{FCF1DF25-835E-2987-0AC4-9C14DBB4CCB5}"/>
              </a:ext>
            </a:extLst>
          </p:cNvPr>
          <p:cNvSpPr>
            <a:spLocks noGrp="1"/>
          </p:cNvSpPr>
          <p:nvPr/>
        </p:nvSpPr>
        <p:spPr>
          <a:xfrm>
            <a:off x="8863558" y="2201965"/>
            <a:ext cx="24765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1.0×</a:t>
            </a:r>
          </a:p>
        </p:txBody>
      </p:sp>
      <p:sp>
        <p:nvSpPr>
          <p:cNvPr id="31" name="Rectangle 30">
            <a:extLst>
              <a:ext uri="{FF2B5EF4-FFF2-40B4-BE49-F238E27FC236}">
                <a16:creationId xmlns:a16="http://schemas.microsoft.com/office/drawing/2014/main" id="{7067FB42-4CD2-3C69-664A-BCD21F4103C3}"/>
              </a:ext>
            </a:extLst>
          </p:cNvPr>
          <p:cNvSpPr>
            <a:spLocks noGrp="1"/>
          </p:cNvSpPr>
          <p:nvPr/>
        </p:nvSpPr>
        <p:spPr>
          <a:xfrm>
            <a:off x="329158" y="2706790"/>
            <a:ext cx="40386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32" name="text">
            <a:extLst>
              <a:ext uri="{FF2B5EF4-FFF2-40B4-BE49-F238E27FC236}">
                <a16:creationId xmlns:a16="http://schemas.microsoft.com/office/drawing/2014/main" id="{233D73B3-18D3-4598-28FA-33B7C204A0D4}"/>
              </a:ext>
            </a:extLst>
          </p:cNvPr>
          <p:cNvSpPr>
            <a:spLocks noGrp="1"/>
          </p:cNvSpPr>
          <p:nvPr/>
        </p:nvSpPr>
        <p:spPr>
          <a:xfrm>
            <a:off x="443458" y="2830615"/>
            <a:ext cx="3810000" cy="438150"/>
          </a:xfrm>
          <a:prstGeom prst="rect">
            <a:avLst/>
          </a:prstGeom>
          <a:noFill/>
          <a:ln w="0">
            <a:noFill/>
            <a:prstDash val="solid"/>
          </a:ln>
        </p:spPr>
        <p:txBody>
          <a:bodyPr anchor="t">
            <a:normAutofit/>
          </a:bodyPr>
          <a:lstStyle/>
          <a:p>
            <a:pPr algn="l">
              <a:buNone/>
              <a:defRPr sz="1350" b="1">
                <a:solidFill>
                  <a:srgbClr val="111111"/>
                </a:solidFill>
                <a:latin typeface="Arial"/>
                <a:ea typeface="Arial"/>
                <a:cs typeface="Arial"/>
              </a:defRPr>
            </a:pPr>
            <a:r>
              <a:rPr sz="1350" dirty="0">
                <a:solidFill>
                  <a:schemeClr val="bg1"/>
                </a:solidFill>
                <a:latin typeface="Aptos" panose="020B0004020202020204" pitchFamily="34" charset="0"/>
                <a:ea typeface="Arial"/>
                <a:cs typeface="Arial"/>
              </a:rPr>
              <a:t>50%</a:t>
            </a:r>
          </a:p>
        </p:txBody>
      </p:sp>
      <p:sp>
        <p:nvSpPr>
          <p:cNvPr id="33" name="Rectangle 32">
            <a:extLst>
              <a:ext uri="{FF2B5EF4-FFF2-40B4-BE49-F238E27FC236}">
                <a16:creationId xmlns:a16="http://schemas.microsoft.com/office/drawing/2014/main" id="{37CAAEC6-4877-54F2-6BFD-8F55854B6AA2}"/>
              </a:ext>
            </a:extLst>
          </p:cNvPr>
          <p:cNvSpPr>
            <a:spLocks noGrp="1"/>
          </p:cNvSpPr>
          <p:nvPr/>
        </p:nvSpPr>
        <p:spPr>
          <a:xfrm>
            <a:off x="4367758" y="2706790"/>
            <a:ext cx="22860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34" name="text">
            <a:extLst>
              <a:ext uri="{FF2B5EF4-FFF2-40B4-BE49-F238E27FC236}">
                <a16:creationId xmlns:a16="http://schemas.microsoft.com/office/drawing/2014/main" id="{B8BB8B78-356F-03FE-9D44-152F6DA9CD5A}"/>
              </a:ext>
            </a:extLst>
          </p:cNvPr>
          <p:cNvSpPr>
            <a:spLocks noGrp="1"/>
          </p:cNvSpPr>
          <p:nvPr/>
        </p:nvSpPr>
        <p:spPr>
          <a:xfrm>
            <a:off x="4482058" y="2830615"/>
            <a:ext cx="20574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625,000</a:t>
            </a:r>
          </a:p>
        </p:txBody>
      </p:sp>
      <p:sp>
        <p:nvSpPr>
          <p:cNvPr id="35" name="Rectangle 34">
            <a:extLst>
              <a:ext uri="{FF2B5EF4-FFF2-40B4-BE49-F238E27FC236}">
                <a16:creationId xmlns:a16="http://schemas.microsoft.com/office/drawing/2014/main" id="{52901AD0-69E3-724A-7A35-1EA1DDFA3556}"/>
              </a:ext>
            </a:extLst>
          </p:cNvPr>
          <p:cNvSpPr>
            <a:spLocks noGrp="1"/>
          </p:cNvSpPr>
          <p:nvPr/>
        </p:nvSpPr>
        <p:spPr>
          <a:xfrm>
            <a:off x="6653758" y="2706790"/>
            <a:ext cx="20955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36" name="text">
            <a:extLst>
              <a:ext uri="{FF2B5EF4-FFF2-40B4-BE49-F238E27FC236}">
                <a16:creationId xmlns:a16="http://schemas.microsoft.com/office/drawing/2014/main" id="{6D3CD196-04EE-FD3C-C270-5A726D58125B}"/>
              </a:ext>
            </a:extLst>
          </p:cNvPr>
          <p:cNvSpPr>
            <a:spLocks noGrp="1"/>
          </p:cNvSpPr>
          <p:nvPr/>
        </p:nvSpPr>
        <p:spPr>
          <a:xfrm>
            <a:off x="6768058" y="2830615"/>
            <a:ext cx="18669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$2.88</a:t>
            </a:r>
          </a:p>
        </p:txBody>
      </p:sp>
      <p:sp>
        <p:nvSpPr>
          <p:cNvPr id="37" name="Rectangle 36">
            <a:extLst>
              <a:ext uri="{FF2B5EF4-FFF2-40B4-BE49-F238E27FC236}">
                <a16:creationId xmlns:a16="http://schemas.microsoft.com/office/drawing/2014/main" id="{3CFCB17F-41BD-DFA4-A8F4-2055277F127C}"/>
              </a:ext>
            </a:extLst>
          </p:cNvPr>
          <p:cNvSpPr>
            <a:spLocks noGrp="1"/>
          </p:cNvSpPr>
          <p:nvPr/>
        </p:nvSpPr>
        <p:spPr>
          <a:xfrm>
            <a:off x="8749258" y="2706790"/>
            <a:ext cx="27051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38" name="text">
            <a:extLst>
              <a:ext uri="{FF2B5EF4-FFF2-40B4-BE49-F238E27FC236}">
                <a16:creationId xmlns:a16="http://schemas.microsoft.com/office/drawing/2014/main" id="{13BAFAD3-EC19-589C-8D76-0889708C7275}"/>
              </a:ext>
            </a:extLst>
          </p:cNvPr>
          <p:cNvSpPr>
            <a:spLocks noGrp="1"/>
          </p:cNvSpPr>
          <p:nvPr/>
        </p:nvSpPr>
        <p:spPr>
          <a:xfrm>
            <a:off x="8863558" y="2830615"/>
            <a:ext cx="24765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2.0×</a:t>
            </a:r>
          </a:p>
        </p:txBody>
      </p:sp>
      <p:sp>
        <p:nvSpPr>
          <p:cNvPr id="39" name="Rectangle 38">
            <a:extLst>
              <a:ext uri="{FF2B5EF4-FFF2-40B4-BE49-F238E27FC236}">
                <a16:creationId xmlns:a16="http://schemas.microsoft.com/office/drawing/2014/main" id="{49A08492-E44A-D276-97AA-573D215EFA9A}"/>
              </a:ext>
            </a:extLst>
          </p:cNvPr>
          <p:cNvSpPr>
            <a:spLocks noGrp="1"/>
          </p:cNvSpPr>
          <p:nvPr/>
        </p:nvSpPr>
        <p:spPr>
          <a:xfrm>
            <a:off x="329158" y="3335440"/>
            <a:ext cx="40386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40" name="text">
            <a:extLst>
              <a:ext uri="{FF2B5EF4-FFF2-40B4-BE49-F238E27FC236}">
                <a16:creationId xmlns:a16="http://schemas.microsoft.com/office/drawing/2014/main" id="{8D6293AB-199C-565E-A799-9BBEB52B46E3}"/>
              </a:ext>
            </a:extLst>
          </p:cNvPr>
          <p:cNvSpPr>
            <a:spLocks noGrp="1"/>
          </p:cNvSpPr>
          <p:nvPr/>
        </p:nvSpPr>
        <p:spPr>
          <a:xfrm>
            <a:off x="443458" y="3459265"/>
            <a:ext cx="3810000" cy="438150"/>
          </a:xfrm>
          <a:prstGeom prst="rect">
            <a:avLst/>
          </a:prstGeom>
          <a:noFill/>
          <a:ln w="0">
            <a:noFill/>
            <a:prstDash val="solid"/>
          </a:ln>
        </p:spPr>
        <p:txBody>
          <a:bodyPr anchor="t">
            <a:normAutofit/>
          </a:bodyPr>
          <a:lstStyle/>
          <a:p>
            <a:pPr algn="l">
              <a:buNone/>
              <a:defRPr sz="1350" b="1">
                <a:solidFill>
                  <a:srgbClr val="111111"/>
                </a:solidFill>
                <a:latin typeface="Arial"/>
                <a:ea typeface="Arial"/>
                <a:cs typeface="Arial"/>
              </a:defRPr>
            </a:pPr>
            <a:r>
              <a:rPr sz="1350" dirty="0">
                <a:solidFill>
                  <a:schemeClr val="bg1"/>
                </a:solidFill>
                <a:latin typeface="Aptos" panose="020B0004020202020204" pitchFamily="34" charset="0"/>
                <a:ea typeface="Arial"/>
                <a:cs typeface="Arial"/>
              </a:rPr>
              <a:t>30%</a:t>
            </a:r>
          </a:p>
        </p:txBody>
      </p:sp>
      <p:sp>
        <p:nvSpPr>
          <p:cNvPr id="41" name="Rectangle 40">
            <a:extLst>
              <a:ext uri="{FF2B5EF4-FFF2-40B4-BE49-F238E27FC236}">
                <a16:creationId xmlns:a16="http://schemas.microsoft.com/office/drawing/2014/main" id="{4BB633BF-8BE9-6CEF-933C-3F44EE42416B}"/>
              </a:ext>
            </a:extLst>
          </p:cNvPr>
          <p:cNvSpPr>
            <a:spLocks noGrp="1"/>
          </p:cNvSpPr>
          <p:nvPr/>
        </p:nvSpPr>
        <p:spPr>
          <a:xfrm>
            <a:off x="4367758" y="3335440"/>
            <a:ext cx="22860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42" name="text">
            <a:extLst>
              <a:ext uri="{FF2B5EF4-FFF2-40B4-BE49-F238E27FC236}">
                <a16:creationId xmlns:a16="http://schemas.microsoft.com/office/drawing/2014/main" id="{9D6B8DDC-7B2A-BBE0-CAF2-A948C50B5768}"/>
              </a:ext>
            </a:extLst>
          </p:cNvPr>
          <p:cNvSpPr>
            <a:spLocks noGrp="1"/>
          </p:cNvSpPr>
          <p:nvPr/>
        </p:nvSpPr>
        <p:spPr>
          <a:xfrm>
            <a:off x="4482058" y="3459265"/>
            <a:ext cx="20574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375,000</a:t>
            </a:r>
          </a:p>
        </p:txBody>
      </p:sp>
      <p:sp>
        <p:nvSpPr>
          <p:cNvPr id="43" name="Rectangle 42">
            <a:extLst>
              <a:ext uri="{FF2B5EF4-FFF2-40B4-BE49-F238E27FC236}">
                <a16:creationId xmlns:a16="http://schemas.microsoft.com/office/drawing/2014/main" id="{FEE8FAA5-88A6-8A7B-3737-F4E368E813D9}"/>
              </a:ext>
            </a:extLst>
          </p:cNvPr>
          <p:cNvSpPr>
            <a:spLocks noGrp="1"/>
          </p:cNvSpPr>
          <p:nvPr/>
        </p:nvSpPr>
        <p:spPr>
          <a:xfrm>
            <a:off x="6653758" y="3335440"/>
            <a:ext cx="20955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44" name="text">
            <a:extLst>
              <a:ext uri="{FF2B5EF4-FFF2-40B4-BE49-F238E27FC236}">
                <a16:creationId xmlns:a16="http://schemas.microsoft.com/office/drawing/2014/main" id="{C2ADB011-7038-8F31-2F34-1656AC4AF192}"/>
              </a:ext>
            </a:extLst>
          </p:cNvPr>
          <p:cNvSpPr>
            <a:spLocks noGrp="1"/>
          </p:cNvSpPr>
          <p:nvPr/>
        </p:nvSpPr>
        <p:spPr>
          <a:xfrm>
            <a:off x="6768058" y="3459265"/>
            <a:ext cx="18669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$4.80</a:t>
            </a:r>
          </a:p>
        </p:txBody>
      </p:sp>
      <p:sp>
        <p:nvSpPr>
          <p:cNvPr id="45" name="Rectangle 44">
            <a:extLst>
              <a:ext uri="{FF2B5EF4-FFF2-40B4-BE49-F238E27FC236}">
                <a16:creationId xmlns:a16="http://schemas.microsoft.com/office/drawing/2014/main" id="{6FFD6BB1-CB47-36CF-7ADD-F9100ADFF0A8}"/>
              </a:ext>
            </a:extLst>
          </p:cNvPr>
          <p:cNvSpPr>
            <a:spLocks noGrp="1"/>
          </p:cNvSpPr>
          <p:nvPr/>
        </p:nvSpPr>
        <p:spPr>
          <a:xfrm>
            <a:off x="8749258" y="3335440"/>
            <a:ext cx="27051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46" name="text">
            <a:extLst>
              <a:ext uri="{FF2B5EF4-FFF2-40B4-BE49-F238E27FC236}">
                <a16:creationId xmlns:a16="http://schemas.microsoft.com/office/drawing/2014/main" id="{3EF21FD8-1725-D2D1-2E54-A4484FC065BD}"/>
              </a:ext>
            </a:extLst>
          </p:cNvPr>
          <p:cNvSpPr>
            <a:spLocks noGrp="1"/>
          </p:cNvSpPr>
          <p:nvPr/>
        </p:nvSpPr>
        <p:spPr>
          <a:xfrm>
            <a:off x="8863558" y="3459265"/>
            <a:ext cx="24765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3.3×</a:t>
            </a:r>
          </a:p>
        </p:txBody>
      </p:sp>
      <p:sp>
        <p:nvSpPr>
          <p:cNvPr id="47" name="Rectangle 46">
            <a:extLst>
              <a:ext uri="{FF2B5EF4-FFF2-40B4-BE49-F238E27FC236}">
                <a16:creationId xmlns:a16="http://schemas.microsoft.com/office/drawing/2014/main" id="{A9C56A18-7BEA-EB89-DCE5-45314CDEF585}"/>
              </a:ext>
            </a:extLst>
          </p:cNvPr>
          <p:cNvSpPr>
            <a:spLocks noGrp="1"/>
          </p:cNvSpPr>
          <p:nvPr/>
        </p:nvSpPr>
        <p:spPr>
          <a:xfrm>
            <a:off x="329158" y="3964090"/>
            <a:ext cx="40386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48" name="text">
            <a:extLst>
              <a:ext uri="{FF2B5EF4-FFF2-40B4-BE49-F238E27FC236}">
                <a16:creationId xmlns:a16="http://schemas.microsoft.com/office/drawing/2014/main" id="{27A7DF05-AB2E-0A43-248E-DB222CCF0CEB}"/>
              </a:ext>
            </a:extLst>
          </p:cNvPr>
          <p:cNvSpPr>
            <a:spLocks noGrp="1"/>
          </p:cNvSpPr>
          <p:nvPr/>
        </p:nvSpPr>
        <p:spPr>
          <a:xfrm>
            <a:off x="443458" y="4087915"/>
            <a:ext cx="3810000" cy="438150"/>
          </a:xfrm>
          <a:prstGeom prst="rect">
            <a:avLst/>
          </a:prstGeom>
          <a:noFill/>
          <a:ln w="0">
            <a:noFill/>
            <a:prstDash val="solid"/>
          </a:ln>
        </p:spPr>
        <p:txBody>
          <a:bodyPr anchor="t">
            <a:normAutofit/>
          </a:bodyPr>
          <a:lstStyle/>
          <a:p>
            <a:pPr algn="l">
              <a:buNone/>
              <a:defRPr sz="1350" b="1">
                <a:solidFill>
                  <a:srgbClr val="111111"/>
                </a:solidFill>
                <a:latin typeface="Arial"/>
                <a:ea typeface="Arial"/>
                <a:cs typeface="Arial"/>
              </a:defRPr>
            </a:pPr>
            <a:r>
              <a:rPr sz="1350" dirty="0">
                <a:solidFill>
                  <a:schemeClr val="bg1"/>
                </a:solidFill>
                <a:latin typeface="Aptos" panose="020B0004020202020204" pitchFamily="34" charset="0"/>
                <a:ea typeface="Arial"/>
                <a:cs typeface="Arial"/>
              </a:rPr>
              <a:t>20%</a:t>
            </a:r>
          </a:p>
        </p:txBody>
      </p:sp>
      <p:sp>
        <p:nvSpPr>
          <p:cNvPr id="49" name="Rectangle 48">
            <a:extLst>
              <a:ext uri="{FF2B5EF4-FFF2-40B4-BE49-F238E27FC236}">
                <a16:creationId xmlns:a16="http://schemas.microsoft.com/office/drawing/2014/main" id="{B6F2BDF7-77E8-B1FE-49C2-FB49A22F8183}"/>
              </a:ext>
            </a:extLst>
          </p:cNvPr>
          <p:cNvSpPr>
            <a:spLocks noGrp="1"/>
          </p:cNvSpPr>
          <p:nvPr/>
        </p:nvSpPr>
        <p:spPr>
          <a:xfrm>
            <a:off x="4367758" y="3964090"/>
            <a:ext cx="22860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50" name="text">
            <a:extLst>
              <a:ext uri="{FF2B5EF4-FFF2-40B4-BE49-F238E27FC236}">
                <a16:creationId xmlns:a16="http://schemas.microsoft.com/office/drawing/2014/main" id="{5318F464-7B52-488A-28E8-76FFE7982634}"/>
              </a:ext>
            </a:extLst>
          </p:cNvPr>
          <p:cNvSpPr>
            <a:spLocks noGrp="1"/>
          </p:cNvSpPr>
          <p:nvPr/>
        </p:nvSpPr>
        <p:spPr>
          <a:xfrm>
            <a:off x="4482058" y="4087915"/>
            <a:ext cx="20574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250,000</a:t>
            </a:r>
          </a:p>
        </p:txBody>
      </p:sp>
      <p:sp>
        <p:nvSpPr>
          <p:cNvPr id="51" name="Rectangle 50">
            <a:extLst>
              <a:ext uri="{FF2B5EF4-FFF2-40B4-BE49-F238E27FC236}">
                <a16:creationId xmlns:a16="http://schemas.microsoft.com/office/drawing/2014/main" id="{2E8F446C-3069-48C7-BBCB-2739B05063D2}"/>
              </a:ext>
            </a:extLst>
          </p:cNvPr>
          <p:cNvSpPr>
            <a:spLocks noGrp="1"/>
          </p:cNvSpPr>
          <p:nvPr/>
        </p:nvSpPr>
        <p:spPr>
          <a:xfrm>
            <a:off x="6653758" y="3964090"/>
            <a:ext cx="20955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52" name="text">
            <a:extLst>
              <a:ext uri="{FF2B5EF4-FFF2-40B4-BE49-F238E27FC236}">
                <a16:creationId xmlns:a16="http://schemas.microsoft.com/office/drawing/2014/main" id="{128A1A6F-CCCB-5DF8-D756-B65F98590CCB}"/>
              </a:ext>
            </a:extLst>
          </p:cNvPr>
          <p:cNvSpPr>
            <a:spLocks noGrp="1"/>
          </p:cNvSpPr>
          <p:nvPr/>
        </p:nvSpPr>
        <p:spPr>
          <a:xfrm>
            <a:off x="6768058" y="4087915"/>
            <a:ext cx="18669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$7.20</a:t>
            </a:r>
          </a:p>
        </p:txBody>
      </p:sp>
      <p:sp>
        <p:nvSpPr>
          <p:cNvPr id="53" name="Rectangle 52">
            <a:extLst>
              <a:ext uri="{FF2B5EF4-FFF2-40B4-BE49-F238E27FC236}">
                <a16:creationId xmlns:a16="http://schemas.microsoft.com/office/drawing/2014/main" id="{6216E470-7DD5-75AD-D99B-122FACD71A85}"/>
              </a:ext>
            </a:extLst>
          </p:cNvPr>
          <p:cNvSpPr>
            <a:spLocks noGrp="1"/>
          </p:cNvSpPr>
          <p:nvPr/>
        </p:nvSpPr>
        <p:spPr>
          <a:xfrm>
            <a:off x="8749258" y="3964090"/>
            <a:ext cx="27051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54" name="text">
            <a:extLst>
              <a:ext uri="{FF2B5EF4-FFF2-40B4-BE49-F238E27FC236}">
                <a16:creationId xmlns:a16="http://schemas.microsoft.com/office/drawing/2014/main" id="{D82287FE-76A2-0340-D746-C8458848078F}"/>
              </a:ext>
            </a:extLst>
          </p:cNvPr>
          <p:cNvSpPr>
            <a:spLocks noGrp="1"/>
          </p:cNvSpPr>
          <p:nvPr/>
        </p:nvSpPr>
        <p:spPr>
          <a:xfrm>
            <a:off x="8863558" y="4087915"/>
            <a:ext cx="24765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5.0×</a:t>
            </a:r>
          </a:p>
        </p:txBody>
      </p:sp>
      <p:sp>
        <p:nvSpPr>
          <p:cNvPr id="55" name="Rectangle 54">
            <a:extLst>
              <a:ext uri="{FF2B5EF4-FFF2-40B4-BE49-F238E27FC236}">
                <a16:creationId xmlns:a16="http://schemas.microsoft.com/office/drawing/2014/main" id="{A0899226-0043-081B-EA2F-1953969D4CEE}"/>
              </a:ext>
            </a:extLst>
          </p:cNvPr>
          <p:cNvSpPr>
            <a:spLocks noGrp="1"/>
          </p:cNvSpPr>
          <p:nvPr/>
        </p:nvSpPr>
        <p:spPr>
          <a:xfrm>
            <a:off x="329158" y="4592740"/>
            <a:ext cx="40386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56" name="text">
            <a:extLst>
              <a:ext uri="{FF2B5EF4-FFF2-40B4-BE49-F238E27FC236}">
                <a16:creationId xmlns:a16="http://schemas.microsoft.com/office/drawing/2014/main" id="{214415F6-463D-A404-D45F-BCDFD4D0221E}"/>
              </a:ext>
            </a:extLst>
          </p:cNvPr>
          <p:cNvSpPr>
            <a:spLocks noGrp="1"/>
          </p:cNvSpPr>
          <p:nvPr/>
        </p:nvSpPr>
        <p:spPr>
          <a:xfrm>
            <a:off x="443458" y="4716565"/>
            <a:ext cx="3810000" cy="438150"/>
          </a:xfrm>
          <a:prstGeom prst="rect">
            <a:avLst/>
          </a:prstGeom>
          <a:noFill/>
          <a:ln w="0">
            <a:noFill/>
            <a:prstDash val="solid"/>
          </a:ln>
        </p:spPr>
        <p:txBody>
          <a:bodyPr anchor="t">
            <a:normAutofit/>
          </a:bodyPr>
          <a:lstStyle/>
          <a:p>
            <a:pPr algn="l">
              <a:buNone/>
              <a:defRPr sz="1350" b="1">
                <a:solidFill>
                  <a:srgbClr val="111111"/>
                </a:solidFill>
                <a:latin typeface="Arial"/>
                <a:ea typeface="Arial"/>
                <a:cs typeface="Arial"/>
              </a:defRPr>
            </a:pPr>
            <a:r>
              <a:rPr sz="1350">
                <a:solidFill>
                  <a:schemeClr val="bg1"/>
                </a:solidFill>
                <a:latin typeface="Aptos" panose="020B0004020202020204" pitchFamily="34" charset="0"/>
                <a:ea typeface="Arial"/>
                <a:cs typeface="Arial"/>
              </a:rPr>
              <a:t>10%</a:t>
            </a:r>
          </a:p>
        </p:txBody>
      </p:sp>
      <p:sp>
        <p:nvSpPr>
          <p:cNvPr id="57" name="Rectangle 56">
            <a:extLst>
              <a:ext uri="{FF2B5EF4-FFF2-40B4-BE49-F238E27FC236}">
                <a16:creationId xmlns:a16="http://schemas.microsoft.com/office/drawing/2014/main" id="{DDF56621-F266-5915-3650-057898E65BB7}"/>
              </a:ext>
            </a:extLst>
          </p:cNvPr>
          <p:cNvSpPr>
            <a:spLocks noGrp="1"/>
          </p:cNvSpPr>
          <p:nvPr/>
        </p:nvSpPr>
        <p:spPr>
          <a:xfrm>
            <a:off x="4367758" y="4592740"/>
            <a:ext cx="22860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58" name="text">
            <a:extLst>
              <a:ext uri="{FF2B5EF4-FFF2-40B4-BE49-F238E27FC236}">
                <a16:creationId xmlns:a16="http://schemas.microsoft.com/office/drawing/2014/main" id="{4D2AE23C-8933-7201-C741-D4FBFE1E704C}"/>
              </a:ext>
            </a:extLst>
          </p:cNvPr>
          <p:cNvSpPr>
            <a:spLocks noGrp="1"/>
          </p:cNvSpPr>
          <p:nvPr/>
        </p:nvSpPr>
        <p:spPr>
          <a:xfrm>
            <a:off x="4482058" y="4716565"/>
            <a:ext cx="20574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125,000</a:t>
            </a:r>
          </a:p>
        </p:txBody>
      </p:sp>
      <p:sp>
        <p:nvSpPr>
          <p:cNvPr id="59" name="Rectangle 58">
            <a:extLst>
              <a:ext uri="{FF2B5EF4-FFF2-40B4-BE49-F238E27FC236}">
                <a16:creationId xmlns:a16="http://schemas.microsoft.com/office/drawing/2014/main" id="{0903C06E-6805-4D40-4CDC-FF1F56254951}"/>
              </a:ext>
            </a:extLst>
          </p:cNvPr>
          <p:cNvSpPr>
            <a:spLocks noGrp="1"/>
          </p:cNvSpPr>
          <p:nvPr/>
        </p:nvSpPr>
        <p:spPr>
          <a:xfrm>
            <a:off x="6653758" y="4592740"/>
            <a:ext cx="20955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60" name="text">
            <a:extLst>
              <a:ext uri="{FF2B5EF4-FFF2-40B4-BE49-F238E27FC236}">
                <a16:creationId xmlns:a16="http://schemas.microsoft.com/office/drawing/2014/main" id="{8E0EDDE4-7847-1110-E301-F14BBC50D715}"/>
              </a:ext>
            </a:extLst>
          </p:cNvPr>
          <p:cNvSpPr>
            <a:spLocks noGrp="1"/>
          </p:cNvSpPr>
          <p:nvPr/>
        </p:nvSpPr>
        <p:spPr>
          <a:xfrm>
            <a:off x="6768058" y="4716565"/>
            <a:ext cx="1866900" cy="438150"/>
          </a:xfrm>
          <a:prstGeom prst="rect">
            <a:avLst/>
          </a:prstGeom>
          <a:noFill/>
          <a:ln w="0">
            <a:noFill/>
            <a:prstDash val="solid"/>
          </a:ln>
        </p:spPr>
        <p:txBody>
          <a:bodyPr anchor="t">
            <a:normAutofit/>
          </a:bodyPr>
          <a:lstStyle/>
          <a:p>
            <a:pPr algn="l">
              <a:buNone/>
              <a:defRPr sz="1350" b="0">
                <a:solidFill>
                  <a:srgbClr val="111111"/>
                </a:solidFill>
                <a:latin typeface="Arial"/>
                <a:ea typeface="Arial"/>
                <a:cs typeface="Arial"/>
              </a:defRPr>
            </a:pPr>
            <a:r>
              <a:rPr sz="1350" b="1">
                <a:solidFill>
                  <a:schemeClr val="bg1"/>
                </a:solidFill>
                <a:latin typeface="Aptos" panose="020B0004020202020204" pitchFamily="34" charset="0"/>
                <a:ea typeface="Arial"/>
                <a:cs typeface="Arial"/>
              </a:rPr>
              <a:t>$14.40</a:t>
            </a:r>
          </a:p>
        </p:txBody>
      </p:sp>
      <p:sp>
        <p:nvSpPr>
          <p:cNvPr id="61" name="Rectangle 60">
            <a:extLst>
              <a:ext uri="{FF2B5EF4-FFF2-40B4-BE49-F238E27FC236}">
                <a16:creationId xmlns:a16="http://schemas.microsoft.com/office/drawing/2014/main" id="{5B02C56C-DBE3-554C-0DF4-CD4D6B08538D}"/>
              </a:ext>
            </a:extLst>
          </p:cNvPr>
          <p:cNvSpPr>
            <a:spLocks noGrp="1"/>
          </p:cNvSpPr>
          <p:nvPr/>
        </p:nvSpPr>
        <p:spPr>
          <a:xfrm>
            <a:off x="8749258" y="4592740"/>
            <a:ext cx="2705100" cy="628650"/>
          </a:xfrm>
          <a:prstGeom prst="rect">
            <a:avLst/>
          </a:prstGeom>
          <a:noFill/>
          <a:ln w="6668">
            <a:solidFill>
              <a:schemeClr val="tx1"/>
            </a:solidFill>
            <a:prstDash val="solid"/>
          </a:ln>
        </p:spPr>
        <p:txBody>
          <a:bodyPr/>
          <a:lstStyle/>
          <a:p>
            <a:endParaRPr lang="en-US">
              <a:latin typeface="Aptos" panose="020B0004020202020204" pitchFamily="34" charset="0"/>
            </a:endParaRPr>
          </a:p>
        </p:txBody>
      </p:sp>
      <p:sp>
        <p:nvSpPr>
          <p:cNvPr id="62" name="text">
            <a:extLst>
              <a:ext uri="{FF2B5EF4-FFF2-40B4-BE49-F238E27FC236}">
                <a16:creationId xmlns:a16="http://schemas.microsoft.com/office/drawing/2014/main" id="{FB09901B-AC3D-4E9A-3A36-2232DABE6A35}"/>
              </a:ext>
            </a:extLst>
          </p:cNvPr>
          <p:cNvSpPr>
            <a:spLocks noGrp="1"/>
          </p:cNvSpPr>
          <p:nvPr/>
        </p:nvSpPr>
        <p:spPr>
          <a:xfrm>
            <a:off x="8863558" y="4716565"/>
            <a:ext cx="2476500" cy="438150"/>
          </a:xfrm>
          <a:prstGeom prst="rect">
            <a:avLst/>
          </a:prstGeom>
          <a:noFill/>
          <a:ln w="0">
            <a:noFill/>
            <a:prstDash val="solid"/>
          </a:ln>
        </p:spPr>
        <p:txBody>
          <a:bodyPr anchor="t">
            <a:normAutofit/>
          </a:bodyPr>
          <a:lstStyle/>
          <a:p>
            <a:pPr algn="l">
              <a:buNone/>
              <a:defRPr sz="1350" b="1">
                <a:solidFill>
                  <a:srgbClr val="D94C4C"/>
                </a:solidFill>
                <a:latin typeface="Arial"/>
                <a:ea typeface="Arial"/>
                <a:cs typeface="Arial"/>
              </a:defRPr>
            </a:pPr>
            <a:r>
              <a:rPr sz="1350">
                <a:solidFill>
                  <a:srgbClr val="D94C4C"/>
                </a:solidFill>
                <a:latin typeface="Aptos" panose="020B0004020202020204" pitchFamily="34" charset="0"/>
                <a:ea typeface="Arial"/>
                <a:cs typeface="Arial"/>
              </a:rPr>
              <a:t>10.0×</a:t>
            </a:r>
          </a:p>
        </p:txBody>
      </p:sp>
      <p:sp>
        <p:nvSpPr>
          <p:cNvPr id="66" name="Rounded Rectangle 65">
            <a:extLst>
              <a:ext uri="{FF2B5EF4-FFF2-40B4-BE49-F238E27FC236}">
                <a16:creationId xmlns:a16="http://schemas.microsoft.com/office/drawing/2014/main" id="{71B12AC0-2302-B0EF-2228-9CA5E43A6FF6}"/>
              </a:ext>
            </a:extLst>
          </p:cNvPr>
          <p:cNvSpPr/>
          <p:nvPr/>
        </p:nvSpPr>
        <p:spPr>
          <a:xfrm>
            <a:off x="311191" y="5497012"/>
            <a:ext cx="11569617" cy="70605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15EB0081-7BC5-B782-D2C6-05E05B53D702}"/>
              </a:ext>
            </a:extLst>
          </p:cNvPr>
          <p:cNvSpPr txBox="1"/>
          <p:nvPr/>
        </p:nvSpPr>
        <p:spPr>
          <a:xfrm>
            <a:off x="520084" y="5676163"/>
            <a:ext cx="2005452" cy="307777"/>
          </a:xfrm>
          <a:prstGeom prst="rect">
            <a:avLst/>
          </a:prstGeom>
          <a:noFill/>
        </p:spPr>
        <p:txBody>
          <a:bodyPr wrap="square" rtlCol="0">
            <a:spAutoFit/>
          </a:bodyPr>
          <a:lstStyle/>
          <a:p>
            <a:r>
              <a:rPr lang="en-US" sz="1400" b="1" dirty="0">
                <a:solidFill>
                  <a:schemeClr val="accent6"/>
                </a:solidFill>
                <a:latin typeface="Aptos" panose="020B0004020202020204" pitchFamily="34" charset="0"/>
              </a:rPr>
              <a:t>Assumption</a:t>
            </a:r>
            <a:endParaRPr lang="en-US" sz="1600" b="1" dirty="0">
              <a:solidFill>
                <a:schemeClr val="accent6"/>
              </a:solidFill>
              <a:latin typeface="Aptos" panose="020B0004020202020204" pitchFamily="34" charset="0"/>
            </a:endParaRPr>
          </a:p>
        </p:txBody>
      </p:sp>
      <p:sp>
        <p:nvSpPr>
          <p:cNvPr id="68" name="TextBox 67">
            <a:extLst>
              <a:ext uri="{FF2B5EF4-FFF2-40B4-BE49-F238E27FC236}">
                <a16:creationId xmlns:a16="http://schemas.microsoft.com/office/drawing/2014/main" id="{1A37448B-CADD-C57E-EE10-DFF7F60F9446}"/>
              </a:ext>
            </a:extLst>
          </p:cNvPr>
          <p:cNvSpPr txBox="1"/>
          <p:nvPr/>
        </p:nvSpPr>
        <p:spPr>
          <a:xfrm>
            <a:off x="2144002" y="5691551"/>
            <a:ext cx="9248112" cy="276999"/>
          </a:xfrm>
          <a:prstGeom prst="rect">
            <a:avLst/>
          </a:prstGeom>
          <a:noFill/>
        </p:spPr>
        <p:txBody>
          <a:bodyPr wrap="square" rtlCol="0">
            <a:spAutoFit/>
          </a:bodyPr>
          <a:lstStyle/>
          <a:p>
            <a:r>
              <a:rPr lang="en-US" sz="1200" dirty="0">
                <a:solidFill>
                  <a:schemeClr val="bg2">
                    <a:lumMod val="20000"/>
                    <a:lumOff val="80000"/>
                  </a:schemeClr>
                </a:solidFill>
                <a:latin typeface="Aptos" panose="020B0004020202020204" pitchFamily="34" charset="0"/>
              </a:rPr>
              <a:t>The full $1.80M recovery comes from affected orders; total orders stay at 1.25M and elasticity is not modeled.</a:t>
            </a:r>
          </a:p>
        </p:txBody>
      </p:sp>
    </p:spTree>
    <p:extLst>
      <p:ext uri="{BB962C8B-B14F-4D97-AF65-F5344CB8AC3E}">
        <p14:creationId xmlns:p14="http://schemas.microsoft.com/office/powerpoint/2010/main" val="5311581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5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500"/>
                                        <p:tgtEl>
                                          <p:spTgt spid="3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500"/>
                                        <p:tgtEl>
                                          <p:spTgt spid="3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500"/>
                                        <p:tgtEl>
                                          <p:spTgt spid="3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500"/>
                                        <p:tgtEl>
                                          <p:spTgt spid="4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fade">
                                      <p:cBhvr>
                                        <p:cTn id="90" dur="500"/>
                                        <p:tgtEl>
                                          <p:spTgt spid="4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fade">
                                      <p:cBhvr>
                                        <p:cTn id="93" dur="500"/>
                                        <p:tgtEl>
                                          <p:spTgt spid="4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fade">
                                      <p:cBhvr>
                                        <p:cTn id="96" dur="500"/>
                                        <p:tgtEl>
                                          <p:spTgt spid="4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fade">
                                      <p:cBhvr>
                                        <p:cTn id="99" dur="500"/>
                                        <p:tgtEl>
                                          <p:spTgt spid="4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500"/>
                                        <p:tgtEl>
                                          <p:spTgt spid="4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500"/>
                                        <p:tgtEl>
                                          <p:spTgt spid="4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7"/>
                                        </p:tgtEl>
                                        <p:attrNameLst>
                                          <p:attrName>style.visibility</p:attrName>
                                        </p:attrNameLst>
                                      </p:cBhvr>
                                      <p:to>
                                        <p:strVal val="visible"/>
                                      </p:to>
                                    </p:set>
                                    <p:animEffect transition="in" filter="fade">
                                      <p:cBhvr>
                                        <p:cTn id="108" dur="500"/>
                                        <p:tgtEl>
                                          <p:spTgt spid="4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8"/>
                                        </p:tgtEl>
                                        <p:attrNameLst>
                                          <p:attrName>style.visibility</p:attrName>
                                        </p:attrNameLst>
                                      </p:cBhvr>
                                      <p:to>
                                        <p:strVal val="visible"/>
                                      </p:to>
                                    </p:set>
                                    <p:animEffect transition="in" filter="fade">
                                      <p:cBhvr>
                                        <p:cTn id="111" dur="500"/>
                                        <p:tgtEl>
                                          <p:spTgt spid="4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9"/>
                                        </p:tgtEl>
                                        <p:attrNameLst>
                                          <p:attrName>style.visibility</p:attrName>
                                        </p:attrNameLst>
                                      </p:cBhvr>
                                      <p:to>
                                        <p:strVal val="visible"/>
                                      </p:to>
                                    </p:set>
                                    <p:animEffect transition="in" filter="fade">
                                      <p:cBhvr>
                                        <p:cTn id="114" dur="500"/>
                                        <p:tgtEl>
                                          <p:spTgt spid="4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0"/>
                                        </p:tgtEl>
                                        <p:attrNameLst>
                                          <p:attrName>style.visibility</p:attrName>
                                        </p:attrNameLst>
                                      </p:cBhvr>
                                      <p:to>
                                        <p:strVal val="visible"/>
                                      </p:to>
                                    </p:set>
                                    <p:animEffect transition="in" filter="fade">
                                      <p:cBhvr>
                                        <p:cTn id="117" dur="500"/>
                                        <p:tgtEl>
                                          <p:spTgt spid="5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fade">
                                      <p:cBhvr>
                                        <p:cTn id="120" dur="500"/>
                                        <p:tgtEl>
                                          <p:spTgt spid="51"/>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animEffect transition="in" filter="fade">
                                      <p:cBhvr>
                                        <p:cTn id="123" dur="500"/>
                                        <p:tgtEl>
                                          <p:spTgt spid="52"/>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fade">
                                      <p:cBhvr>
                                        <p:cTn id="126" dur="500"/>
                                        <p:tgtEl>
                                          <p:spTgt spid="53"/>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fade">
                                      <p:cBhvr>
                                        <p:cTn id="129" dur="500"/>
                                        <p:tgtEl>
                                          <p:spTgt spid="54"/>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5"/>
                                        </p:tgtEl>
                                        <p:attrNameLst>
                                          <p:attrName>style.visibility</p:attrName>
                                        </p:attrNameLst>
                                      </p:cBhvr>
                                      <p:to>
                                        <p:strVal val="visible"/>
                                      </p:to>
                                    </p:set>
                                    <p:animEffect transition="in" filter="fade">
                                      <p:cBhvr>
                                        <p:cTn id="132" dur="500"/>
                                        <p:tgtEl>
                                          <p:spTgt spid="55"/>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56"/>
                                        </p:tgtEl>
                                        <p:attrNameLst>
                                          <p:attrName>style.visibility</p:attrName>
                                        </p:attrNameLst>
                                      </p:cBhvr>
                                      <p:to>
                                        <p:strVal val="visible"/>
                                      </p:to>
                                    </p:set>
                                    <p:animEffect transition="in" filter="fade">
                                      <p:cBhvr>
                                        <p:cTn id="135" dur="500"/>
                                        <p:tgtEl>
                                          <p:spTgt spid="56"/>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7"/>
                                        </p:tgtEl>
                                        <p:attrNameLst>
                                          <p:attrName>style.visibility</p:attrName>
                                        </p:attrNameLst>
                                      </p:cBhvr>
                                      <p:to>
                                        <p:strVal val="visible"/>
                                      </p:to>
                                    </p:set>
                                    <p:animEffect transition="in" filter="fade">
                                      <p:cBhvr>
                                        <p:cTn id="138" dur="500"/>
                                        <p:tgtEl>
                                          <p:spTgt spid="57"/>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8"/>
                                        </p:tgtEl>
                                        <p:attrNameLst>
                                          <p:attrName>style.visibility</p:attrName>
                                        </p:attrNameLst>
                                      </p:cBhvr>
                                      <p:to>
                                        <p:strVal val="visible"/>
                                      </p:to>
                                    </p:set>
                                    <p:animEffect transition="in" filter="fade">
                                      <p:cBhvr>
                                        <p:cTn id="141" dur="500"/>
                                        <p:tgtEl>
                                          <p:spTgt spid="58"/>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9"/>
                                        </p:tgtEl>
                                        <p:attrNameLst>
                                          <p:attrName>style.visibility</p:attrName>
                                        </p:attrNameLst>
                                      </p:cBhvr>
                                      <p:to>
                                        <p:strVal val="visible"/>
                                      </p:to>
                                    </p:set>
                                    <p:animEffect transition="in" filter="fade">
                                      <p:cBhvr>
                                        <p:cTn id="144" dur="500"/>
                                        <p:tgtEl>
                                          <p:spTgt spid="59"/>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60"/>
                                        </p:tgtEl>
                                        <p:attrNameLst>
                                          <p:attrName>style.visibility</p:attrName>
                                        </p:attrNameLst>
                                      </p:cBhvr>
                                      <p:to>
                                        <p:strVal val="visible"/>
                                      </p:to>
                                    </p:set>
                                    <p:animEffect transition="in" filter="fade">
                                      <p:cBhvr>
                                        <p:cTn id="147" dur="500"/>
                                        <p:tgtEl>
                                          <p:spTgt spid="60"/>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61"/>
                                        </p:tgtEl>
                                        <p:attrNameLst>
                                          <p:attrName>style.visibility</p:attrName>
                                        </p:attrNameLst>
                                      </p:cBhvr>
                                      <p:to>
                                        <p:strVal val="visible"/>
                                      </p:to>
                                    </p:set>
                                    <p:animEffect transition="in" filter="fade">
                                      <p:cBhvr>
                                        <p:cTn id="150" dur="500"/>
                                        <p:tgtEl>
                                          <p:spTgt spid="61"/>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2"/>
                                        </p:tgtEl>
                                        <p:attrNameLst>
                                          <p:attrName>style.visibility</p:attrName>
                                        </p:attrNameLst>
                                      </p:cBhvr>
                                      <p:to>
                                        <p:strVal val="visible"/>
                                      </p:to>
                                    </p:set>
                                    <p:animEffect transition="in" filter="fade">
                                      <p:cBhvr>
                                        <p:cTn id="153" dur="500"/>
                                        <p:tgtEl>
                                          <p:spTgt spid="62"/>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66"/>
                                        </p:tgtEl>
                                        <p:attrNameLst>
                                          <p:attrName>style.visibility</p:attrName>
                                        </p:attrNameLst>
                                      </p:cBhvr>
                                      <p:to>
                                        <p:strVal val="visible"/>
                                      </p:to>
                                    </p:set>
                                    <p:animEffect transition="in" filter="fade">
                                      <p:cBhvr>
                                        <p:cTn id="158" dur="500"/>
                                        <p:tgtEl>
                                          <p:spTgt spid="66"/>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67"/>
                                        </p:tgtEl>
                                        <p:attrNameLst>
                                          <p:attrName>style.visibility</p:attrName>
                                        </p:attrNameLst>
                                      </p:cBhvr>
                                      <p:to>
                                        <p:strVal val="visible"/>
                                      </p:to>
                                    </p:set>
                                    <p:animEffect transition="in" filter="fade">
                                      <p:cBhvr>
                                        <p:cTn id="161" dur="500"/>
                                        <p:tgtEl>
                                          <p:spTgt spid="67"/>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68"/>
                                        </p:tgtEl>
                                        <p:attrNameLst>
                                          <p:attrName>style.visibility</p:attrName>
                                        </p:attrNameLst>
                                      </p:cBhvr>
                                      <p:to>
                                        <p:strVal val="visible"/>
                                      </p:to>
                                    </p:set>
                                    <p:animEffect transition="in" filter="fade">
                                      <p:cBhvr>
                                        <p:cTn id="164" dur="500"/>
                                        <p:tgtEl>
                                          <p:spTgt spid="68"/>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28"/>
                                        </p:tgtEl>
                                        <p:attrNameLst>
                                          <p:attrName>style.visibility</p:attrName>
                                        </p:attrNameLst>
                                      </p:cBhvr>
                                      <p:to>
                                        <p:strVal val="visible"/>
                                      </p:to>
                                    </p:set>
                                    <p:animEffect transition="in" filter="fade">
                                      <p:cBhvr>
                                        <p:cTn id="16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 grpId="0"/>
      <p:bldP spid="4" grpId="0" animBg="1"/>
      <p:bldP spid="5" grpId="0"/>
      <p:bldP spid="6" grpId="0" animBg="1"/>
      <p:bldP spid="7" grpId="0"/>
      <p:bldP spid="8" grpId="0" animBg="1"/>
      <p:bldP spid="9" grpId="0"/>
      <p:bldP spid="11" grpId="0" animBg="1"/>
      <p:bldP spid="12" grpId="0"/>
      <p:bldP spid="13" grpId="0" animBg="1"/>
      <p:bldP spid="14" grpId="0"/>
      <p:bldP spid="15" grpId="0" animBg="1"/>
      <p:bldP spid="16" grpId="0"/>
      <p:bldP spid="17" grpId="0" animBg="1"/>
      <p:bldP spid="18" grpId="0"/>
      <p:bldP spid="21" grpId="0" animBg="1"/>
      <p:bldP spid="26" grpId="0"/>
      <p:bldP spid="31" grpId="0" animBg="1"/>
      <p:bldP spid="32" grpId="0"/>
      <p:bldP spid="33" grpId="0" animBg="1"/>
      <p:bldP spid="34" grpId="0"/>
      <p:bldP spid="35" grpId="0" animBg="1"/>
      <p:bldP spid="36" grpId="0"/>
      <p:bldP spid="37" grpId="0" animBg="1"/>
      <p:bldP spid="38" grpId="0"/>
      <p:bldP spid="39" grpId="0" animBg="1"/>
      <p:bldP spid="40" grpId="0"/>
      <p:bldP spid="41" grpId="0" animBg="1"/>
      <p:bldP spid="42" grpId="0"/>
      <p:bldP spid="43" grpId="0" animBg="1"/>
      <p:bldP spid="44" grpId="0"/>
      <p:bldP spid="45" grpId="0" animBg="1"/>
      <p:bldP spid="46" grpId="0"/>
      <p:bldP spid="47" grpId="0" animBg="1"/>
      <p:bldP spid="48" grpId="0"/>
      <p:bldP spid="49" grpId="0" animBg="1"/>
      <p:bldP spid="50" grpId="0"/>
      <p:bldP spid="51" grpId="0" animBg="1"/>
      <p:bldP spid="52" grpId="0"/>
      <p:bldP spid="53" grpId="0" animBg="1"/>
      <p:bldP spid="54" grpId="0"/>
      <p:bldP spid="55" grpId="0" animBg="1"/>
      <p:bldP spid="56" grpId="0"/>
      <p:bldP spid="57" grpId="0" animBg="1"/>
      <p:bldP spid="58" grpId="0"/>
      <p:bldP spid="59" grpId="0" animBg="1"/>
      <p:bldP spid="60" grpId="0"/>
      <p:bldP spid="61" grpId="0" animBg="1"/>
      <p:bldP spid="62" grpId="0"/>
      <p:bldP spid="66" grpId="0" animBg="1"/>
      <p:bldP spid="67" grpId="0"/>
      <p:bldP spid="6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87446281-8070-EB77-A350-997517E29B3A}"/>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E9B4C92D-204D-DBDC-EBB0-2A59BDEA7911}"/>
              </a:ext>
            </a:extLst>
          </p:cNvPr>
          <p:cNvGrpSpPr/>
          <p:nvPr/>
        </p:nvGrpSpPr>
        <p:grpSpPr>
          <a:xfrm>
            <a:off x="1286118" y="3054610"/>
            <a:ext cx="2087563" cy="1063625"/>
            <a:chOff x="1644650" y="3376613"/>
            <a:chExt cx="2087563" cy="1063625"/>
          </a:xfrm>
        </p:grpSpPr>
        <p:sp>
          <p:nvSpPr>
            <p:cNvPr id="33" name="Freeform 7">
              <a:extLst>
                <a:ext uri="{FF2B5EF4-FFF2-40B4-BE49-F238E27FC236}">
                  <a16:creationId xmlns:a16="http://schemas.microsoft.com/office/drawing/2014/main" id="{E54980E4-FE0C-14E9-65FD-91C098F8121E}"/>
                </a:ext>
              </a:extLst>
            </p:cNvPr>
            <p:cNvSpPr>
              <a:spLocks noEditPoints="1"/>
            </p:cNvSpPr>
            <p:nvPr/>
          </p:nvSpPr>
          <p:spPr bwMode="auto">
            <a:xfrm>
              <a:off x="1679575" y="3411538"/>
              <a:ext cx="2006600" cy="1028700"/>
            </a:xfrm>
            <a:custGeom>
              <a:avLst/>
              <a:gdLst>
                <a:gd name="T0" fmla="*/ 524 w 527"/>
                <a:gd name="T1" fmla="*/ 42 h 270"/>
                <a:gd name="T2" fmla="*/ 527 w 527"/>
                <a:gd name="T3" fmla="*/ 48 h 270"/>
                <a:gd name="T4" fmla="*/ 279 w 527"/>
                <a:gd name="T5" fmla="*/ 265 h 270"/>
                <a:gd name="T6" fmla="*/ 254 w 527"/>
                <a:gd name="T7" fmla="*/ 270 h 270"/>
                <a:gd name="T8" fmla="*/ 249 w 527"/>
                <a:gd name="T9" fmla="*/ 265 h 270"/>
                <a:gd name="T10" fmla="*/ 299 w 527"/>
                <a:gd name="T11" fmla="*/ 263 h 270"/>
                <a:gd name="T12" fmla="*/ 235 w 527"/>
                <a:gd name="T13" fmla="*/ 268 h 270"/>
                <a:gd name="T14" fmla="*/ 234 w 527"/>
                <a:gd name="T15" fmla="*/ 268 h 270"/>
                <a:gd name="T16" fmla="*/ 319 w 527"/>
                <a:gd name="T17" fmla="*/ 260 h 270"/>
                <a:gd name="T18" fmla="*/ 220 w 527"/>
                <a:gd name="T19" fmla="*/ 261 h 270"/>
                <a:gd name="T20" fmla="*/ 215 w 527"/>
                <a:gd name="T21" fmla="*/ 265 h 270"/>
                <a:gd name="T22" fmla="*/ 338 w 527"/>
                <a:gd name="T23" fmla="*/ 255 h 270"/>
                <a:gd name="T24" fmla="*/ 196 w 527"/>
                <a:gd name="T25" fmla="*/ 261 h 270"/>
                <a:gd name="T26" fmla="*/ 194 w 527"/>
                <a:gd name="T27" fmla="*/ 261 h 270"/>
                <a:gd name="T28" fmla="*/ 354 w 527"/>
                <a:gd name="T29" fmla="*/ 255 h 270"/>
                <a:gd name="T30" fmla="*/ 177 w 527"/>
                <a:gd name="T31" fmla="*/ 255 h 270"/>
                <a:gd name="T32" fmla="*/ 172 w 527"/>
                <a:gd name="T33" fmla="*/ 248 h 270"/>
                <a:gd name="T34" fmla="*/ 373 w 527"/>
                <a:gd name="T35" fmla="*/ 248 h 270"/>
                <a:gd name="T36" fmla="*/ 371 w 527"/>
                <a:gd name="T37" fmla="*/ 248 h 270"/>
                <a:gd name="T38" fmla="*/ 154 w 527"/>
                <a:gd name="T39" fmla="*/ 240 h 270"/>
                <a:gd name="T40" fmla="*/ 391 w 527"/>
                <a:gd name="T41" fmla="*/ 239 h 270"/>
                <a:gd name="T42" fmla="*/ 384 w 527"/>
                <a:gd name="T43" fmla="*/ 237 h 270"/>
                <a:gd name="T44" fmla="*/ 143 w 527"/>
                <a:gd name="T45" fmla="*/ 229 h 270"/>
                <a:gd name="T46" fmla="*/ 408 w 527"/>
                <a:gd name="T47" fmla="*/ 228 h 270"/>
                <a:gd name="T48" fmla="*/ 406 w 527"/>
                <a:gd name="T49" fmla="*/ 229 h 270"/>
                <a:gd name="T50" fmla="*/ 119 w 527"/>
                <a:gd name="T51" fmla="*/ 221 h 270"/>
                <a:gd name="T52" fmla="*/ 425 w 527"/>
                <a:gd name="T53" fmla="*/ 217 h 270"/>
                <a:gd name="T54" fmla="*/ 107 w 527"/>
                <a:gd name="T55" fmla="*/ 217 h 270"/>
                <a:gd name="T56" fmla="*/ 103 w 527"/>
                <a:gd name="T57" fmla="*/ 209 h 270"/>
                <a:gd name="T58" fmla="*/ 441 w 527"/>
                <a:gd name="T59" fmla="*/ 197 h 270"/>
                <a:gd name="T60" fmla="*/ 92 w 527"/>
                <a:gd name="T61" fmla="*/ 204 h 270"/>
                <a:gd name="T62" fmla="*/ 88 w 527"/>
                <a:gd name="T63" fmla="*/ 203 h 270"/>
                <a:gd name="T64" fmla="*/ 455 w 527"/>
                <a:gd name="T65" fmla="*/ 190 h 270"/>
                <a:gd name="T66" fmla="*/ 77 w 527"/>
                <a:gd name="T67" fmla="*/ 190 h 270"/>
                <a:gd name="T68" fmla="*/ 74 w 527"/>
                <a:gd name="T69" fmla="*/ 182 h 270"/>
                <a:gd name="T70" fmla="*/ 468 w 527"/>
                <a:gd name="T71" fmla="*/ 168 h 270"/>
                <a:gd name="T72" fmla="*/ 64 w 527"/>
                <a:gd name="T73" fmla="*/ 175 h 270"/>
                <a:gd name="T74" fmla="*/ 60 w 527"/>
                <a:gd name="T75" fmla="*/ 174 h 270"/>
                <a:gd name="T76" fmla="*/ 481 w 527"/>
                <a:gd name="T77" fmla="*/ 159 h 270"/>
                <a:gd name="T78" fmla="*/ 52 w 527"/>
                <a:gd name="T79" fmla="*/ 160 h 270"/>
                <a:gd name="T80" fmla="*/ 49 w 527"/>
                <a:gd name="T81" fmla="*/ 151 h 270"/>
                <a:gd name="T82" fmla="*/ 492 w 527"/>
                <a:gd name="T83" fmla="*/ 142 h 270"/>
                <a:gd name="T84" fmla="*/ 488 w 527"/>
                <a:gd name="T85" fmla="*/ 144 h 270"/>
                <a:gd name="T86" fmla="*/ 39 w 527"/>
                <a:gd name="T87" fmla="*/ 134 h 270"/>
                <a:gd name="T88" fmla="*/ 502 w 527"/>
                <a:gd name="T89" fmla="*/ 124 h 270"/>
                <a:gd name="T90" fmla="*/ 32 w 527"/>
                <a:gd name="T91" fmla="*/ 126 h 270"/>
                <a:gd name="T92" fmla="*/ 30 w 527"/>
                <a:gd name="T93" fmla="*/ 116 h 270"/>
                <a:gd name="T94" fmla="*/ 508 w 527"/>
                <a:gd name="T95" fmla="*/ 99 h 270"/>
                <a:gd name="T96" fmla="*/ 24 w 527"/>
                <a:gd name="T97" fmla="*/ 107 h 270"/>
                <a:gd name="T98" fmla="*/ 19 w 527"/>
                <a:gd name="T99" fmla="*/ 104 h 270"/>
                <a:gd name="T100" fmla="*/ 518 w 527"/>
                <a:gd name="T101" fmla="*/ 87 h 270"/>
                <a:gd name="T102" fmla="*/ 17 w 527"/>
                <a:gd name="T103" fmla="*/ 89 h 270"/>
                <a:gd name="T104" fmla="*/ 15 w 527"/>
                <a:gd name="T105" fmla="*/ 79 h 270"/>
                <a:gd name="T106" fmla="*/ 523 w 527"/>
                <a:gd name="T107" fmla="*/ 67 h 270"/>
                <a:gd name="T108" fmla="*/ 513 w 527"/>
                <a:gd name="T109" fmla="*/ 65 h 270"/>
                <a:gd name="T110" fmla="*/ 17 w 527"/>
                <a:gd name="T111" fmla="*/ 63 h 270"/>
                <a:gd name="T112" fmla="*/ 12 w 527"/>
                <a:gd name="T113" fmla="*/ 70 h 270"/>
                <a:gd name="T114" fmla="*/ 7 w 527"/>
                <a:gd name="T115" fmla="*/ 40 h 270"/>
                <a:gd name="T116" fmla="*/ 6 w 527"/>
                <a:gd name="T117" fmla="*/ 30 h 270"/>
                <a:gd name="T118" fmla="*/ 7 w 527"/>
                <a:gd name="T119" fmla="*/ 10 h 270"/>
                <a:gd name="T120" fmla="*/ 8 w 527"/>
                <a:gd name="T121" fmla="*/ 1 h 270"/>
                <a:gd name="T122" fmla="*/ 1 w 527"/>
                <a:gd name="T123" fmla="*/ 1 h 270"/>
                <a:gd name="T124" fmla="*/ 3 w 527"/>
                <a:gd name="T125" fmla="*/ 1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27" h="270">
                  <a:moveTo>
                    <a:pt x="522" y="51"/>
                  </a:moveTo>
                  <a:cubicBezTo>
                    <a:pt x="521" y="51"/>
                    <a:pt x="520" y="51"/>
                    <a:pt x="519" y="50"/>
                  </a:cubicBezTo>
                  <a:cubicBezTo>
                    <a:pt x="518" y="49"/>
                    <a:pt x="518" y="49"/>
                    <a:pt x="518" y="48"/>
                  </a:cubicBezTo>
                  <a:cubicBezTo>
                    <a:pt x="517" y="48"/>
                    <a:pt x="517" y="47"/>
                    <a:pt x="517" y="46"/>
                  </a:cubicBezTo>
                  <a:cubicBezTo>
                    <a:pt x="517" y="45"/>
                    <a:pt x="518" y="44"/>
                    <a:pt x="519" y="43"/>
                  </a:cubicBezTo>
                  <a:cubicBezTo>
                    <a:pt x="520" y="42"/>
                    <a:pt x="521" y="41"/>
                    <a:pt x="523" y="42"/>
                  </a:cubicBezTo>
                  <a:cubicBezTo>
                    <a:pt x="523" y="42"/>
                    <a:pt x="524" y="42"/>
                    <a:pt x="524" y="42"/>
                  </a:cubicBezTo>
                  <a:cubicBezTo>
                    <a:pt x="524" y="42"/>
                    <a:pt x="525" y="42"/>
                    <a:pt x="525" y="42"/>
                  </a:cubicBezTo>
                  <a:cubicBezTo>
                    <a:pt x="525" y="42"/>
                    <a:pt x="525" y="43"/>
                    <a:pt x="526" y="43"/>
                  </a:cubicBezTo>
                  <a:cubicBezTo>
                    <a:pt x="526" y="43"/>
                    <a:pt x="526" y="43"/>
                    <a:pt x="526" y="44"/>
                  </a:cubicBezTo>
                  <a:cubicBezTo>
                    <a:pt x="526" y="44"/>
                    <a:pt x="527" y="44"/>
                    <a:pt x="527" y="44"/>
                  </a:cubicBezTo>
                  <a:cubicBezTo>
                    <a:pt x="527" y="45"/>
                    <a:pt x="527" y="45"/>
                    <a:pt x="527" y="45"/>
                  </a:cubicBezTo>
                  <a:cubicBezTo>
                    <a:pt x="527" y="46"/>
                    <a:pt x="527" y="46"/>
                    <a:pt x="527" y="46"/>
                  </a:cubicBezTo>
                  <a:cubicBezTo>
                    <a:pt x="527" y="47"/>
                    <a:pt x="527" y="48"/>
                    <a:pt x="527" y="48"/>
                  </a:cubicBezTo>
                  <a:cubicBezTo>
                    <a:pt x="526" y="49"/>
                    <a:pt x="526" y="49"/>
                    <a:pt x="526" y="50"/>
                  </a:cubicBezTo>
                  <a:cubicBezTo>
                    <a:pt x="525" y="50"/>
                    <a:pt x="525" y="51"/>
                    <a:pt x="524" y="51"/>
                  </a:cubicBezTo>
                  <a:cubicBezTo>
                    <a:pt x="523" y="51"/>
                    <a:pt x="523" y="51"/>
                    <a:pt x="522" y="51"/>
                  </a:cubicBezTo>
                  <a:close/>
                  <a:moveTo>
                    <a:pt x="275" y="270"/>
                  </a:moveTo>
                  <a:cubicBezTo>
                    <a:pt x="275" y="270"/>
                    <a:pt x="275" y="270"/>
                    <a:pt x="275" y="270"/>
                  </a:cubicBezTo>
                  <a:cubicBezTo>
                    <a:pt x="277" y="270"/>
                    <a:pt x="279" y="268"/>
                    <a:pt x="279" y="265"/>
                  </a:cubicBezTo>
                  <a:cubicBezTo>
                    <a:pt x="279" y="265"/>
                    <a:pt x="279" y="265"/>
                    <a:pt x="279" y="265"/>
                  </a:cubicBezTo>
                  <a:cubicBezTo>
                    <a:pt x="279" y="262"/>
                    <a:pt x="277" y="260"/>
                    <a:pt x="274" y="260"/>
                  </a:cubicBezTo>
                  <a:cubicBezTo>
                    <a:pt x="274" y="260"/>
                    <a:pt x="274" y="260"/>
                    <a:pt x="274" y="260"/>
                  </a:cubicBezTo>
                  <a:cubicBezTo>
                    <a:pt x="271" y="260"/>
                    <a:pt x="269" y="263"/>
                    <a:pt x="269" y="265"/>
                  </a:cubicBezTo>
                  <a:cubicBezTo>
                    <a:pt x="269" y="265"/>
                    <a:pt x="269" y="265"/>
                    <a:pt x="269" y="265"/>
                  </a:cubicBezTo>
                  <a:cubicBezTo>
                    <a:pt x="269" y="268"/>
                    <a:pt x="272" y="270"/>
                    <a:pt x="275" y="270"/>
                  </a:cubicBezTo>
                  <a:cubicBezTo>
                    <a:pt x="275" y="270"/>
                    <a:pt x="275" y="270"/>
                    <a:pt x="275" y="270"/>
                  </a:cubicBezTo>
                  <a:close/>
                  <a:moveTo>
                    <a:pt x="254" y="270"/>
                  </a:moveTo>
                  <a:cubicBezTo>
                    <a:pt x="254" y="270"/>
                    <a:pt x="254" y="270"/>
                    <a:pt x="254" y="270"/>
                  </a:cubicBezTo>
                  <a:cubicBezTo>
                    <a:pt x="257" y="270"/>
                    <a:pt x="259" y="268"/>
                    <a:pt x="259" y="265"/>
                  </a:cubicBezTo>
                  <a:cubicBezTo>
                    <a:pt x="259" y="265"/>
                    <a:pt x="259" y="265"/>
                    <a:pt x="259" y="265"/>
                  </a:cubicBezTo>
                  <a:cubicBezTo>
                    <a:pt x="260" y="262"/>
                    <a:pt x="257" y="260"/>
                    <a:pt x="255" y="260"/>
                  </a:cubicBezTo>
                  <a:cubicBezTo>
                    <a:pt x="255" y="260"/>
                    <a:pt x="255" y="260"/>
                    <a:pt x="255" y="260"/>
                  </a:cubicBezTo>
                  <a:cubicBezTo>
                    <a:pt x="252" y="260"/>
                    <a:pt x="250" y="262"/>
                    <a:pt x="249" y="265"/>
                  </a:cubicBezTo>
                  <a:cubicBezTo>
                    <a:pt x="249" y="265"/>
                    <a:pt x="249" y="265"/>
                    <a:pt x="249" y="265"/>
                  </a:cubicBezTo>
                  <a:cubicBezTo>
                    <a:pt x="249" y="268"/>
                    <a:pt x="252" y="270"/>
                    <a:pt x="254" y="270"/>
                  </a:cubicBezTo>
                  <a:cubicBezTo>
                    <a:pt x="254" y="270"/>
                    <a:pt x="254" y="270"/>
                    <a:pt x="254" y="270"/>
                  </a:cubicBezTo>
                  <a:close/>
                  <a:moveTo>
                    <a:pt x="294" y="269"/>
                  </a:moveTo>
                  <a:cubicBezTo>
                    <a:pt x="294" y="269"/>
                    <a:pt x="294" y="269"/>
                    <a:pt x="294" y="269"/>
                  </a:cubicBezTo>
                  <a:cubicBezTo>
                    <a:pt x="294" y="269"/>
                    <a:pt x="295" y="269"/>
                    <a:pt x="295" y="269"/>
                  </a:cubicBezTo>
                  <a:cubicBezTo>
                    <a:pt x="295" y="269"/>
                    <a:pt x="295" y="269"/>
                    <a:pt x="295" y="269"/>
                  </a:cubicBezTo>
                  <a:cubicBezTo>
                    <a:pt x="297" y="268"/>
                    <a:pt x="299" y="266"/>
                    <a:pt x="299" y="263"/>
                  </a:cubicBezTo>
                  <a:cubicBezTo>
                    <a:pt x="299" y="263"/>
                    <a:pt x="299" y="263"/>
                    <a:pt x="299" y="263"/>
                  </a:cubicBezTo>
                  <a:cubicBezTo>
                    <a:pt x="299" y="260"/>
                    <a:pt x="296" y="258"/>
                    <a:pt x="294" y="259"/>
                  </a:cubicBezTo>
                  <a:cubicBezTo>
                    <a:pt x="294" y="259"/>
                    <a:pt x="294" y="259"/>
                    <a:pt x="294" y="259"/>
                  </a:cubicBezTo>
                  <a:cubicBezTo>
                    <a:pt x="291" y="259"/>
                    <a:pt x="289" y="261"/>
                    <a:pt x="289" y="264"/>
                  </a:cubicBezTo>
                  <a:cubicBezTo>
                    <a:pt x="290" y="267"/>
                    <a:pt x="292" y="269"/>
                    <a:pt x="294" y="269"/>
                  </a:cubicBezTo>
                  <a:close/>
                  <a:moveTo>
                    <a:pt x="235" y="268"/>
                  </a:moveTo>
                  <a:cubicBezTo>
                    <a:pt x="235" y="268"/>
                    <a:pt x="235" y="268"/>
                    <a:pt x="235" y="268"/>
                  </a:cubicBezTo>
                  <a:cubicBezTo>
                    <a:pt x="237" y="268"/>
                    <a:pt x="239" y="267"/>
                    <a:pt x="240" y="264"/>
                  </a:cubicBezTo>
                  <a:cubicBezTo>
                    <a:pt x="240" y="264"/>
                    <a:pt x="240" y="264"/>
                    <a:pt x="240" y="264"/>
                  </a:cubicBezTo>
                  <a:cubicBezTo>
                    <a:pt x="240" y="261"/>
                    <a:pt x="238" y="259"/>
                    <a:pt x="235" y="259"/>
                  </a:cubicBezTo>
                  <a:cubicBezTo>
                    <a:pt x="235" y="259"/>
                    <a:pt x="235" y="259"/>
                    <a:pt x="235" y="259"/>
                  </a:cubicBezTo>
                  <a:cubicBezTo>
                    <a:pt x="232" y="258"/>
                    <a:pt x="230" y="260"/>
                    <a:pt x="230" y="263"/>
                  </a:cubicBezTo>
                  <a:cubicBezTo>
                    <a:pt x="230" y="263"/>
                    <a:pt x="230" y="263"/>
                    <a:pt x="230" y="263"/>
                  </a:cubicBezTo>
                  <a:cubicBezTo>
                    <a:pt x="229" y="266"/>
                    <a:pt x="231" y="268"/>
                    <a:pt x="234" y="268"/>
                  </a:cubicBezTo>
                  <a:cubicBezTo>
                    <a:pt x="234" y="268"/>
                    <a:pt x="234" y="268"/>
                    <a:pt x="235" y="268"/>
                  </a:cubicBezTo>
                  <a:close/>
                  <a:moveTo>
                    <a:pt x="314" y="266"/>
                  </a:moveTo>
                  <a:cubicBezTo>
                    <a:pt x="314" y="266"/>
                    <a:pt x="314" y="266"/>
                    <a:pt x="314" y="266"/>
                  </a:cubicBezTo>
                  <a:cubicBezTo>
                    <a:pt x="314" y="266"/>
                    <a:pt x="314" y="266"/>
                    <a:pt x="315" y="266"/>
                  </a:cubicBezTo>
                  <a:cubicBezTo>
                    <a:pt x="315" y="266"/>
                    <a:pt x="315" y="266"/>
                    <a:pt x="315" y="266"/>
                  </a:cubicBezTo>
                  <a:cubicBezTo>
                    <a:pt x="317" y="265"/>
                    <a:pt x="319" y="262"/>
                    <a:pt x="319" y="260"/>
                  </a:cubicBezTo>
                  <a:cubicBezTo>
                    <a:pt x="319" y="260"/>
                    <a:pt x="319" y="260"/>
                    <a:pt x="319" y="260"/>
                  </a:cubicBezTo>
                  <a:cubicBezTo>
                    <a:pt x="318" y="257"/>
                    <a:pt x="316" y="255"/>
                    <a:pt x="313" y="256"/>
                  </a:cubicBezTo>
                  <a:cubicBezTo>
                    <a:pt x="313" y="256"/>
                    <a:pt x="313" y="256"/>
                    <a:pt x="313" y="256"/>
                  </a:cubicBezTo>
                  <a:cubicBezTo>
                    <a:pt x="310" y="256"/>
                    <a:pt x="308" y="259"/>
                    <a:pt x="309" y="262"/>
                  </a:cubicBezTo>
                  <a:cubicBezTo>
                    <a:pt x="309" y="264"/>
                    <a:pt x="311" y="266"/>
                    <a:pt x="314" y="266"/>
                  </a:cubicBezTo>
                  <a:close/>
                  <a:moveTo>
                    <a:pt x="215" y="265"/>
                  </a:moveTo>
                  <a:cubicBezTo>
                    <a:pt x="215" y="265"/>
                    <a:pt x="215" y="265"/>
                    <a:pt x="215" y="265"/>
                  </a:cubicBezTo>
                  <a:cubicBezTo>
                    <a:pt x="217" y="265"/>
                    <a:pt x="219" y="264"/>
                    <a:pt x="220" y="261"/>
                  </a:cubicBezTo>
                  <a:cubicBezTo>
                    <a:pt x="220" y="261"/>
                    <a:pt x="220" y="261"/>
                    <a:pt x="220" y="261"/>
                  </a:cubicBezTo>
                  <a:cubicBezTo>
                    <a:pt x="220" y="259"/>
                    <a:pt x="219" y="256"/>
                    <a:pt x="216" y="256"/>
                  </a:cubicBezTo>
                  <a:cubicBezTo>
                    <a:pt x="216" y="256"/>
                    <a:pt x="216" y="256"/>
                    <a:pt x="216" y="256"/>
                  </a:cubicBezTo>
                  <a:cubicBezTo>
                    <a:pt x="213" y="255"/>
                    <a:pt x="211" y="257"/>
                    <a:pt x="210" y="259"/>
                  </a:cubicBezTo>
                  <a:cubicBezTo>
                    <a:pt x="210" y="259"/>
                    <a:pt x="210" y="259"/>
                    <a:pt x="210" y="259"/>
                  </a:cubicBezTo>
                  <a:cubicBezTo>
                    <a:pt x="210" y="262"/>
                    <a:pt x="211" y="265"/>
                    <a:pt x="214" y="265"/>
                  </a:cubicBezTo>
                  <a:cubicBezTo>
                    <a:pt x="214" y="265"/>
                    <a:pt x="215" y="265"/>
                    <a:pt x="215" y="265"/>
                  </a:cubicBezTo>
                  <a:close/>
                  <a:moveTo>
                    <a:pt x="333" y="261"/>
                  </a:moveTo>
                  <a:cubicBezTo>
                    <a:pt x="333" y="261"/>
                    <a:pt x="333" y="261"/>
                    <a:pt x="333" y="261"/>
                  </a:cubicBezTo>
                  <a:cubicBezTo>
                    <a:pt x="334" y="261"/>
                    <a:pt x="334" y="261"/>
                    <a:pt x="335" y="261"/>
                  </a:cubicBezTo>
                  <a:cubicBezTo>
                    <a:pt x="335" y="261"/>
                    <a:pt x="335" y="261"/>
                    <a:pt x="335" y="261"/>
                  </a:cubicBezTo>
                  <a:cubicBezTo>
                    <a:pt x="335" y="261"/>
                    <a:pt x="335" y="261"/>
                    <a:pt x="335" y="261"/>
                  </a:cubicBezTo>
                  <a:cubicBezTo>
                    <a:pt x="335" y="261"/>
                    <a:pt x="335" y="261"/>
                    <a:pt x="335" y="261"/>
                  </a:cubicBezTo>
                  <a:cubicBezTo>
                    <a:pt x="337" y="260"/>
                    <a:pt x="339" y="258"/>
                    <a:pt x="338" y="255"/>
                  </a:cubicBezTo>
                  <a:cubicBezTo>
                    <a:pt x="338" y="255"/>
                    <a:pt x="338" y="255"/>
                    <a:pt x="338" y="255"/>
                  </a:cubicBezTo>
                  <a:cubicBezTo>
                    <a:pt x="337" y="252"/>
                    <a:pt x="335" y="251"/>
                    <a:pt x="332" y="251"/>
                  </a:cubicBezTo>
                  <a:cubicBezTo>
                    <a:pt x="332" y="251"/>
                    <a:pt x="332" y="251"/>
                    <a:pt x="332" y="251"/>
                  </a:cubicBezTo>
                  <a:cubicBezTo>
                    <a:pt x="329" y="252"/>
                    <a:pt x="328" y="255"/>
                    <a:pt x="328" y="258"/>
                  </a:cubicBezTo>
                  <a:cubicBezTo>
                    <a:pt x="329" y="260"/>
                    <a:pt x="331" y="261"/>
                    <a:pt x="333" y="261"/>
                  </a:cubicBezTo>
                  <a:close/>
                  <a:moveTo>
                    <a:pt x="196" y="261"/>
                  </a:moveTo>
                  <a:cubicBezTo>
                    <a:pt x="196" y="261"/>
                    <a:pt x="196" y="261"/>
                    <a:pt x="196" y="261"/>
                  </a:cubicBezTo>
                  <a:cubicBezTo>
                    <a:pt x="198" y="261"/>
                    <a:pt x="200" y="259"/>
                    <a:pt x="200" y="257"/>
                  </a:cubicBezTo>
                  <a:cubicBezTo>
                    <a:pt x="200" y="257"/>
                    <a:pt x="200" y="257"/>
                    <a:pt x="200" y="257"/>
                  </a:cubicBezTo>
                  <a:cubicBezTo>
                    <a:pt x="201" y="255"/>
                    <a:pt x="200" y="252"/>
                    <a:pt x="197" y="251"/>
                  </a:cubicBezTo>
                  <a:cubicBezTo>
                    <a:pt x="197" y="251"/>
                    <a:pt x="197" y="251"/>
                    <a:pt x="197" y="251"/>
                  </a:cubicBezTo>
                  <a:cubicBezTo>
                    <a:pt x="194" y="250"/>
                    <a:pt x="192" y="252"/>
                    <a:pt x="191" y="255"/>
                  </a:cubicBezTo>
                  <a:cubicBezTo>
                    <a:pt x="191" y="255"/>
                    <a:pt x="191" y="255"/>
                    <a:pt x="191" y="255"/>
                  </a:cubicBezTo>
                  <a:cubicBezTo>
                    <a:pt x="190" y="257"/>
                    <a:pt x="192" y="260"/>
                    <a:pt x="194" y="261"/>
                  </a:cubicBezTo>
                  <a:cubicBezTo>
                    <a:pt x="195" y="261"/>
                    <a:pt x="195" y="261"/>
                    <a:pt x="196" y="261"/>
                  </a:cubicBezTo>
                  <a:close/>
                  <a:moveTo>
                    <a:pt x="352" y="255"/>
                  </a:moveTo>
                  <a:cubicBezTo>
                    <a:pt x="352" y="255"/>
                    <a:pt x="352" y="255"/>
                    <a:pt x="352" y="255"/>
                  </a:cubicBezTo>
                  <a:cubicBezTo>
                    <a:pt x="353" y="255"/>
                    <a:pt x="353" y="255"/>
                    <a:pt x="354" y="255"/>
                  </a:cubicBezTo>
                  <a:cubicBezTo>
                    <a:pt x="354" y="255"/>
                    <a:pt x="354" y="255"/>
                    <a:pt x="354" y="255"/>
                  </a:cubicBezTo>
                  <a:cubicBezTo>
                    <a:pt x="354" y="255"/>
                    <a:pt x="354" y="255"/>
                    <a:pt x="354" y="255"/>
                  </a:cubicBezTo>
                  <a:cubicBezTo>
                    <a:pt x="354" y="255"/>
                    <a:pt x="354" y="255"/>
                    <a:pt x="354" y="255"/>
                  </a:cubicBezTo>
                  <a:cubicBezTo>
                    <a:pt x="356" y="254"/>
                    <a:pt x="358" y="251"/>
                    <a:pt x="357" y="249"/>
                  </a:cubicBezTo>
                  <a:cubicBezTo>
                    <a:pt x="357" y="249"/>
                    <a:pt x="357" y="249"/>
                    <a:pt x="357" y="249"/>
                  </a:cubicBezTo>
                  <a:cubicBezTo>
                    <a:pt x="356" y="246"/>
                    <a:pt x="353" y="245"/>
                    <a:pt x="351" y="246"/>
                  </a:cubicBezTo>
                  <a:cubicBezTo>
                    <a:pt x="351" y="246"/>
                    <a:pt x="351" y="246"/>
                    <a:pt x="351" y="246"/>
                  </a:cubicBezTo>
                  <a:cubicBezTo>
                    <a:pt x="348" y="247"/>
                    <a:pt x="347" y="249"/>
                    <a:pt x="347" y="252"/>
                  </a:cubicBezTo>
                  <a:cubicBezTo>
                    <a:pt x="348" y="254"/>
                    <a:pt x="350" y="255"/>
                    <a:pt x="352" y="255"/>
                  </a:cubicBezTo>
                  <a:close/>
                  <a:moveTo>
                    <a:pt x="177" y="255"/>
                  </a:moveTo>
                  <a:cubicBezTo>
                    <a:pt x="177" y="255"/>
                    <a:pt x="177" y="255"/>
                    <a:pt x="177" y="255"/>
                  </a:cubicBezTo>
                  <a:cubicBezTo>
                    <a:pt x="179" y="255"/>
                    <a:pt x="181" y="254"/>
                    <a:pt x="181" y="252"/>
                  </a:cubicBezTo>
                  <a:cubicBezTo>
                    <a:pt x="181" y="252"/>
                    <a:pt x="181" y="252"/>
                    <a:pt x="181" y="252"/>
                  </a:cubicBezTo>
                  <a:cubicBezTo>
                    <a:pt x="182" y="249"/>
                    <a:pt x="181" y="246"/>
                    <a:pt x="178" y="245"/>
                  </a:cubicBezTo>
                  <a:cubicBezTo>
                    <a:pt x="178" y="245"/>
                    <a:pt x="178" y="245"/>
                    <a:pt x="178" y="245"/>
                  </a:cubicBezTo>
                  <a:cubicBezTo>
                    <a:pt x="176" y="244"/>
                    <a:pt x="173" y="246"/>
                    <a:pt x="172" y="248"/>
                  </a:cubicBezTo>
                  <a:cubicBezTo>
                    <a:pt x="172" y="248"/>
                    <a:pt x="172" y="248"/>
                    <a:pt x="172" y="248"/>
                  </a:cubicBezTo>
                  <a:cubicBezTo>
                    <a:pt x="171" y="251"/>
                    <a:pt x="172" y="254"/>
                    <a:pt x="175" y="255"/>
                  </a:cubicBezTo>
                  <a:cubicBezTo>
                    <a:pt x="175" y="255"/>
                    <a:pt x="175" y="255"/>
                    <a:pt x="175" y="255"/>
                  </a:cubicBezTo>
                  <a:cubicBezTo>
                    <a:pt x="175" y="255"/>
                    <a:pt x="175" y="255"/>
                    <a:pt x="175" y="255"/>
                  </a:cubicBezTo>
                  <a:cubicBezTo>
                    <a:pt x="176" y="255"/>
                    <a:pt x="176" y="255"/>
                    <a:pt x="177" y="255"/>
                  </a:cubicBezTo>
                  <a:close/>
                  <a:moveTo>
                    <a:pt x="371" y="248"/>
                  </a:moveTo>
                  <a:cubicBezTo>
                    <a:pt x="371" y="248"/>
                    <a:pt x="371" y="248"/>
                    <a:pt x="371" y="248"/>
                  </a:cubicBezTo>
                  <a:cubicBezTo>
                    <a:pt x="371" y="248"/>
                    <a:pt x="372" y="248"/>
                    <a:pt x="373" y="248"/>
                  </a:cubicBezTo>
                  <a:cubicBezTo>
                    <a:pt x="373" y="248"/>
                    <a:pt x="373" y="248"/>
                    <a:pt x="373" y="248"/>
                  </a:cubicBezTo>
                  <a:cubicBezTo>
                    <a:pt x="375" y="246"/>
                    <a:pt x="376" y="243"/>
                    <a:pt x="375" y="241"/>
                  </a:cubicBezTo>
                  <a:cubicBezTo>
                    <a:pt x="375" y="241"/>
                    <a:pt x="375" y="241"/>
                    <a:pt x="375" y="241"/>
                  </a:cubicBezTo>
                  <a:cubicBezTo>
                    <a:pt x="374" y="238"/>
                    <a:pt x="371" y="237"/>
                    <a:pt x="369" y="238"/>
                  </a:cubicBezTo>
                  <a:cubicBezTo>
                    <a:pt x="369" y="238"/>
                    <a:pt x="369" y="238"/>
                    <a:pt x="369" y="238"/>
                  </a:cubicBezTo>
                  <a:cubicBezTo>
                    <a:pt x="366" y="240"/>
                    <a:pt x="365" y="242"/>
                    <a:pt x="366" y="245"/>
                  </a:cubicBezTo>
                  <a:cubicBezTo>
                    <a:pt x="367" y="247"/>
                    <a:pt x="369" y="248"/>
                    <a:pt x="371" y="248"/>
                  </a:cubicBezTo>
                  <a:close/>
                  <a:moveTo>
                    <a:pt x="158" y="247"/>
                  </a:moveTo>
                  <a:cubicBezTo>
                    <a:pt x="158" y="247"/>
                    <a:pt x="158" y="247"/>
                    <a:pt x="158" y="247"/>
                  </a:cubicBezTo>
                  <a:cubicBezTo>
                    <a:pt x="160" y="247"/>
                    <a:pt x="162" y="246"/>
                    <a:pt x="163" y="244"/>
                  </a:cubicBezTo>
                  <a:cubicBezTo>
                    <a:pt x="163" y="244"/>
                    <a:pt x="163" y="244"/>
                    <a:pt x="163" y="244"/>
                  </a:cubicBezTo>
                  <a:cubicBezTo>
                    <a:pt x="164" y="242"/>
                    <a:pt x="163" y="239"/>
                    <a:pt x="160" y="238"/>
                  </a:cubicBezTo>
                  <a:cubicBezTo>
                    <a:pt x="160" y="238"/>
                    <a:pt x="160" y="238"/>
                    <a:pt x="160" y="238"/>
                  </a:cubicBezTo>
                  <a:cubicBezTo>
                    <a:pt x="158" y="237"/>
                    <a:pt x="155" y="238"/>
                    <a:pt x="154" y="240"/>
                  </a:cubicBezTo>
                  <a:cubicBezTo>
                    <a:pt x="154" y="240"/>
                    <a:pt x="154" y="240"/>
                    <a:pt x="154" y="240"/>
                  </a:cubicBezTo>
                  <a:cubicBezTo>
                    <a:pt x="153" y="243"/>
                    <a:pt x="154" y="246"/>
                    <a:pt x="156" y="247"/>
                  </a:cubicBezTo>
                  <a:cubicBezTo>
                    <a:pt x="157" y="247"/>
                    <a:pt x="158" y="247"/>
                    <a:pt x="158" y="247"/>
                  </a:cubicBezTo>
                  <a:close/>
                  <a:moveTo>
                    <a:pt x="389" y="239"/>
                  </a:moveTo>
                  <a:cubicBezTo>
                    <a:pt x="389" y="239"/>
                    <a:pt x="389" y="239"/>
                    <a:pt x="389" y="239"/>
                  </a:cubicBezTo>
                  <a:cubicBezTo>
                    <a:pt x="389" y="239"/>
                    <a:pt x="390" y="239"/>
                    <a:pt x="391" y="239"/>
                  </a:cubicBezTo>
                  <a:cubicBezTo>
                    <a:pt x="391" y="239"/>
                    <a:pt x="391" y="239"/>
                    <a:pt x="391" y="239"/>
                  </a:cubicBezTo>
                  <a:cubicBezTo>
                    <a:pt x="391" y="239"/>
                    <a:pt x="391" y="239"/>
                    <a:pt x="391" y="239"/>
                  </a:cubicBezTo>
                  <a:cubicBezTo>
                    <a:pt x="391" y="239"/>
                    <a:pt x="391" y="239"/>
                    <a:pt x="391" y="239"/>
                  </a:cubicBezTo>
                  <a:cubicBezTo>
                    <a:pt x="393" y="237"/>
                    <a:pt x="394" y="234"/>
                    <a:pt x="393" y="232"/>
                  </a:cubicBezTo>
                  <a:cubicBezTo>
                    <a:pt x="393" y="232"/>
                    <a:pt x="393" y="232"/>
                    <a:pt x="393" y="232"/>
                  </a:cubicBezTo>
                  <a:cubicBezTo>
                    <a:pt x="392" y="229"/>
                    <a:pt x="389" y="228"/>
                    <a:pt x="386" y="230"/>
                  </a:cubicBezTo>
                  <a:cubicBezTo>
                    <a:pt x="386" y="230"/>
                    <a:pt x="386" y="230"/>
                    <a:pt x="386" y="230"/>
                  </a:cubicBezTo>
                  <a:cubicBezTo>
                    <a:pt x="384" y="231"/>
                    <a:pt x="383" y="234"/>
                    <a:pt x="384" y="237"/>
                  </a:cubicBezTo>
                  <a:cubicBezTo>
                    <a:pt x="385" y="238"/>
                    <a:pt x="387" y="239"/>
                    <a:pt x="389" y="239"/>
                  </a:cubicBezTo>
                  <a:close/>
                  <a:moveTo>
                    <a:pt x="140" y="239"/>
                  </a:moveTo>
                  <a:cubicBezTo>
                    <a:pt x="140" y="239"/>
                    <a:pt x="140" y="239"/>
                    <a:pt x="140" y="239"/>
                  </a:cubicBezTo>
                  <a:cubicBezTo>
                    <a:pt x="142" y="239"/>
                    <a:pt x="144" y="238"/>
                    <a:pt x="145" y="236"/>
                  </a:cubicBezTo>
                  <a:cubicBezTo>
                    <a:pt x="145" y="236"/>
                    <a:pt x="145" y="236"/>
                    <a:pt x="145" y="236"/>
                  </a:cubicBezTo>
                  <a:cubicBezTo>
                    <a:pt x="146" y="233"/>
                    <a:pt x="145" y="230"/>
                    <a:pt x="143" y="229"/>
                  </a:cubicBezTo>
                  <a:cubicBezTo>
                    <a:pt x="143" y="229"/>
                    <a:pt x="143" y="229"/>
                    <a:pt x="143" y="229"/>
                  </a:cubicBezTo>
                  <a:cubicBezTo>
                    <a:pt x="140" y="228"/>
                    <a:pt x="137" y="229"/>
                    <a:pt x="136" y="231"/>
                  </a:cubicBezTo>
                  <a:cubicBezTo>
                    <a:pt x="136" y="231"/>
                    <a:pt x="136" y="231"/>
                    <a:pt x="136" y="231"/>
                  </a:cubicBezTo>
                  <a:cubicBezTo>
                    <a:pt x="135" y="234"/>
                    <a:pt x="136" y="237"/>
                    <a:pt x="138" y="238"/>
                  </a:cubicBezTo>
                  <a:cubicBezTo>
                    <a:pt x="139" y="238"/>
                    <a:pt x="140" y="239"/>
                    <a:pt x="140" y="239"/>
                  </a:cubicBezTo>
                  <a:close/>
                  <a:moveTo>
                    <a:pt x="406" y="229"/>
                  </a:moveTo>
                  <a:cubicBezTo>
                    <a:pt x="406" y="229"/>
                    <a:pt x="406" y="229"/>
                    <a:pt x="406" y="229"/>
                  </a:cubicBezTo>
                  <a:cubicBezTo>
                    <a:pt x="407" y="229"/>
                    <a:pt x="408" y="229"/>
                    <a:pt x="408" y="228"/>
                  </a:cubicBezTo>
                  <a:cubicBezTo>
                    <a:pt x="408" y="228"/>
                    <a:pt x="408" y="228"/>
                    <a:pt x="408" y="228"/>
                  </a:cubicBezTo>
                  <a:cubicBezTo>
                    <a:pt x="411" y="227"/>
                    <a:pt x="411" y="224"/>
                    <a:pt x="410" y="221"/>
                  </a:cubicBezTo>
                  <a:cubicBezTo>
                    <a:pt x="410" y="221"/>
                    <a:pt x="410" y="221"/>
                    <a:pt x="410" y="221"/>
                  </a:cubicBezTo>
                  <a:cubicBezTo>
                    <a:pt x="408" y="219"/>
                    <a:pt x="405" y="218"/>
                    <a:pt x="403" y="220"/>
                  </a:cubicBezTo>
                  <a:cubicBezTo>
                    <a:pt x="403" y="220"/>
                    <a:pt x="403" y="220"/>
                    <a:pt x="403" y="220"/>
                  </a:cubicBezTo>
                  <a:cubicBezTo>
                    <a:pt x="401" y="221"/>
                    <a:pt x="400" y="224"/>
                    <a:pt x="401" y="227"/>
                  </a:cubicBezTo>
                  <a:cubicBezTo>
                    <a:pt x="402" y="228"/>
                    <a:pt x="404" y="229"/>
                    <a:pt x="406" y="229"/>
                  </a:cubicBezTo>
                  <a:close/>
                  <a:moveTo>
                    <a:pt x="123" y="228"/>
                  </a:moveTo>
                  <a:cubicBezTo>
                    <a:pt x="123" y="228"/>
                    <a:pt x="123" y="228"/>
                    <a:pt x="123" y="228"/>
                  </a:cubicBezTo>
                  <a:cubicBezTo>
                    <a:pt x="125" y="228"/>
                    <a:pt x="127" y="227"/>
                    <a:pt x="128" y="226"/>
                  </a:cubicBezTo>
                  <a:cubicBezTo>
                    <a:pt x="128" y="226"/>
                    <a:pt x="128" y="226"/>
                    <a:pt x="128" y="226"/>
                  </a:cubicBezTo>
                  <a:cubicBezTo>
                    <a:pt x="129" y="224"/>
                    <a:pt x="128" y="221"/>
                    <a:pt x="126" y="219"/>
                  </a:cubicBezTo>
                  <a:cubicBezTo>
                    <a:pt x="126" y="219"/>
                    <a:pt x="126" y="219"/>
                    <a:pt x="126" y="219"/>
                  </a:cubicBezTo>
                  <a:cubicBezTo>
                    <a:pt x="124" y="218"/>
                    <a:pt x="121" y="218"/>
                    <a:pt x="119" y="221"/>
                  </a:cubicBezTo>
                  <a:cubicBezTo>
                    <a:pt x="119" y="221"/>
                    <a:pt x="119" y="221"/>
                    <a:pt x="119" y="221"/>
                  </a:cubicBezTo>
                  <a:cubicBezTo>
                    <a:pt x="118" y="223"/>
                    <a:pt x="118" y="226"/>
                    <a:pt x="121" y="227"/>
                  </a:cubicBezTo>
                  <a:cubicBezTo>
                    <a:pt x="121" y="228"/>
                    <a:pt x="122" y="228"/>
                    <a:pt x="123" y="228"/>
                  </a:cubicBezTo>
                  <a:close/>
                  <a:moveTo>
                    <a:pt x="422" y="218"/>
                  </a:moveTo>
                  <a:cubicBezTo>
                    <a:pt x="422" y="218"/>
                    <a:pt x="422" y="218"/>
                    <a:pt x="422" y="218"/>
                  </a:cubicBezTo>
                  <a:cubicBezTo>
                    <a:pt x="423" y="218"/>
                    <a:pt x="424" y="217"/>
                    <a:pt x="425" y="217"/>
                  </a:cubicBezTo>
                  <a:cubicBezTo>
                    <a:pt x="425" y="217"/>
                    <a:pt x="425" y="217"/>
                    <a:pt x="425" y="217"/>
                  </a:cubicBezTo>
                  <a:cubicBezTo>
                    <a:pt x="427" y="215"/>
                    <a:pt x="428" y="212"/>
                    <a:pt x="426" y="210"/>
                  </a:cubicBezTo>
                  <a:cubicBezTo>
                    <a:pt x="426" y="210"/>
                    <a:pt x="426" y="210"/>
                    <a:pt x="426" y="210"/>
                  </a:cubicBezTo>
                  <a:cubicBezTo>
                    <a:pt x="424" y="208"/>
                    <a:pt x="421" y="207"/>
                    <a:pt x="419" y="209"/>
                  </a:cubicBezTo>
                  <a:cubicBezTo>
                    <a:pt x="419" y="209"/>
                    <a:pt x="419" y="209"/>
                    <a:pt x="419" y="209"/>
                  </a:cubicBezTo>
                  <a:cubicBezTo>
                    <a:pt x="417" y="210"/>
                    <a:pt x="416" y="214"/>
                    <a:pt x="418" y="216"/>
                  </a:cubicBezTo>
                  <a:cubicBezTo>
                    <a:pt x="419" y="217"/>
                    <a:pt x="420" y="218"/>
                    <a:pt x="422" y="218"/>
                  </a:cubicBezTo>
                  <a:close/>
                  <a:moveTo>
                    <a:pt x="107" y="217"/>
                  </a:moveTo>
                  <a:cubicBezTo>
                    <a:pt x="107" y="217"/>
                    <a:pt x="107" y="217"/>
                    <a:pt x="107" y="217"/>
                  </a:cubicBezTo>
                  <a:cubicBezTo>
                    <a:pt x="109" y="217"/>
                    <a:pt x="110" y="216"/>
                    <a:pt x="111" y="215"/>
                  </a:cubicBezTo>
                  <a:cubicBezTo>
                    <a:pt x="111" y="215"/>
                    <a:pt x="111" y="215"/>
                    <a:pt x="111" y="215"/>
                  </a:cubicBezTo>
                  <a:cubicBezTo>
                    <a:pt x="113" y="213"/>
                    <a:pt x="112" y="210"/>
                    <a:pt x="110" y="208"/>
                  </a:cubicBezTo>
                  <a:cubicBezTo>
                    <a:pt x="110" y="208"/>
                    <a:pt x="110" y="208"/>
                    <a:pt x="110" y="208"/>
                  </a:cubicBezTo>
                  <a:cubicBezTo>
                    <a:pt x="108" y="206"/>
                    <a:pt x="105" y="207"/>
                    <a:pt x="103" y="209"/>
                  </a:cubicBezTo>
                  <a:cubicBezTo>
                    <a:pt x="103" y="209"/>
                    <a:pt x="103" y="209"/>
                    <a:pt x="103" y="209"/>
                  </a:cubicBezTo>
                  <a:cubicBezTo>
                    <a:pt x="101" y="211"/>
                    <a:pt x="102" y="214"/>
                    <a:pt x="104" y="216"/>
                  </a:cubicBezTo>
                  <a:cubicBezTo>
                    <a:pt x="105" y="216"/>
                    <a:pt x="106" y="217"/>
                    <a:pt x="107" y="217"/>
                  </a:cubicBezTo>
                  <a:close/>
                  <a:moveTo>
                    <a:pt x="437" y="205"/>
                  </a:moveTo>
                  <a:cubicBezTo>
                    <a:pt x="437" y="205"/>
                    <a:pt x="437" y="205"/>
                    <a:pt x="437" y="205"/>
                  </a:cubicBezTo>
                  <a:cubicBezTo>
                    <a:pt x="439" y="205"/>
                    <a:pt x="440" y="205"/>
                    <a:pt x="441" y="204"/>
                  </a:cubicBezTo>
                  <a:cubicBezTo>
                    <a:pt x="441" y="204"/>
                    <a:pt x="441" y="204"/>
                    <a:pt x="441" y="204"/>
                  </a:cubicBezTo>
                  <a:cubicBezTo>
                    <a:pt x="443" y="202"/>
                    <a:pt x="443" y="199"/>
                    <a:pt x="441" y="197"/>
                  </a:cubicBezTo>
                  <a:cubicBezTo>
                    <a:pt x="441" y="197"/>
                    <a:pt x="441" y="197"/>
                    <a:pt x="441" y="197"/>
                  </a:cubicBezTo>
                  <a:cubicBezTo>
                    <a:pt x="439" y="195"/>
                    <a:pt x="436" y="195"/>
                    <a:pt x="434" y="196"/>
                  </a:cubicBezTo>
                  <a:cubicBezTo>
                    <a:pt x="434" y="196"/>
                    <a:pt x="434" y="196"/>
                    <a:pt x="434" y="196"/>
                  </a:cubicBezTo>
                  <a:cubicBezTo>
                    <a:pt x="432" y="198"/>
                    <a:pt x="432" y="201"/>
                    <a:pt x="434" y="203"/>
                  </a:cubicBezTo>
                  <a:cubicBezTo>
                    <a:pt x="435" y="205"/>
                    <a:pt x="436" y="205"/>
                    <a:pt x="437" y="205"/>
                  </a:cubicBezTo>
                  <a:close/>
                  <a:moveTo>
                    <a:pt x="92" y="204"/>
                  </a:moveTo>
                  <a:cubicBezTo>
                    <a:pt x="92" y="204"/>
                    <a:pt x="92" y="204"/>
                    <a:pt x="92" y="204"/>
                  </a:cubicBezTo>
                  <a:cubicBezTo>
                    <a:pt x="93" y="204"/>
                    <a:pt x="95" y="204"/>
                    <a:pt x="96" y="202"/>
                  </a:cubicBezTo>
                  <a:cubicBezTo>
                    <a:pt x="96" y="202"/>
                    <a:pt x="96" y="202"/>
                    <a:pt x="96" y="202"/>
                  </a:cubicBezTo>
                  <a:cubicBezTo>
                    <a:pt x="97" y="200"/>
                    <a:pt x="97" y="197"/>
                    <a:pt x="95" y="195"/>
                  </a:cubicBezTo>
                  <a:cubicBezTo>
                    <a:pt x="95" y="195"/>
                    <a:pt x="95" y="195"/>
                    <a:pt x="95" y="195"/>
                  </a:cubicBezTo>
                  <a:cubicBezTo>
                    <a:pt x="93" y="194"/>
                    <a:pt x="90" y="194"/>
                    <a:pt x="88" y="196"/>
                  </a:cubicBezTo>
                  <a:cubicBezTo>
                    <a:pt x="88" y="196"/>
                    <a:pt x="88" y="196"/>
                    <a:pt x="88" y="196"/>
                  </a:cubicBezTo>
                  <a:cubicBezTo>
                    <a:pt x="86" y="198"/>
                    <a:pt x="86" y="201"/>
                    <a:pt x="88" y="203"/>
                  </a:cubicBezTo>
                  <a:cubicBezTo>
                    <a:pt x="89" y="204"/>
                    <a:pt x="91" y="204"/>
                    <a:pt x="92" y="204"/>
                  </a:cubicBezTo>
                  <a:close/>
                  <a:moveTo>
                    <a:pt x="452" y="191"/>
                  </a:moveTo>
                  <a:cubicBezTo>
                    <a:pt x="452" y="191"/>
                    <a:pt x="452" y="191"/>
                    <a:pt x="452" y="191"/>
                  </a:cubicBezTo>
                  <a:cubicBezTo>
                    <a:pt x="453" y="191"/>
                    <a:pt x="454" y="191"/>
                    <a:pt x="455" y="190"/>
                  </a:cubicBezTo>
                  <a:cubicBezTo>
                    <a:pt x="455" y="190"/>
                    <a:pt x="455" y="190"/>
                    <a:pt x="455" y="190"/>
                  </a:cubicBezTo>
                  <a:cubicBezTo>
                    <a:pt x="455" y="190"/>
                    <a:pt x="455" y="190"/>
                    <a:pt x="455" y="190"/>
                  </a:cubicBezTo>
                  <a:cubicBezTo>
                    <a:pt x="455" y="190"/>
                    <a:pt x="455" y="190"/>
                    <a:pt x="455" y="190"/>
                  </a:cubicBezTo>
                  <a:cubicBezTo>
                    <a:pt x="457" y="188"/>
                    <a:pt x="457" y="185"/>
                    <a:pt x="455" y="183"/>
                  </a:cubicBezTo>
                  <a:cubicBezTo>
                    <a:pt x="455" y="183"/>
                    <a:pt x="455" y="183"/>
                    <a:pt x="455" y="183"/>
                  </a:cubicBezTo>
                  <a:cubicBezTo>
                    <a:pt x="453" y="181"/>
                    <a:pt x="450" y="181"/>
                    <a:pt x="448" y="183"/>
                  </a:cubicBezTo>
                  <a:cubicBezTo>
                    <a:pt x="448" y="183"/>
                    <a:pt x="448" y="183"/>
                    <a:pt x="448" y="183"/>
                  </a:cubicBezTo>
                  <a:cubicBezTo>
                    <a:pt x="446" y="185"/>
                    <a:pt x="446" y="188"/>
                    <a:pt x="448" y="190"/>
                  </a:cubicBezTo>
                  <a:cubicBezTo>
                    <a:pt x="449" y="191"/>
                    <a:pt x="451" y="191"/>
                    <a:pt x="452" y="191"/>
                  </a:cubicBezTo>
                  <a:close/>
                  <a:moveTo>
                    <a:pt x="77" y="190"/>
                  </a:moveTo>
                  <a:cubicBezTo>
                    <a:pt x="77" y="190"/>
                    <a:pt x="77" y="190"/>
                    <a:pt x="77" y="190"/>
                  </a:cubicBezTo>
                  <a:cubicBezTo>
                    <a:pt x="79" y="190"/>
                    <a:pt x="80" y="190"/>
                    <a:pt x="81" y="189"/>
                  </a:cubicBezTo>
                  <a:cubicBezTo>
                    <a:pt x="81" y="189"/>
                    <a:pt x="81" y="189"/>
                    <a:pt x="81" y="189"/>
                  </a:cubicBezTo>
                  <a:cubicBezTo>
                    <a:pt x="83" y="187"/>
                    <a:pt x="83" y="184"/>
                    <a:pt x="81" y="182"/>
                  </a:cubicBezTo>
                  <a:cubicBezTo>
                    <a:pt x="81" y="182"/>
                    <a:pt x="81" y="182"/>
                    <a:pt x="81" y="182"/>
                  </a:cubicBezTo>
                  <a:cubicBezTo>
                    <a:pt x="79" y="180"/>
                    <a:pt x="76" y="180"/>
                    <a:pt x="74" y="182"/>
                  </a:cubicBezTo>
                  <a:cubicBezTo>
                    <a:pt x="74" y="182"/>
                    <a:pt x="74" y="182"/>
                    <a:pt x="74" y="182"/>
                  </a:cubicBezTo>
                  <a:cubicBezTo>
                    <a:pt x="72" y="184"/>
                    <a:pt x="72" y="187"/>
                    <a:pt x="74" y="189"/>
                  </a:cubicBezTo>
                  <a:cubicBezTo>
                    <a:pt x="75" y="190"/>
                    <a:pt x="76" y="190"/>
                    <a:pt x="77" y="190"/>
                  </a:cubicBezTo>
                  <a:close/>
                  <a:moveTo>
                    <a:pt x="465" y="177"/>
                  </a:moveTo>
                  <a:cubicBezTo>
                    <a:pt x="465" y="177"/>
                    <a:pt x="465" y="177"/>
                    <a:pt x="465" y="177"/>
                  </a:cubicBezTo>
                  <a:cubicBezTo>
                    <a:pt x="467" y="177"/>
                    <a:pt x="468" y="176"/>
                    <a:pt x="469" y="175"/>
                  </a:cubicBezTo>
                  <a:cubicBezTo>
                    <a:pt x="469" y="175"/>
                    <a:pt x="469" y="175"/>
                    <a:pt x="469" y="175"/>
                  </a:cubicBezTo>
                  <a:cubicBezTo>
                    <a:pt x="471" y="173"/>
                    <a:pt x="470" y="170"/>
                    <a:pt x="468" y="168"/>
                  </a:cubicBezTo>
                  <a:cubicBezTo>
                    <a:pt x="468" y="168"/>
                    <a:pt x="468" y="168"/>
                    <a:pt x="468" y="168"/>
                  </a:cubicBezTo>
                  <a:cubicBezTo>
                    <a:pt x="466" y="166"/>
                    <a:pt x="463" y="166"/>
                    <a:pt x="461" y="168"/>
                  </a:cubicBezTo>
                  <a:cubicBezTo>
                    <a:pt x="461" y="168"/>
                    <a:pt x="461" y="168"/>
                    <a:pt x="461" y="168"/>
                  </a:cubicBezTo>
                  <a:cubicBezTo>
                    <a:pt x="459" y="171"/>
                    <a:pt x="460" y="174"/>
                    <a:pt x="462" y="175"/>
                  </a:cubicBezTo>
                  <a:cubicBezTo>
                    <a:pt x="463" y="176"/>
                    <a:pt x="464" y="177"/>
                    <a:pt x="465" y="177"/>
                  </a:cubicBezTo>
                  <a:close/>
                  <a:moveTo>
                    <a:pt x="64" y="175"/>
                  </a:moveTo>
                  <a:cubicBezTo>
                    <a:pt x="64" y="175"/>
                    <a:pt x="64" y="175"/>
                    <a:pt x="64" y="175"/>
                  </a:cubicBezTo>
                  <a:cubicBezTo>
                    <a:pt x="65" y="175"/>
                    <a:pt x="66" y="175"/>
                    <a:pt x="67" y="174"/>
                  </a:cubicBezTo>
                  <a:cubicBezTo>
                    <a:pt x="67" y="174"/>
                    <a:pt x="67" y="174"/>
                    <a:pt x="67" y="174"/>
                  </a:cubicBezTo>
                  <a:cubicBezTo>
                    <a:pt x="70" y="173"/>
                    <a:pt x="70" y="169"/>
                    <a:pt x="68" y="167"/>
                  </a:cubicBezTo>
                  <a:cubicBezTo>
                    <a:pt x="68" y="167"/>
                    <a:pt x="68" y="167"/>
                    <a:pt x="68" y="167"/>
                  </a:cubicBezTo>
                  <a:cubicBezTo>
                    <a:pt x="66" y="165"/>
                    <a:pt x="63" y="165"/>
                    <a:pt x="61" y="167"/>
                  </a:cubicBezTo>
                  <a:cubicBezTo>
                    <a:pt x="61" y="167"/>
                    <a:pt x="61" y="167"/>
                    <a:pt x="61" y="167"/>
                  </a:cubicBezTo>
                  <a:cubicBezTo>
                    <a:pt x="59" y="168"/>
                    <a:pt x="59" y="172"/>
                    <a:pt x="60" y="174"/>
                  </a:cubicBezTo>
                  <a:cubicBezTo>
                    <a:pt x="60" y="174"/>
                    <a:pt x="60" y="174"/>
                    <a:pt x="60" y="174"/>
                  </a:cubicBezTo>
                  <a:cubicBezTo>
                    <a:pt x="60" y="174"/>
                    <a:pt x="60" y="174"/>
                    <a:pt x="60" y="174"/>
                  </a:cubicBezTo>
                  <a:cubicBezTo>
                    <a:pt x="61" y="175"/>
                    <a:pt x="63" y="175"/>
                    <a:pt x="64" y="175"/>
                  </a:cubicBezTo>
                  <a:close/>
                  <a:moveTo>
                    <a:pt x="477" y="161"/>
                  </a:moveTo>
                  <a:cubicBezTo>
                    <a:pt x="477" y="161"/>
                    <a:pt x="477" y="161"/>
                    <a:pt x="477" y="161"/>
                  </a:cubicBezTo>
                  <a:cubicBezTo>
                    <a:pt x="479" y="161"/>
                    <a:pt x="480" y="160"/>
                    <a:pt x="481" y="159"/>
                  </a:cubicBezTo>
                  <a:cubicBezTo>
                    <a:pt x="481" y="159"/>
                    <a:pt x="481" y="159"/>
                    <a:pt x="481" y="159"/>
                  </a:cubicBezTo>
                  <a:cubicBezTo>
                    <a:pt x="483" y="157"/>
                    <a:pt x="482" y="153"/>
                    <a:pt x="480" y="152"/>
                  </a:cubicBezTo>
                  <a:cubicBezTo>
                    <a:pt x="480" y="152"/>
                    <a:pt x="480" y="152"/>
                    <a:pt x="480" y="152"/>
                  </a:cubicBezTo>
                  <a:cubicBezTo>
                    <a:pt x="478" y="150"/>
                    <a:pt x="475" y="151"/>
                    <a:pt x="473" y="153"/>
                  </a:cubicBezTo>
                  <a:cubicBezTo>
                    <a:pt x="473" y="153"/>
                    <a:pt x="473" y="153"/>
                    <a:pt x="473" y="153"/>
                  </a:cubicBezTo>
                  <a:cubicBezTo>
                    <a:pt x="472" y="155"/>
                    <a:pt x="472" y="158"/>
                    <a:pt x="474" y="160"/>
                  </a:cubicBezTo>
                  <a:cubicBezTo>
                    <a:pt x="475" y="161"/>
                    <a:pt x="476" y="161"/>
                    <a:pt x="477" y="161"/>
                  </a:cubicBezTo>
                  <a:close/>
                  <a:moveTo>
                    <a:pt x="52" y="160"/>
                  </a:moveTo>
                  <a:cubicBezTo>
                    <a:pt x="52" y="160"/>
                    <a:pt x="52" y="160"/>
                    <a:pt x="52" y="160"/>
                  </a:cubicBezTo>
                  <a:cubicBezTo>
                    <a:pt x="53" y="160"/>
                    <a:pt x="54" y="159"/>
                    <a:pt x="55" y="159"/>
                  </a:cubicBezTo>
                  <a:cubicBezTo>
                    <a:pt x="55" y="159"/>
                    <a:pt x="55" y="159"/>
                    <a:pt x="55" y="159"/>
                  </a:cubicBezTo>
                  <a:cubicBezTo>
                    <a:pt x="57" y="157"/>
                    <a:pt x="58" y="154"/>
                    <a:pt x="56" y="152"/>
                  </a:cubicBezTo>
                  <a:cubicBezTo>
                    <a:pt x="56" y="152"/>
                    <a:pt x="56" y="152"/>
                    <a:pt x="56" y="152"/>
                  </a:cubicBezTo>
                  <a:cubicBezTo>
                    <a:pt x="55" y="150"/>
                    <a:pt x="52" y="149"/>
                    <a:pt x="49" y="151"/>
                  </a:cubicBezTo>
                  <a:cubicBezTo>
                    <a:pt x="49" y="151"/>
                    <a:pt x="49" y="151"/>
                    <a:pt x="49" y="151"/>
                  </a:cubicBezTo>
                  <a:cubicBezTo>
                    <a:pt x="47" y="152"/>
                    <a:pt x="46" y="155"/>
                    <a:pt x="48" y="158"/>
                  </a:cubicBezTo>
                  <a:cubicBezTo>
                    <a:pt x="49" y="159"/>
                    <a:pt x="51" y="160"/>
                    <a:pt x="52" y="160"/>
                  </a:cubicBezTo>
                  <a:close/>
                  <a:moveTo>
                    <a:pt x="488" y="144"/>
                  </a:moveTo>
                  <a:cubicBezTo>
                    <a:pt x="488" y="144"/>
                    <a:pt x="488" y="144"/>
                    <a:pt x="488" y="144"/>
                  </a:cubicBezTo>
                  <a:cubicBezTo>
                    <a:pt x="490" y="144"/>
                    <a:pt x="491" y="143"/>
                    <a:pt x="492" y="142"/>
                  </a:cubicBezTo>
                  <a:cubicBezTo>
                    <a:pt x="492" y="142"/>
                    <a:pt x="492" y="142"/>
                    <a:pt x="492" y="142"/>
                  </a:cubicBezTo>
                  <a:cubicBezTo>
                    <a:pt x="492" y="142"/>
                    <a:pt x="492" y="142"/>
                    <a:pt x="492" y="142"/>
                  </a:cubicBezTo>
                  <a:cubicBezTo>
                    <a:pt x="492" y="142"/>
                    <a:pt x="492" y="142"/>
                    <a:pt x="492" y="142"/>
                  </a:cubicBezTo>
                  <a:cubicBezTo>
                    <a:pt x="494" y="139"/>
                    <a:pt x="493" y="136"/>
                    <a:pt x="491" y="135"/>
                  </a:cubicBezTo>
                  <a:cubicBezTo>
                    <a:pt x="491" y="135"/>
                    <a:pt x="491" y="135"/>
                    <a:pt x="491" y="135"/>
                  </a:cubicBezTo>
                  <a:cubicBezTo>
                    <a:pt x="488" y="134"/>
                    <a:pt x="485" y="134"/>
                    <a:pt x="484" y="137"/>
                  </a:cubicBezTo>
                  <a:cubicBezTo>
                    <a:pt x="484" y="137"/>
                    <a:pt x="484" y="137"/>
                    <a:pt x="484" y="137"/>
                  </a:cubicBezTo>
                  <a:cubicBezTo>
                    <a:pt x="482" y="139"/>
                    <a:pt x="483" y="142"/>
                    <a:pt x="486" y="144"/>
                  </a:cubicBezTo>
                  <a:cubicBezTo>
                    <a:pt x="486" y="144"/>
                    <a:pt x="487" y="144"/>
                    <a:pt x="488" y="144"/>
                  </a:cubicBezTo>
                  <a:close/>
                  <a:moveTo>
                    <a:pt x="41" y="143"/>
                  </a:moveTo>
                  <a:cubicBezTo>
                    <a:pt x="41" y="143"/>
                    <a:pt x="41" y="143"/>
                    <a:pt x="41" y="143"/>
                  </a:cubicBezTo>
                  <a:cubicBezTo>
                    <a:pt x="42" y="143"/>
                    <a:pt x="43" y="143"/>
                    <a:pt x="44" y="142"/>
                  </a:cubicBezTo>
                  <a:cubicBezTo>
                    <a:pt x="44" y="142"/>
                    <a:pt x="44" y="142"/>
                    <a:pt x="44" y="142"/>
                  </a:cubicBezTo>
                  <a:cubicBezTo>
                    <a:pt x="46" y="141"/>
                    <a:pt x="47" y="138"/>
                    <a:pt x="46" y="135"/>
                  </a:cubicBezTo>
                  <a:cubicBezTo>
                    <a:pt x="46" y="135"/>
                    <a:pt x="46" y="135"/>
                    <a:pt x="46" y="135"/>
                  </a:cubicBezTo>
                  <a:cubicBezTo>
                    <a:pt x="44" y="133"/>
                    <a:pt x="41" y="132"/>
                    <a:pt x="39" y="134"/>
                  </a:cubicBezTo>
                  <a:cubicBezTo>
                    <a:pt x="39" y="134"/>
                    <a:pt x="39" y="134"/>
                    <a:pt x="39" y="134"/>
                  </a:cubicBezTo>
                  <a:cubicBezTo>
                    <a:pt x="36" y="135"/>
                    <a:pt x="36" y="138"/>
                    <a:pt x="37" y="141"/>
                  </a:cubicBezTo>
                  <a:cubicBezTo>
                    <a:pt x="38" y="142"/>
                    <a:pt x="40" y="143"/>
                    <a:pt x="41" y="143"/>
                  </a:cubicBezTo>
                  <a:close/>
                  <a:moveTo>
                    <a:pt x="498" y="127"/>
                  </a:moveTo>
                  <a:cubicBezTo>
                    <a:pt x="498" y="127"/>
                    <a:pt x="498" y="127"/>
                    <a:pt x="498" y="127"/>
                  </a:cubicBezTo>
                  <a:cubicBezTo>
                    <a:pt x="500" y="127"/>
                    <a:pt x="501" y="126"/>
                    <a:pt x="502" y="124"/>
                  </a:cubicBezTo>
                  <a:cubicBezTo>
                    <a:pt x="502" y="124"/>
                    <a:pt x="502" y="124"/>
                    <a:pt x="502" y="124"/>
                  </a:cubicBezTo>
                  <a:cubicBezTo>
                    <a:pt x="503" y="122"/>
                    <a:pt x="502" y="119"/>
                    <a:pt x="500" y="117"/>
                  </a:cubicBezTo>
                  <a:cubicBezTo>
                    <a:pt x="500" y="117"/>
                    <a:pt x="500" y="117"/>
                    <a:pt x="500" y="117"/>
                  </a:cubicBezTo>
                  <a:cubicBezTo>
                    <a:pt x="498" y="116"/>
                    <a:pt x="495" y="117"/>
                    <a:pt x="493" y="120"/>
                  </a:cubicBezTo>
                  <a:cubicBezTo>
                    <a:pt x="493" y="120"/>
                    <a:pt x="493" y="120"/>
                    <a:pt x="493" y="120"/>
                  </a:cubicBezTo>
                  <a:cubicBezTo>
                    <a:pt x="492" y="122"/>
                    <a:pt x="493" y="125"/>
                    <a:pt x="496" y="126"/>
                  </a:cubicBezTo>
                  <a:cubicBezTo>
                    <a:pt x="496" y="127"/>
                    <a:pt x="497" y="127"/>
                    <a:pt x="498" y="127"/>
                  </a:cubicBezTo>
                  <a:close/>
                  <a:moveTo>
                    <a:pt x="32" y="126"/>
                  </a:moveTo>
                  <a:cubicBezTo>
                    <a:pt x="32" y="126"/>
                    <a:pt x="32" y="126"/>
                    <a:pt x="32" y="126"/>
                  </a:cubicBezTo>
                  <a:cubicBezTo>
                    <a:pt x="33" y="126"/>
                    <a:pt x="33" y="125"/>
                    <a:pt x="34" y="125"/>
                  </a:cubicBezTo>
                  <a:cubicBezTo>
                    <a:pt x="34" y="125"/>
                    <a:pt x="34" y="125"/>
                    <a:pt x="34" y="125"/>
                  </a:cubicBezTo>
                  <a:cubicBezTo>
                    <a:pt x="37" y="124"/>
                    <a:pt x="38" y="121"/>
                    <a:pt x="36" y="118"/>
                  </a:cubicBezTo>
                  <a:cubicBezTo>
                    <a:pt x="36" y="118"/>
                    <a:pt x="36" y="118"/>
                    <a:pt x="36" y="118"/>
                  </a:cubicBezTo>
                  <a:cubicBezTo>
                    <a:pt x="35" y="116"/>
                    <a:pt x="32" y="115"/>
                    <a:pt x="30" y="116"/>
                  </a:cubicBezTo>
                  <a:cubicBezTo>
                    <a:pt x="30" y="116"/>
                    <a:pt x="30" y="116"/>
                    <a:pt x="30" y="116"/>
                  </a:cubicBezTo>
                  <a:cubicBezTo>
                    <a:pt x="27" y="117"/>
                    <a:pt x="26" y="120"/>
                    <a:pt x="27" y="123"/>
                  </a:cubicBezTo>
                  <a:cubicBezTo>
                    <a:pt x="28" y="125"/>
                    <a:pt x="30" y="126"/>
                    <a:pt x="32" y="126"/>
                  </a:cubicBezTo>
                  <a:close/>
                  <a:moveTo>
                    <a:pt x="506" y="109"/>
                  </a:moveTo>
                  <a:cubicBezTo>
                    <a:pt x="506" y="109"/>
                    <a:pt x="506" y="109"/>
                    <a:pt x="506" y="109"/>
                  </a:cubicBezTo>
                  <a:cubicBezTo>
                    <a:pt x="508" y="109"/>
                    <a:pt x="510" y="108"/>
                    <a:pt x="511" y="106"/>
                  </a:cubicBezTo>
                  <a:cubicBezTo>
                    <a:pt x="511" y="106"/>
                    <a:pt x="511" y="106"/>
                    <a:pt x="511" y="106"/>
                  </a:cubicBezTo>
                  <a:cubicBezTo>
                    <a:pt x="512" y="103"/>
                    <a:pt x="510" y="100"/>
                    <a:pt x="508" y="99"/>
                  </a:cubicBezTo>
                  <a:cubicBezTo>
                    <a:pt x="508" y="99"/>
                    <a:pt x="508" y="99"/>
                    <a:pt x="508" y="99"/>
                  </a:cubicBezTo>
                  <a:cubicBezTo>
                    <a:pt x="505" y="98"/>
                    <a:pt x="502" y="99"/>
                    <a:pt x="501" y="102"/>
                  </a:cubicBezTo>
                  <a:cubicBezTo>
                    <a:pt x="501" y="102"/>
                    <a:pt x="501" y="102"/>
                    <a:pt x="501" y="102"/>
                  </a:cubicBezTo>
                  <a:cubicBezTo>
                    <a:pt x="500" y="104"/>
                    <a:pt x="502" y="107"/>
                    <a:pt x="504" y="108"/>
                  </a:cubicBezTo>
                  <a:cubicBezTo>
                    <a:pt x="505" y="109"/>
                    <a:pt x="505" y="109"/>
                    <a:pt x="506" y="109"/>
                  </a:cubicBezTo>
                  <a:close/>
                  <a:moveTo>
                    <a:pt x="24" y="107"/>
                  </a:moveTo>
                  <a:cubicBezTo>
                    <a:pt x="24" y="107"/>
                    <a:pt x="24" y="107"/>
                    <a:pt x="24" y="107"/>
                  </a:cubicBezTo>
                  <a:cubicBezTo>
                    <a:pt x="24" y="107"/>
                    <a:pt x="25" y="107"/>
                    <a:pt x="26" y="107"/>
                  </a:cubicBezTo>
                  <a:cubicBezTo>
                    <a:pt x="26" y="107"/>
                    <a:pt x="26" y="107"/>
                    <a:pt x="26" y="107"/>
                  </a:cubicBezTo>
                  <a:cubicBezTo>
                    <a:pt x="28" y="106"/>
                    <a:pt x="29" y="103"/>
                    <a:pt x="28" y="101"/>
                  </a:cubicBezTo>
                  <a:cubicBezTo>
                    <a:pt x="28" y="101"/>
                    <a:pt x="28" y="101"/>
                    <a:pt x="28" y="101"/>
                  </a:cubicBezTo>
                  <a:cubicBezTo>
                    <a:pt x="27" y="98"/>
                    <a:pt x="24" y="97"/>
                    <a:pt x="22" y="98"/>
                  </a:cubicBezTo>
                  <a:cubicBezTo>
                    <a:pt x="22" y="98"/>
                    <a:pt x="22" y="98"/>
                    <a:pt x="22" y="98"/>
                  </a:cubicBezTo>
                  <a:cubicBezTo>
                    <a:pt x="19" y="99"/>
                    <a:pt x="18" y="102"/>
                    <a:pt x="19" y="104"/>
                  </a:cubicBezTo>
                  <a:cubicBezTo>
                    <a:pt x="19" y="104"/>
                    <a:pt x="19" y="104"/>
                    <a:pt x="19" y="104"/>
                  </a:cubicBezTo>
                  <a:cubicBezTo>
                    <a:pt x="19" y="104"/>
                    <a:pt x="19" y="104"/>
                    <a:pt x="19" y="104"/>
                  </a:cubicBezTo>
                  <a:cubicBezTo>
                    <a:pt x="20" y="106"/>
                    <a:pt x="22" y="107"/>
                    <a:pt x="24" y="107"/>
                  </a:cubicBezTo>
                  <a:close/>
                  <a:moveTo>
                    <a:pt x="513" y="90"/>
                  </a:moveTo>
                  <a:cubicBezTo>
                    <a:pt x="513" y="90"/>
                    <a:pt x="513" y="90"/>
                    <a:pt x="513" y="90"/>
                  </a:cubicBezTo>
                  <a:cubicBezTo>
                    <a:pt x="515" y="90"/>
                    <a:pt x="517" y="89"/>
                    <a:pt x="518" y="87"/>
                  </a:cubicBezTo>
                  <a:cubicBezTo>
                    <a:pt x="518" y="87"/>
                    <a:pt x="518" y="87"/>
                    <a:pt x="518" y="87"/>
                  </a:cubicBezTo>
                  <a:cubicBezTo>
                    <a:pt x="518" y="84"/>
                    <a:pt x="517" y="81"/>
                    <a:pt x="514" y="80"/>
                  </a:cubicBezTo>
                  <a:cubicBezTo>
                    <a:pt x="514" y="80"/>
                    <a:pt x="514" y="80"/>
                    <a:pt x="514" y="80"/>
                  </a:cubicBezTo>
                  <a:cubicBezTo>
                    <a:pt x="512" y="79"/>
                    <a:pt x="509" y="81"/>
                    <a:pt x="508" y="84"/>
                  </a:cubicBezTo>
                  <a:cubicBezTo>
                    <a:pt x="508" y="84"/>
                    <a:pt x="508" y="84"/>
                    <a:pt x="508" y="84"/>
                  </a:cubicBezTo>
                  <a:cubicBezTo>
                    <a:pt x="507" y="86"/>
                    <a:pt x="509" y="89"/>
                    <a:pt x="511" y="90"/>
                  </a:cubicBezTo>
                  <a:cubicBezTo>
                    <a:pt x="512" y="90"/>
                    <a:pt x="512" y="90"/>
                    <a:pt x="513" y="90"/>
                  </a:cubicBezTo>
                  <a:close/>
                  <a:moveTo>
                    <a:pt x="17" y="89"/>
                  </a:moveTo>
                  <a:cubicBezTo>
                    <a:pt x="17" y="89"/>
                    <a:pt x="17" y="89"/>
                    <a:pt x="17" y="89"/>
                  </a:cubicBezTo>
                  <a:cubicBezTo>
                    <a:pt x="17" y="89"/>
                    <a:pt x="18" y="89"/>
                    <a:pt x="18" y="88"/>
                  </a:cubicBezTo>
                  <a:cubicBezTo>
                    <a:pt x="18" y="88"/>
                    <a:pt x="18" y="88"/>
                    <a:pt x="18" y="88"/>
                  </a:cubicBezTo>
                  <a:cubicBezTo>
                    <a:pt x="21" y="88"/>
                    <a:pt x="23" y="85"/>
                    <a:pt x="22" y="82"/>
                  </a:cubicBezTo>
                  <a:cubicBezTo>
                    <a:pt x="22" y="82"/>
                    <a:pt x="22" y="82"/>
                    <a:pt x="22" y="82"/>
                  </a:cubicBezTo>
                  <a:cubicBezTo>
                    <a:pt x="21" y="80"/>
                    <a:pt x="18" y="78"/>
                    <a:pt x="15" y="79"/>
                  </a:cubicBezTo>
                  <a:cubicBezTo>
                    <a:pt x="15" y="79"/>
                    <a:pt x="15" y="79"/>
                    <a:pt x="15" y="79"/>
                  </a:cubicBezTo>
                  <a:cubicBezTo>
                    <a:pt x="13" y="80"/>
                    <a:pt x="11" y="83"/>
                    <a:pt x="12" y="85"/>
                  </a:cubicBezTo>
                  <a:cubicBezTo>
                    <a:pt x="12" y="85"/>
                    <a:pt x="12" y="85"/>
                    <a:pt x="12" y="85"/>
                  </a:cubicBezTo>
                  <a:cubicBezTo>
                    <a:pt x="12" y="85"/>
                    <a:pt x="12" y="85"/>
                    <a:pt x="12" y="85"/>
                  </a:cubicBezTo>
                  <a:cubicBezTo>
                    <a:pt x="13" y="87"/>
                    <a:pt x="15" y="89"/>
                    <a:pt x="17" y="89"/>
                  </a:cubicBezTo>
                  <a:close/>
                  <a:moveTo>
                    <a:pt x="518" y="71"/>
                  </a:moveTo>
                  <a:cubicBezTo>
                    <a:pt x="518" y="71"/>
                    <a:pt x="518" y="71"/>
                    <a:pt x="518" y="71"/>
                  </a:cubicBezTo>
                  <a:cubicBezTo>
                    <a:pt x="520" y="71"/>
                    <a:pt x="523" y="69"/>
                    <a:pt x="523" y="67"/>
                  </a:cubicBezTo>
                  <a:cubicBezTo>
                    <a:pt x="523" y="67"/>
                    <a:pt x="523" y="67"/>
                    <a:pt x="523" y="67"/>
                  </a:cubicBezTo>
                  <a:cubicBezTo>
                    <a:pt x="523" y="67"/>
                    <a:pt x="523" y="67"/>
                    <a:pt x="523" y="67"/>
                  </a:cubicBezTo>
                  <a:cubicBezTo>
                    <a:pt x="523" y="67"/>
                    <a:pt x="523" y="67"/>
                    <a:pt x="523" y="67"/>
                  </a:cubicBezTo>
                  <a:cubicBezTo>
                    <a:pt x="524" y="64"/>
                    <a:pt x="522" y="62"/>
                    <a:pt x="519" y="61"/>
                  </a:cubicBezTo>
                  <a:cubicBezTo>
                    <a:pt x="519" y="61"/>
                    <a:pt x="519" y="61"/>
                    <a:pt x="519" y="61"/>
                  </a:cubicBezTo>
                  <a:cubicBezTo>
                    <a:pt x="517" y="60"/>
                    <a:pt x="514" y="62"/>
                    <a:pt x="513" y="65"/>
                  </a:cubicBezTo>
                  <a:cubicBezTo>
                    <a:pt x="513" y="65"/>
                    <a:pt x="513" y="65"/>
                    <a:pt x="513" y="65"/>
                  </a:cubicBezTo>
                  <a:cubicBezTo>
                    <a:pt x="513" y="67"/>
                    <a:pt x="514" y="70"/>
                    <a:pt x="517" y="71"/>
                  </a:cubicBezTo>
                  <a:cubicBezTo>
                    <a:pt x="517" y="71"/>
                    <a:pt x="518" y="71"/>
                    <a:pt x="518" y="71"/>
                  </a:cubicBezTo>
                  <a:close/>
                  <a:moveTo>
                    <a:pt x="12" y="70"/>
                  </a:moveTo>
                  <a:cubicBezTo>
                    <a:pt x="12" y="70"/>
                    <a:pt x="12" y="70"/>
                    <a:pt x="12" y="70"/>
                  </a:cubicBezTo>
                  <a:cubicBezTo>
                    <a:pt x="12" y="70"/>
                    <a:pt x="12" y="69"/>
                    <a:pt x="13" y="69"/>
                  </a:cubicBezTo>
                  <a:cubicBezTo>
                    <a:pt x="13" y="69"/>
                    <a:pt x="13" y="69"/>
                    <a:pt x="13" y="69"/>
                  </a:cubicBezTo>
                  <a:cubicBezTo>
                    <a:pt x="16" y="69"/>
                    <a:pt x="17" y="66"/>
                    <a:pt x="17" y="63"/>
                  </a:cubicBezTo>
                  <a:cubicBezTo>
                    <a:pt x="17" y="63"/>
                    <a:pt x="17" y="63"/>
                    <a:pt x="17" y="63"/>
                  </a:cubicBezTo>
                  <a:cubicBezTo>
                    <a:pt x="16" y="61"/>
                    <a:pt x="13" y="59"/>
                    <a:pt x="11" y="60"/>
                  </a:cubicBezTo>
                  <a:cubicBezTo>
                    <a:pt x="11" y="60"/>
                    <a:pt x="11" y="60"/>
                    <a:pt x="11" y="60"/>
                  </a:cubicBezTo>
                  <a:cubicBezTo>
                    <a:pt x="8" y="60"/>
                    <a:pt x="6" y="63"/>
                    <a:pt x="7" y="66"/>
                  </a:cubicBezTo>
                  <a:cubicBezTo>
                    <a:pt x="7" y="66"/>
                    <a:pt x="7" y="66"/>
                    <a:pt x="7" y="66"/>
                  </a:cubicBezTo>
                  <a:cubicBezTo>
                    <a:pt x="7" y="66"/>
                    <a:pt x="7" y="66"/>
                    <a:pt x="7" y="66"/>
                  </a:cubicBezTo>
                  <a:cubicBezTo>
                    <a:pt x="7" y="68"/>
                    <a:pt x="9" y="70"/>
                    <a:pt x="12" y="70"/>
                  </a:cubicBezTo>
                  <a:close/>
                  <a:moveTo>
                    <a:pt x="8" y="50"/>
                  </a:moveTo>
                  <a:cubicBezTo>
                    <a:pt x="8" y="50"/>
                    <a:pt x="8" y="50"/>
                    <a:pt x="8" y="50"/>
                  </a:cubicBezTo>
                  <a:cubicBezTo>
                    <a:pt x="8" y="50"/>
                    <a:pt x="8" y="50"/>
                    <a:pt x="9" y="50"/>
                  </a:cubicBezTo>
                  <a:cubicBezTo>
                    <a:pt x="9" y="50"/>
                    <a:pt x="9" y="50"/>
                    <a:pt x="9" y="50"/>
                  </a:cubicBezTo>
                  <a:cubicBezTo>
                    <a:pt x="11" y="50"/>
                    <a:pt x="13" y="47"/>
                    <a:pt x="13" y="44"/>
                  </a:cubicBezTo>
                  <a:cubicBezTo>
                    <a:pt x="13" y="44"/>
                    <a:pt x="13" y="44"/>
                    <a:pt x="13" y="44"/>
                  </a:cubicBezTo>
                  <a:cubicBezTo>
                    <a:pt x="12" y="42"/>
                    <a:pt x="10" y="40"/>
                    <a:pt x="7" y="40"/>
                  </a:cubicBezTo>
                  <a:cubicBezTo>
                    <a:pt x="7" y="40"/>
                    <a:pt x="7" y="40"/>
                    <a:pt x="7" y="40"/>
                  </a:cubicBezTo>
                  <a:cubicBezTo>
                    <a:pt x="4" y="40"/>
                    <a:pt x="3" y="43"/>
                    <a:pt x="3" y="46"/>
                  </a:cubicBezTo>
                  <a:cubicBezTo>
                    <a:pt x="3" y="48"/>
                    <a:pt x="5" y="50"/>
                    <a:pt x="8" y="50"/>
                  </a:cubicBezTo>
                  <a:close/>
                  <a:moveTo>
                    <a:pt x="6" y="30"/>
                  </a:moveTo>
                  <a:cubicBezTo>
                    <a:pt x="6" y="30"/>
                    <a:pt x="6" y="30"/>
                    <a:pt x="6" y="30"/>
                  </a:cubicBezTo>
                  <a:cubicBezTo>
                    <a:pt x="6" y="30"/>
                    <a:pt x="6" y="30"/>
                    <a:pt x="6" y="30"/>
                  </a:cubicBezTo>
                  <a:cubicBezTo>
                    <a:pt x="6" y="30"/>
                    <a:pt x="6" y="30"/>
                    <a:pt x="6" y="30"/>
                  </a:cubicBezTo>
                  <a:cubicBezTo>
                    <a:pt x="9" y="30"/>
                    <a:pt x="11" y="28"/>
                    <a:pt x="11" y="25"/>
                  </a:cubicBezTo>
                  <a:cubicBezTo>
                    <a:pt x="11" y="25"/>
                    <a:pt x="11" y="25"/>
                    <a:pt x="11" y="25"/>
                  </a:cubicBezTo>
                  <a:cubicBezTo>
                    <a:pt x="10" y="22"/>
                    <a:pt x="8" y="20"/>
                    <a:pt x="5" y="20"/>
                  </a:cubicBezTo>
                  <a:cubicBezTo>
                    <a:pt x="5" y="20"/>
                    <a:pt x="5" y="20"/>
                    <a:pt x="5" y="20"/>
                  </a:cubicBezTo>
                  <a:cubicBezTo>
                    <a:pt x="3" y="20"/>
                    <a:pt x="0" y="23"/>
                    <a:pt x="1" y="26"/>
                  </a:cubicBezTo>
                  <a:cubicBezTo>
                    <a:pt x="1" y="28"/>
                    <a:pt x="3" y="30"/>
                    <a:pt x="6" y="30"/>
                  </a:cubicBezTo>
                  <a:close/>
                  <a:moveTo>
                    <a:pt x="7" y="10"/>
                  </a:moveTo>
                  <a:cubicBezTo>
                    <a:pt x="7" y="9"/>
                    <a:pt x="8" y="9"/>
                    <a:pt x="8" y="9"/>
                  </a:cubicBezTo>
                  <a:cubicBezTo>
                    <a:pt x="9" y="8"/>
                    <a:pt x="9" y="8"/>
                    <a:pt x="9" y="7"/>
                  </a:cubicBezTo>
                  <a:cubicBezTo>
                    <a:pt x="10" y="6"/>
                    <a:pt x="10" y="6"/>
                    <a:pt x="10" y="5"/>
                  </a:cubicBezTo>
                  <a:cubicBezTo>
                    <a:pt x="10" y="5"/>
                    <a:pt x="10" y="4"/>
                    <a:pt x="10" y="4"/>
                  </a:cubicBezTo>
                  <a:cubicBezTo>
                    <a:pt x="10" y="4"/>
                    <a:pt x="10" y="3"/>
                    <a:pt x="9" y="3"/>
                  </a:cubicBezTo>
                  <a:cubicBezTo>
                    <a:pt x="9" y="3"/>
                    <a:pt x="9" y="2"/>
                    <a:pt x="9" y="2"/>
                  </a:cubicBezTo>
                  <a:cubicBezTo>
                    <a:pt x="9" y="2"/>
                    <a:pt x="9" y="2"/>
                    <a:pt x="8" y="1"/>
                  </a:cubicBezTo>
                  <a:cubicBezTo>
                    <a:pt x="8" y="1"/>
                    <a:pt x="8" y="1"/>
                    <a:pt x="8" y="1"/>
                  </a:cubicBezTo>
                  <a:cubicBezTo>
                    <a:pt x="7" y="1"/>
                    <a:pt x="7" y="1"/>
                    <a:pt x="7" y="0"/>
                  </a:cubicBezTo>
                  <a:cubicBezTo>
                    <a:pt x="6" y="0"/>
                    <a:pt x="6" y="0"/>
                    <a:pt x="6" y="0"/>
                  </a:cubicBezTo>
                  <a:cubicBezTo>
                    <a:pt x="5" y="0"/>
                    <a:pt x="5" y="0"/>
                    <a:pt x="4" y="0"/>
                  </a:cubicBezTo>
                  <a:cubicBezTo>
                    <a:pt x="4" y="0"/>
                    <a:pt x="3" y="0"/>
                    <a:pt x="3" y="0"/>
                  </a:cubicBezTo>
                  <a:cubicBezTo>
                    <a:pt x="3" y="1"/>
                    <a:pt x="2" y="1"/>
                    <a:pt x="2" y="1"/>
                  </a:cubicBezTo>
                  <a:cubicBezTo>
                    <a:pt x="2" y="1"/>
                    <a:pt x="2" y="1"/>
                    <a:pt x="1" y="1"/>
                  </a:cubicBezTo>
                  <a:cubicBezTo>
                    <a:pt x="1" y="2"/>
                    <a:pt x="1" y="2"/>
                    <a:pt x="1" y="2"/>
                  </a:cubicBezTo>
                  <a:cubicBezTo>
                    <a:pt x="1" y="2"/>
                    <a:pt x="0" y="3"/>
                    <a:pt x="0" y="3"/>
                  </a:cubicBezTo>
                  <a:cubicBezTo>
                    <a:pt x="0" y="3"/>
                    <a:pt x="0" y="4"/>
                    <a:pt x="0" y="4"/>
                  </a:cubicBezTo>
                  <a:cubicBezTo>
                    <a:pt x="0" y="4"/>
                    <a:pt x="0" y="5"/>
                    <a:pt x="0" y="5"/>
                  </a:cubicBezTo>
                  <a:cubicBezTo>
                    <a:pt x="0" y="6"/>
                    <a:pt x="0" y="6"/>
                    <a:pt x="0" y="7"/>
                  </a:cubicBezTo>
                  <a:cubicBezTo>
                    <a:pt x="0" y="8"/>
                    <a:pt x="1" y="8"/>
                    <a:pt x="1" y="9"/>
                  </a:cubicBezTo>
                  <a:cubicBezTo>
                    <a:pt x="2" y="9"/>
                    <a:pt x="2" y="9"/>
                    <a:pt x="3" y="10"/>
                  </a:cubicBezTo>
                  <a:cubicBezTo>
                    <a:pt x="4" y="10"/>
                    <a:pt x="4" y="10"/>
                    <a:pt x="5" y="10"/>
                  </a:cubicBezTo>
                  <a:cubicBezTo>
                    <a:pt x="6" y="10"/>
                    <a:pt x="6" y="10"/>
                    <a:pt x="7" y="1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4" name="Oval 8">
              <a:extLst>
                <a:ext uri="{FF2B5EF4-FFF2-40B4-BE49-F238E27FC236}">
                  <a16:creationId xmlns:a16="http://schemas.microsoft.com/office/drawing/2014/main" id="{1287EE01-B080-24C4-4C7D-B6753472628F}"/>
                </a:ext>
              </a:extLst>
            </p:cNvPr>
            <p:cNvSpPr>
              <a:spLocks noChangeArrowheads="1"/>
            </p:cNvSpPr>
            <p:nvPr/>
          </p:nvSpPr>
          <p:spPr bwMode="auto">
            <a:xfrm>
              <a:off x="3629025" y="3376613"/>
              <a:ext cx="103188" cy="107950"/>
            </a:xfrm>
            <a:prstGeom prst="ellipse">
              <a:avLst/>
            </a:prstGeom>
            <a:solidFill>
              <a:schemeClr val="bg2"/>
            </a:solidFill>
            <a:ln w="30163"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ru-UA"/>
            </a:p>
          </p:txBody>
        </p:sp>
        <p:sp>
          <p:nvSpPr>
            <p:cNvPr id="36" name="Oval 9">
              <a:extLst>
                <a:ext uri="{FF2B5EF4-FFF2-40B4-BE49-F238E27FC236}">
                  <a16:creationId xmlns:a16="http://schemas.microsoft.com/office/drawing/2014/main" id="{E39D42EA-61BE-3D28-57DB-40A66A12D46A}"/>
                </a:ext>
              </a:extLst>
            </p:cNvPr>
            <p:cNvSpPr>
              <a:spLocks noChangeArrowheads="1"/>
            </p:cNvSpPr>
            <p:nvPr/>
          </p:nvSpPr>
          <p:spPr bwMode="auto">
            <a:xfrm>
              <a:off x="1644650" y="3376613"/>
              <a:ext cx="107950" cy="107950"/>
            </a:xfrm>
            <a:prstGeom prst="ellipse">
              <a:avLst/>
            </a:prstGeom>
            <a:solidFill>
              <a:schemeClr val="bg2"/>
            </a:solidFill>
            <a:ln w="30163"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ru-UA"/>
            </a:p>
          </p:txBody>
        </p:sp>
      </p:grpSp>
      <p:sp>
        <p:nvSpPr>
          <p:cNvPr id="59" name="Line 11">
            <a:extLst>
              <a:ext uri="{FF2B5EF4-FFF2-40B4-BE49-F238E27FC236}">
                <a16:creationId xmlns:a16="http://schemas.microsoft.com/office/drawing/2014/main" id="{2DE70E2C-5C01-1993-2416-1143C611567E}"/>
              </a:ext>
            </a:extLst>
          </p:cNvPr>
          <p:cNvSpPr>
            <a:spLocks noChangeShapeType="1"/>
          </p:cNvSpPr>
          <p:nvPr/>
        </p:nvSpPr>
        <p:spPr bwMode="auto">
          <a:xfrm>
            <a:off x="3373681" y="3108584"/>
            <a:ext cx="1502376" cy="5716"/>
          </a:xfrm>
          <a:prstGeom prst="line">
            <a:avLst/>
          </a:prstGeom>
          <a:noFill/>
          <a:ln w="30163" cap="rnd">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ru-UA"/>
          </a:p>
        </p:txBody>
      </p:sp>
      <p:sp>
        <p:nvSpPr>
          <p:cNvPr id="66" name="Oval 17">
            <a:extLst>
              <a:ext uri="{FF2B5EF4-FFF2-40B4-BE49-F238E27FC236}">
                <a16:creationId xmlns:a16="http://schemas.microsoft.com/office/drawing/2014/main" id="{D0B146B7-1806-3DFF-A960-D8E40462F84C}"/>
              </a:ext>
            </a:extLst>
          </p:cNvPr>
          <p:cNvSpPr>
            <a:spLocks noChangeArrowheads="1"/>
          </p:cNvSpPr>
          <p:nvPr/>
        </p:nvSpPr>
        <p:spPr bwMode="auto">
          <a:xfrm>
            <a:off x="10482404" y="3054609"/>
            <a:ext cx="106363" cy="107950"/>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nvGrpSpPr>
          <p:cNvPr id="73" name="Group 72">
            <a:extLst>
              <a:ext uri="{FF2B5EF4-FFF2-40B4-BE49-F238E27FC236}">
                <a16:creationId xmlns:a16="http://schemas.microsoft.com/office/drawing/2014/main" id="{3ADA2AC1-2F64-9741-8CD6-3FC27E6FF555}"/>
              </a:ext>
            </a:extLst>
          </p:cNvPr>
          <p:cNvGrpSpPr/>
          <p:nvPr/>
        </p:nvGrpSpPr>
        <p:grpSpPr>
          <a:xfrm>
            <a:off x="8502791" y="3054609"/>
            <a:ext cx="2085976" cy="1063625"/>
            <a:chOff x="6350000" y="3376613"/>
            <a:chExt cx="2085976" cy="1063625"/>
          </a:xfrm>
        </p:grpSpPr>
        <p:sp>
          <p:nvSpPr>
            <p:cNvPr id="74" name="Freeform 16">
              <a:extLst>
                <a:ext uri="{FF2B5EF4-FFF2-40B4-BE49-F238E27FC236}">
                  <a16:creationId xmlns:a16="http://schemas.microsoft.com/office/drawing/2014/main" id="{A1B6B630-BD9E-FA2E-3D10-C89250DA8CBB}"/>
                </a:ext>
              </a:extLst>
            </p:cNvPr>
            <p:cNvSpPr>
              <a:spLocks noEditPoints="1"/>
            </p:cNvSpPr>
            <p:nvPr/>
          </p:nvSpPr>
          <p:spPr bwMode="auto">
            <a:xfrm>
              <a:off x="6394450" y="3567113"/>
              <a:ext cx="1997075" cy="873125"/>
            </a:xfrm>
            <a:custGeom>
              <a:avLst/>
              <a:gdLst>
                <a:gd name="T0" fmla="*/ 517 w 524"/>
                <a:gd name="T1" fmla="*/ 1 h 229"/>
                <a:gd name="T2" fmla="*/ 522 w 524"/>
                <a:gd name="T3" fmla="*/ 9 h 229"/>
                <a:gd name="T4" fmla="*/ 252 w 524"/>
                <a:gd name="T5" fmla="*/ 219 h 229"/>
                <a:gd name="T6" fmla="*/ 272 w 524"/>
                <a:gd name="T7" fmla="*/ 229 h 229"/>
                <a:gd name="T8" fmla="*/ 271 w 524"/>
                <a:gd name="T9" fmla="*/ 219 h 229"/>
                <a:gd name="T10" fmla="*/ 233 w 524"/>
                <a:gd name="T11" fmla="*/ 218 h 229"/>
                <a:gd name="T12" fmla="*/ 291 w 524"/>
                <a:gd name="T13" fmla="*/ 228 h 229"/>
                <a:gd name="T14" fmla="*/ 286 w 524"/>
                <a:gd name="T15" fmla="*/ 223 h 229"/>
                <a:gd name="T16" fmla="*/ 213 w 524"/>
                <a:gd name="T17" fmla="*/ 215 h 229"/>
                <a:gd name="T18" fmla="*/ 311 w 524"/>
                <a:gd name="T19" fmla="*/ 225 h 229"/>
                <a:gd name="T20" fmla="*/ 316 w 524"/>
                <a:gd name="T21" fmla="*/ 219 h 229"/>
                <a:gd name="T22" fmla="*/ 198 w 524"/>
                <a:gd name="T23" fmla="*/ 216 h 229"/>
                <a:gd name="T24" fmla="*/ 193 w 524"/>
                <a:gd name="T25" fmla="*/ 220 h 229"/>
                <a:gd name="T26" fmla="*/ 329 w 524"/>
                <a:gd name="T27" fmla="*/ 210 h 229"/>
                <a:gd name="T28" fmla="*/ 179 w 524"/>
                <a:gd name="T29" fmla="*/ 211 h 229"/>
                <a:gd name="T30" fmla="*/ 349 w 524"/>
                <a:gd name="T31" fmla="*/ 214 h 229"/>
                <a:gd name="T32" fmla="*/ 348 w 524"/>
                <a:gd name="T33" fmla="*/ 204 h 229"/>
                <a:gd name="T34" fmla="*/ 158 w 524"/>
                <a:gd name="T35" fmla="*/ 197 h 229"/>
                <a:gd name="T36" fmla="*/ 368 w 524"/>
                <a:gd name="T37" fmla="*/ 207 h 229"/>
                <a:gd name="T38" fmla="*/ 363 w 524"/>
                <a:gd name="T39" fmla="*/ 204 h 229"/>
                <a:gd name="T40" fmla="*/ 140 w 524"/>
                <a:gd name="T41" fmla="*/ 189 h 229"/>
                <a:gd name="T42" fmla="*/ 388 w 524"/>
                <a:gd name="T43" fmla="*/ 197 h 229"/>
                <a:gd name="T44" fmla="*/ 383 w 524"/>
                <a:gd name="T45" fmla="*/ 189 h 229"/>
                <a:gd name="T46" fmla="*/ 124 w 524"/>
                <a:gd name="T47" fmla="*/ 179 h 229"/>
                <a:gd name="T48" fmla="*/ 403 w 524"/>
                <a:gd name="T49" fmla="*/ 188 h 229"/>
                <a:gd name="T50" fmla="*/ 400 w 524"/>
                <a:gd name="T51" fmla="*/ 179 h 229"/>
                <a:gd name="T52" fmla="*/ 109 w 524"/>
                <a:gd name="T53" fmla="*/ 175 h 229"/>
                <a:gd name="T54" fmla="*/ 419 w 524"/>
                <a:gd name="T55" fmla="*/ 176 h 229"/>
                <a:gd name="T56" fmla="*/ 423 w 524"/>
                <a:gd name="T57" fmla="*/ 168 h 229"/>
                <a:gd name="T58" fmla="*/ 93 w 524"/>
                <a:gd name="T59" fmla="*/ 162 h 229"/>
                <a:gd name="T60" fmla="*/ 86 w 524"/>
                <a:gd name="T61" fmla="*/ 163 h 229"/>
                <a:gd name="T62" fmla="*/ 438 w 524"/>
                <a:gd name="T63" fmla="*/ 156 h 229"/>
                <a:gd name="T64" fmla="*/ 75 w 524"/>
                <a:gd name="T65" fmla="*/ 150 h 229"/>
                <a:gd name="T66" fmla="*/ 71 w 524"/>
                <a:gd name="T67" fmla="*/ 149 h 229"/>
                <a:gd name="T68" fmla="*/ 452 w 524"/>
                <a:gd name="T69" fmla="*/ 142 h 229"/>
                <a:gd name="T70" fmla="*/ 65 w 524"/>
                <a:gd name="T71" fmla="*/ 134 h 229"/>
                <a:gd name="T72" fmla="*/ 62 w 524"/>
                <a:gd name="T73" fmla="*/ 136 h 229"/>
                <a:gd name="T74" fmla="*/ 458 w 524"/>
                <a:gd name="T75" fmla="*/ 127 h 229"/>
                <a:gd name="T76" fmla="*/ 52 w 524"/>
                <a:gd name="T77" fmla="*/ 119 h 229"/>
                <a:gd name="T78" fmla="*/ 45 w 524"/>
                <a:gd name="T79" fmla="*/ 118 h 229"/>
                <a:gd name="T80" fmla="*/ 477 w 524"/>
                <a:gd name="T81" fmla="*/ 111 h 229"/>
                <a:gd name="T82" fmla="*/ 41 w 524"/>
                <a:gd name="T83" fmla="*/ 103 h 229"/>
                <a:gd name="T84" fmla="*/ 34 w 524"/>
                <a:gd name="T85" fmla="*/ 101 h 229"/>
                <a:gd name="T86" fmla="*/ 487 w 524"/>
                <a:gd name="T87" fmla="*/ 94 h 229"/>
                <a:gd name="T88" fmla="*/ 29 w 524"/>
                <a:gd name="T89" fmla="*/ 86 h 229"/>
                <a:gd name="T90" fmla="*/ 25 w 524"/>
                <a:gd name="T91" fmla="*/ 83 h 229"/>
                <a:gd name="T92" fmla="*/ 499 w 524"/>
                <a:gd name="T93" fmla="*/ 83 h 229"/>
                <a:gd name="T94" fmla="*/ 21 w 524"/>
                <a:gd name="T95" fmla="*/ 68 h 229"/>
                <a:gd name="T96" fmla="*/ 19 w 524"/>
                <a:gd name="T97" fmla="*/ 58 h 229"/>
                <a:gd name="T98" fmla="*/ 504 w 524"/>
                <a:gd name="T99" fmla="*/ 58 h 229"/>
                <a:gd name="T100" fmla="*/ 14 w 524"/>
                <a:gd name="T101" fmla="*/ 49 h 229"/>
                <a:gd name="T102" fmla="*/ 9 w 524"/>
                <a:gd name="T103" fmla="*/ 46 h 229"/>
                <a:gd name="T104" fmla="*/ 514 w 524"/>
                <a:gd name="T105" fmla="*/ 46 h 229"/>
                <a:gd name="T106" fmla="*/ 9 w 524"/>
                <a:gd name="T107" fmla="*/ 30 h 229"/>
                <a:gd name="T108" fmla="*/ 7 w 524"/>
                <a:gd name="T109" fmla="*/ 20 h 229"/>
                <a:gd name="T110" fmla="*/ 520 w 524"/>
                <a:gd name="T111" fmla="*/ 26 h 229"/>
                <a:gd name="T112" fmla="*/ 515 w 524"/>
                <a:gd name="T113" fmla="*/ 30 h 229"/>
                <a:gd name="T114" fmla="*/ 8 w 524"/>
                <a:gd name="T115" fmla="*/ 2 h 229"/>
                <a:gd name="T116" fmla="*/ 1 w 524"/>
                <a:gd name="T117" fmla="*/ 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4" h="229">
                  <a:moveTo>
                    <a:pt x="519" y="10"/>
                  </a:moveTo>
                  <a:cubicBezTo>
                    <a:pt x="518" y="10"/>
                    <a:pt x="517" y="10"/>
                    <a:pt x="517" y="10"/>
                  </a:cubicBezTo>
                  <a:cubicBezTo>
                    <a:pt x="516" y="10"/>
                    <a:pt x="516" y="9"/>
                    <a:pt x="515" y="9"/>
                  </a:cubicBezTo>
                  <a:cubicBezTo>
                    <a:pt x="514" y="8"/>
                    <a:pt x="514" y="7"/>
                    <a:pt x="514" y="5"/>
                  </a:cubicBezTo>
                  <a:cubicBezTo>
                    <a:pt x="514" y="4"/>
                    <a:pt x="514" y="3"/>
                    <a:pt x="515" y="2"/>
                  </a:cubicBezTo>
                  <a:cubicBezTo>
                    <a:pt x="515" y="2"/>
                    <a:pt x="516" y="1"/>
                    <a:pt x="516" y="1"/>
                  </a:cubicBezTo>
                  <a:cubicBezTo>
                    <a:pt x="516" y="1"/>
                    <a:pt x="516" y="1"/>
                    <a:pt x="517" y="1"/>
                  </a:cubicBezTo>
                  <a:cubicBezTo>
                    <a:pt x="517" y="1"/>
                    <a:pt x="517" y="1"/>
                    <a:pt x="518" y="1"/>
                  </a:cubicBezTo>
                  <a:cubicBezTo>
                    <a:pt x="518" y="0"/>
                    <a:pt x="519" y="0"/>
                    <a:pt x="520" y="1"/>
                  </a:cubicBezTo>
                  <a:cubicBezTo>
                    <a:pt x="520" y="1"/>
                    <a:pt x="520" y="1"/>
                    <a:pt x="520" y="1"/>
                  </a:cubicBezTo>
                  <a:cubicBezTo>
                    <a:pt x="521" y="1"/>
                    <a:pt x="521" y="1"/>
                    <a:pt x="521" y="1"/>
                  </a:cubicBezTo>
                  <a:cubicBezTo>
                    <a:pt x="522" y="1"/>
                    <a:pt x="522" y="2"/>
                    <a:pt x="522" y="2"/>
                  </a:cubicBezTo>
                  <a:cubicBezTo>
                    <a:pt x="523" y="3"/>
                    <a:pt x="524" y="4"/>
                    <a:pt x="524" y="5"/>
                  </a:cubicBezTo>
                  <a:cubicBezTo>
                    <a:pt x="524" y="7"/>
                    <a:pt x="523" y="8"/>
                    <a:pt x="522" y="9"/>
                  </a:cubicBezTo>
                  <a:cubicBezTo>
                    <a:pt x="521" y="10"/>
                    <a:pt x="520" y="10"/>
                    <a:pt x="519" y="10"/>
                  </a:cubicBezTo>
                  <a:close/>
                  <a:moveTo>
                    <a:pt x="252" y="229"/>
                  </a:moveTo>
                  <a:cubicBezTo>
                    <a:pt x="252" y="229"/>
                    <a:pt x="252" y="229"/>
                    <a:pt x="252" y="229"/>
                  </a:cubicBezTo>
                  <a:cubicBezTo>
                    <a:pt x="255" y="229"/>
                    <a:pt x="257" y="227"/>
                    <a:pt x="257" y="224"/>
                  </a:cubicBezTo>
                  <a:cubicBezTo>
                    <a:pt x="257" y="224"/>
                    <a:pt x="257" y="224"/>
                    <a:pt x="257" y="224"/>
                  </a:cubicBezTo>
                  <a:cubicBezTo>
                    <a:pt x="257" y="222"/>
                    <a:pt x="255" y="219"/>
                    <a:pt x="252" y="219"/>
                  </a:cubicBezTo>
                  <a:cubicBezTo>
                    <a:pt x="252" y="219"/>
                    <a:pt x="252" y="219"/>
                    <a:pt x="252" y="219"/>
                  </a:cubicBezTo>
                  <a:cubicBezTo>
                    <a:pt x="249" y="219"/>
                    <a:pt x="247" y="221"/>
                    <a:pt x="247" y="224"/>
                  </a:cubicBezTo>
                  <a:cubicBezTo>
                    <a:pt x="247" y="224"/>
                    <a:pt x="247" y="224"/>
                    <a:pt x="247" y="224"/>
                  </a:cubicBezTo>
                  <a:cubicBezTo>
                    <a:pt x="247" y="227"/>
                    <a:pt x="249" y="229"/>
                    <a:pt x="252" y="229"/>
                  </a:cubicBezTo>
                  <a:cubicBezTo>
                    <a:pt x="252" y="229"/>
                    <a:pt x="252" y="229"/>
                    <a:pt x="252" y="229"/>
                  </a:cubicBezTo>
                  <a:close/>
                  <a:moveTo>
                    <a:pt x="272" y="229"/>
                  </a:moveTo>
                  <a:cubicBezTo>
                    <a:pt x="272" y="229"/>
                    <a:pt x="272" y="229"/>
                    <a:pt x="272" y="229"/>
                  </a:cubicBezTo>
                  <a:cubicBezTo>
                    <a:pt x="272" y="229"/>
                    <a:pt x="272" y="229"/>
                    <a:pt x="272" y="229"/>
                  </a:cubicBezTo>
                  <a:cubicBezTo>
                    <a:pt x="272" y="229"/>
                    <a:pt x="272" y="229"/>
                    <a:pt x="272" y="229"/>
                  </a:cubicBezTo>
                  <a:cubicBezTo>
                    <a:pt x="272" y="229"/>
                    <a:pt x="272" y="229"/>
                    <a:pt x="272" y="229"/>
                  </a:cubicBezTo>
                  <a:cubicBezTo>
                    <a:pt x="272" y="229"/>
                    <a:pt x="272" y="229"/>
                    <a:pt x="272" y="229"/>
                  </a:cubicBezTo>
                  <a:cubicBezTo>
                    <a:pt x="275" y="229"/>
                    <a:pt x="277" y="227"/>
                    <a:pt x="277" y="224"/>
                  </a:cubicBezTo>
                  <a:cubicBezTo>
                    <a:pt x="277" y="224"/>
                    <a:pt x="277" y="224"/>
                    <a:pt x="277" y="224"/>
                  </a:cubicBezTo>
                  <a:cubicBezTo>
                    <a:pt x="277" y="221"/>
                    <a:pt x="274" y="219"/>
                    <a:pt x="271" y="219"/>
                  </a:cubicBezTo>
                  <a:cubicBezTo>
                    <a:pt x="271" y="219"/>
                    <a:pt x="271" y="219"/>
                    <a:pt x="271" y="219"/>
                  </a:cubicBezTo>
                  <a:cubicBezTo>
                    <a:pt x="269" y="219"/>
                    <a:pt x="267" y="221"/>
                    <a:pt x="267" y="224"/>
                  </a:cubicBezTo>
                  <a:cubicBezTo>
                    <a:pt x="267" y="227"/>
                    <a:pt x="269" y="229"/>
                    <a:pt x="272" y="229"/>
                  </a:cubicBezTo>
                  <a:close/>
                  <a:moveTo>
                    <a:pt x="232" y="228"/>
                  </a:moveTo>
                  <a:cubicBezTo>
                    <a:pt x="232" y="228"/>
                    <a:pt x="232" y="228"/>
                    <a:pt x="232" y="228"/>
                  </a:cubicBezTo>
                  <a:cubicBezTo>
                    <a:pt x="235" y="228"/>
                    <a:pt x="237" y="226"/>
                    <a:pt x="237" y="223"/>
                  </a:cubicBezTo>
                  <a:cubicBezTo>
                    <a:pt x="237" y="223"/>
                    <a:pt x="237" y="223"/>
                    <a:pt x="237" y="223"/>
                  </a:cubicBezTo>
                  <a:cubicBezTo>
                    <a:pt x="237" y="220"/>
                    <a:pt x="235" y="218"/>
                    <a:pt x="233" y="218"/>
                  </a:cubicBezTo>
                  <a:cubicBezTo>
                    <a:pt x="233" y="218"/>
                    <a:pt x="233" y="218"/>
                    <a:pt x="233" y="218"/>
                  </a:cubicBezTo>
                  <a:cubicBezTo>
                    <a:pt x="230" y="217"/>
                    <a:pt x="227" y="219"/>
                    <a:pt x="227" y="222"/>
                  </a:cubicBezTo>
                  <a:cubicBezTo>
                    <a:pt x="227" y="222"/>
                    <a:pt x="227" y="222"/>
                    <a:pt x="227" y="222"/>
                  </a:cubicBezTo>
                  <a:cubicBezTo>
                    <a:pt x="227" y="225"/>
                    <a:pt x="229" y="227"/>
                    <a:pt x="231" y="228"/>
                  </a:cubicBezTo>
                  <a:cubicBezTo>
                    <a:pt x="232" y="228"/>
                    <a:pt x="232" y="228"/>
                    <a:pt x="232" y="228"/>
                  </a:cubicBezTo>
                  <a:close/>
                  <a:moveTo>
                    <a:pt x="291" y="228"/>
                  </a:moveTo>
                  <a:cubicBezTo>
                    <a:pt x="291" y="228"/>
                    <a:pt x="291" y="228"/>
                    <a:pt x="291" y="228"/>
                  </a:cubicBezTo>
                  <a:cubicBezTo>
                    <a:pt x="292" y="228"/>
                    <a:pt x="292" y="228"/>
                    <a:pt x="292" y="228"/>
                  </a:cubicBezTo>
                  <a:cubicBezTo>
                    <a:pt x="292" y="228"/>
                    <a:pt x="292" y="228"/>
                    <a:pt x="292" y="228"/>
                  </a:cubicBezTo>
                  <a:cubicBezTo>
                    <a:pt x="295" y="227"/>
                    <a:pt x="297" y="225"/>
                    <a:pt x="296" y="222"/>
                  </a:cubicBezTo>
                  <a:cubicBezTo>
                    <a:pt x="296" y="222"/>
                    <a:pt x="296" y="222"/>
                    <a:pt x="296" y="222"/>
                  </a:cubicBezTo>
                  <a:cubicBezTo>
                    <a:pt x="296" y="219"/>
                    <a:pt x="294" y="217"/>
                    <a:pt x="291" y="218"/>
                  </a:cubicBezTo>
                  <a:cubicBezTo>
                    <a:pt x="291" y="218"/>
                    <a:pt x="291" y="218"/>
                    <a:pt x="291" y="218"/>
                  </a:cubicBezTo>
                  <a:cubicBezTo>
                    <a:pt x="288" y="218"/>
                    <a:pt x="286" y="220"/>
                    <a:pt x="286" y="223"/>
                  </a:cubicBezTo>
                  <a:cubicBezTo>
                    <a:pt x="287" y="226"/>
                    <a:pt x="289" y="228"/>
                    <a:pt x="291" y="228"/>
                  </a:cubicBezTo>
                  <a:close/>
                  <a:moveTo>
                    <a:pt x="212" y="225"/>
                  </a:moveTo>
                  <a:cubicBezTo>
                    <a:pt x="212" y="225"/>
                    <a:pt x="212" y="225"/>
                    <a:pt x="212" y="225"/>
                  </a:cubicBezTo>
                  <a:cubicBezTo>
                    <a:pt x="215" y="225"/>
                    <a:pt x="217" y="223"/>
                    <a:pt x="217" y="221"/>
                  </a:cubicBezTo>
                  <a:cubicBezTo>
                    <a:pt x="217" y="221"/>
                    <a:pt x="217" y="221"/>
                    <a:pt x="217" y="221"/>
                  </a:cubicBezTo>
                  <a:cubicBezTo>
                    <a:pt x="218" y="218"/>
                    <a:pt x="216" y="215"/>
                    <a:pt x="213" y="215"/>
                  </a:cubicBezTo>
                  <a:cubicBezTo>
                    <a:pt x="213" y="215"/>
                    <a:pt x="213" y="215"/>
                    <a:pt x="213" y="215"/>
                  </a:cubicBezTo>
                  <a:cubicBezTo>
                    <a:pt x="211" y="214"/>
                    <a:pt x="208" y="216"/>
                    <a:pt x="208" y="219"/>
                  </a:cubicBezTo>
                  <a:cubicBezTo>
                    <a:pt x="208" y="219"/>
                    <a:pt x="208" y="219"/>
                    <a:pt x="208" y="219"/>
                  </a:cubicBezTo>
                  <a:cubicBezTo>
                    <a:pt x="207" y="221"/>
                    <a:pt x="209" y="224"/>
                    <a:pt x="212" y="225"/>
                  </a:cubicBezTo>
                  <a:cubicBezTo>
                    <a:pt x="212" y="225"/>
                    <a:pt x="212" y="225"/>
                    <a:pt x="212" y="225"/>
                  </a:cubicBezTo>
                  <a:cubicBezTo>
                    <a:pt x="212" y="225"/>
                    <a:pt x="212" y="225"/>
                    <a:pt x="212" y="225"/>
                  </a:cubicBezTo>
                  <a:cubicBezTo>
                    <a:pt x="212" y="225"/>
                    <a:pt x="212" y="225"/>
                    <a:pt x="212" y="225"/>
                  </a:cubicBezTo>
                  <a:close/>
                  <a:moveTo>
                    <a:pt x="311" y="225"/>
                  </a:moveTo>
                  <a:cubicBezTo>
                    <a:pt x="311" y="225"/>
                    <a:pt x="311" y="225"/>
                    <a:pt x="311" y="225"/>
                  </a:cubicBezTo>
                  <a:cubicBezTo>
                    <a:pt x="311" y="225"/>
                    <a:pt x="312" y="225"/>
                    <a:pt x="312" y="224"/>
                  </a:cubicBezTo>
                  <a:cubicBezTo>
                    <a:pt x="312" y="224"/>
                    <a:pt x="312" y="224"/>
                    <a:pt x="312" y="224"/>
                  </a:cubicBezTo>
                  <a:cubicBezTo>
                    <a:pt x="312" y="224"/>
                    <a:pt x="312" y="224"/>
                    <a:pt x="312" y="224"/>
                  </a:cubicBezTo>
                  <a:cubicBezTo>
                    <a:pt x="312" y="224"/>
                    <a:pt x="312" y="224"/>
                    <a:pt x="312" y="224"/>
                  </a:cubicBezTo>
                  <a:cubicBezTo>
                    <a:pt x="315" y="224"/>
                    <a:pt x="316" y="221"/>
                    <a:pt x="316" y="219"/>
                  </a:cubicBezTo>
                  <a:cubicBezTo>
                    <a:pt x="316" y="219"/>
                    <a:pt x="316" y="219"/>
                    <a:pt x="316" y="219"/>
                  </a:cubicBezTo>
                  <a:cubicBezTo>
                    <a:pt x="315" y="216"/>
                    <a:pt x="313" y="214"/>
                    <a:pt x="310" y="215"/>
                  </a:cubicBezTo>
                  <a:cubicBezTo>
                    <a:pt x="310" y="215"/>
                    <a:pt x="310" y="215"/>
                    <a:pt x="310" y="215"/>
                  </a:cubicBezTo>
                  <a:cubicBezTo>
                    <a:pt x="307" y="215"/>
                    <a:pt x="306" y="218"/>
                    <a:pt x="306" y="221"/>
                  </a:cubicBezTo>
                  <a:cubicBezTo>
                    <a:pt x="307" y="223"/>
                    <a:pt x="309" y="225"/>
                    <a:pt x="311" y="225"/>
                  </a:cubicBezTo>
                  <a:close/>
                  <a:moveTo>
                    <a:pt x="193" y="220"/>
                  </a:moveTo>
                  <a:cubicBezTo>
                    <a:pt x="193" y="220"/>
                    <a:pt x="193" y="220"/>
                    <a:pt x="193" y="220"/>
                  </a:cubicBezTo>
                  <a:cubicBezTo>
                    <a:pt x="195" y="220"/>
                    <a:pt x="197" y="219"/>
                    <a:pt x="198" y="216"/>
                  </a:cubicBezTo>
                  <a:cubicBezTo>
                    <a:pt x="198" y="216"/>
                    <a:pt x="198" y="216"/>
                    <a:pt x="198" y="216"/>
                  </a:cubicBezTo>
                  <a:cubicBezTo>
                    <a:pt x="199" y="214"/>
                    <a:pt x="197" y="211"/>
                    <a:pt x="194" y="210"/>
                  </a:cubicBezTo>
                  <a:cubicBezTo>
                    <a:pt x="194" y="210"/>
                    <a:pt x="194" y="210"/>
                    <a:pt x="194" y="210"/>
                  </a:cubicBezTo>
                  <a:cubicBezTo>
                    <a:pt x="192" y="210"/>
                    <a:pt x="189" y="211"/>
                    <a:pt x="188" y="214"/>
                  </a:cubicBezTo>
                  <a:cubicBezTo>
                    <a:pt x="188" y="214"/>
                    <a:pt x="188" y="214"/>
                    <a:pt x="188" y="214"/>
                  </a:cubicBezTo>
                  <a:cubicBezTo>
                    <a:pt x="188" y="217"/>
                    <a:pt x="189" y="219"/>
                    <a:pt x="192" y="220"/>
                  </a:cubicBezTo>
                  <a:cubicBezTo>
                    <a:pt x="192" y="220"/>
                    <a:pt x="193" y="220"/>
                    <a:pt x="193" y="220"/>
                  </a:cubicBezTo>
                  <a:close/>
                  <a:moveTo>
                    <a:pt x="330" y="220"/>
                  </a:moveTo>
                  <a:cubicBezTo>
                    <a:pt x="330" y="220"/>
                    <a:pt x="330" y="220"/>
                    <a:pt x="330" y="220"/>
                  </a:cubicBezTo>
                  <a:cubicBezTo>
                    <a:pt x="331" y="220"/>
                    <a:pt x="331" y="220"/>
                    <a:pt x="332" y="220"/>
                  </a:cubicBezTo>
                  <a:cubicBezTo>
                    <a:pt x="332" y="220"/>
                    <a:pt x="332" y="220"/>
                    <a:pt x="332" y="220"/>
                  </a:cubicBezTo>
                  <a:cubicBezTo>
                    <a:pt x="334" y="219"/>
                    <a:pt x="336" y="216"/>
                    <a:pt x="335" y="214"/>
                  </a:cubicBezTo>
                  <a:cubicBezTo>
                    <a:pt x="335" y="214"/>
                    <a:pt x="335" y="214"/>
                    <a:pt x="335" y="214"/>
                  </a:cubicBezTo>
                  <a:cubicBezTo>
                    <a:pt x="334" y="211"/>
                    <a:pt x="332" y="210"/>
                    <a:pt x="329" y="210"/>
                  </a:cubicBezTo>
                  <a:cubicBezTo>
                    <a:pt x="329" y="210"/>
                    <a:pt x="329" y="210"/>
                    <a:pt x="329" y="210"/>
                  </a:cubicBezTo>
                  <a:cubicBezTo>
                    <a:pt x="326" y="211"/>
                    <a:pt x="325" y="214"/>
                    <a:pt x="326" y="216"/>
                  </a:cubicBezTo>
                  <a:cubicBezTo>
                    <a:pt x="326" y="219"/>
                    <a:pt x="328" y="220"/>
                    <a:pt x="330" y="220"/>
                  </a:cubicBezTo>
                  <a:close/>
                  <a:moveTo>
                    <a:pt x="174" y="214"/>
                  </a:moveTo>
                  <a:cubicBezTo>
                    <a:pt x="174" y="214"/>
                    <a:pt x="174" y="214"/>
                    <a:pt x="174" y="214"/>
                  </a:cubicBezTo>
                  <a:cubicBezTo>
                    <a:pt x="176" y="214"/>
                    <a:pt x="178" y="213"/>
                    <a:pt x="179" y="211"/>
                  </a:cubicBezTo>
                  <a:cubicBezTo>
                    <a:pt x="179" y="211"/>
                    <a:pt x="179" y="211"/>
                    <a:pt x="179" y="211"/>
                  </a:cubicBezTo>
                  <a:cubicBezTo>
                    <a:pt x="180" y="208"/>
                    <a:pt x="178" y="205"/>
                    <a:pt x="176" y="205"/>
                  </a:cubicBezTo>
                  <a:cubicBezTo>
                    <a:pt x="176" y="205"/>
                    <a:pt x="176" y="205"/>
                    <a:pt x="176" y="205"/>
                  </a:cubicBezTo>
                  <a:cubicBezTo>
                    <a:pt x="173" y="204"/>
                    <a:pt x="170" y="205"/>
                    <a:pt x="169" y="208"/>
                  </a:cubicBezTo>
                  <a:cubicBezTo>
                    <a:pt x="169" y="208"/>
                    <a:pt x="169" y="208"/>
                    <a:pt x="169" y="208"/>
                  </a:cubicBezTo>
                  <a:cubicBezTo>
                    <a:pt x="169" y="210"/>
                    <a:pt x="170" y="213"/>
                    <a:pt x="172" y="214"/>
                  </a:cubicBezTo>
                  <a:cubicBezTo>
                    <a:pt x="173" y="214"/>
                    <a:pt x="174" y="214"/>
                    <a:pt x="174" y="214"/>
                  </a:cubicBezTo>
                  <a:close/>
                  <a:moveTo>
                    <a:pt x="349" y="214"/>
                  </a:moveTo>
                  <a:cubicBezTo>
                    <a:pt x="349" y="214"/>
                    <a:pt x="349" y="214"/>
                    <a:pt x="349" y="214"/>
                  </a:cubicBezTo>
                  <a:cubicBezTo>
                    <a:pt x="350" y="214"/>
                    <a:pt x="350" y="214"/>
                    <a:pt x="351" y="214"/>
                  </a:cubicBezTo>
                  <a:cubicBezTo>
                    <a:pt x="351" y="214"/>
                    <a:pt x="351" y="214"/>
                    <a:pt x="351" y="214"/>
                  </a:cubicBezTo>
                  <a:cubicBezTo>
                    <a:pt x="354" y="213"/>
                    <a:pt x="355" y="210"/>
                    <a:pt x="354" y="207"/>
                  </a:cubicBezTo>
                  <a:cubicBezTo>
                    <a:pt x="354" y="207"/>
                    <a:pt x="354" y="207"/>
                    <a:pt x="354" y="207"/>
                  </a:cubicBezTo>
                  <a:cubicBezTo>
                    <a:pt x="353" y="205"/>
                    <a:pt x="350" y="203"/>
                    <a:pt x="348" y="204"/>
                  </a:cubicBezTo>
                  <a:cubicBezTo>
                    <a:pt x="348" y="204"/>
                    <a:pt x="348" y="204"/>
                    <a:pt x="348" y="204"/>
                  </a:cubicBezTo>
                  <a:cubicBezTo>
                    <a:pt x="345" y="205"/>
                    <a:pt x="344" y="208"/>
                    <a:pt x="345" y="211"/>
                  </a:cubicBezTo>
                  <a:cubicBezTo>
                    <a:pt x="345" y="213"/>
                    <a:pt x="347" y="214"/>
                    <a:pt x="349" y="214"/>
                  </a:cubicBezTo>
                  <a:close/>
                  <a:moveTo>
                    <a:pt x="156" y="207"/>
                  </a:moveTo>
                  <a:cubicBezTo>
                    <a:pt x="156" y="207"/>
                    <a:pt x="156" y="207"/>
                    <a:pt x="156" y="207"/>
                  </a:cubicBezTo>
                  <a:cubicBezTo>
                    <a:pt x="158" y="207"/>
                    <a:pt x="159" y="206"/>
                    <a:pt x="160" y="204"/>
                  </a:cubicBezTo>
                  <a:cubicBezTo>
                    <a:pt x="160" y="204"/>
                    <a:pt x="160" y="204"/>
                    <a:pt x="160" y="204"/>
                  </a:cubicBezTo>
                  <a:cubicBezTo>
                    <a:pt x="161" y="201"/>
                    <a:pt x="160" y="198"/>
                    <a:pt x="158" y="197"/>
                  </a:cubicBezTo>
                  <a:cubicBezTo>
                    <a:pt x="158" y="197"/>
                    <a:pt x="158" y="197"/>
                    <a:pt x="158" y="197"/>
                  </a:cubicBezTo>
                  <a:cubicBezTo>
                    <a:pt x="155" y="196"/>
                    <a:pt x="152" y="197"/>
                    <a:pt x="151" y="200"/>
                  </a:cubicBezTo>
                  <a:cubicBezTo>
                    <a:pt x="151" y="200"/>
                    <a:pt x="151" y="200"/>
                    <a:pt x="151" y="200"/>
                  </a:cubicBezTo>
                  <a:cubicBezTo>
                    <a:pt x="150" y="202"/>
                    <a:pt x="151" y="205"/>
                    <a:pt x="154" y="206"/>
                  </a:cubicBezTo>
                  <a:cubicBezTo>
                    <a:pt x="154" y="207"/>
                    <a:pt x="155" y="207"/>
                    <a:pt x="156" y="207"/>
                  </a:cubicBezTo>
                  <a:close/>
                  <a:moveTo>
                    <a:pt x="368" y="207"/>
                  </a:moveTo>
                  <a:cubicBezTo>
                    <a:pt x="368" y="207"/>
                    <a:pt x="368" y="207"/>
                    <a:pt x="368" y="207"/>
                  </a:cubicBezTo>
                  <a:cubicBezTo>
                    <a:pt x="368" y="207"/>
                    <a:pt x="369" y="207"/>
                    <a:pt x="370" y="206"/>
                  </a:cubicBezTo>
                  <a:cubicBezTo>
                    <a:pt x="370" y="206"/>
                    <a:pt x="370" y="206"/>
                    <a:pt x="370" y="206"/>
                  </a:cubicBezTo>
                  <a:cubicBezTo>
                    <a:pt x="372" y="205"/>
                    <a:pt x="373" y="202"/>
                    <a:pt x="372" y="200"/>
                  </a:cubicBezTo>
                  <a:cubicBezTo>
                    <a:pt x="372" y="200"/>
                    <a:pt x="372" y="200"/>
                    <a:pt x="372" y="200"/>
                  </a:cubicBezTo>
                  <a:cubicBezTo>
                    <a:pt x="371" y="197"/>
                    <a:pt x="368" y="196"/>
                    <a:pt x="366" y="197"/>
                  </a:cubicBezTo>
                  <a:cubicBezTo>
                    <a:pt x="366" y="197"/>
                    <a:pt x="366" y="197"/>
                    <a:pt x="366" y="197"/>
                  </a:cubicBezTo>
                  <a:cubicBezTo>
                    <a:pt x="363" y="198"/>
                    <a:pt x="362" y="201"/>
                    <a:pt x="363" y="204"/>
                  </a:cubicBezTo>
                  <a:cubicBezTo>
                    <a:pt x="364" y="206"/>
                    <a:pt x="366" y="207"/>
                    <a:pt x="368" y="207"/>
                  </a:cubicBezTo>
                  <a:close/>
                  <a:moveTo>
                    <a:pt x="138" y="198"/>
                  </a:moveTo>
                  <a:cubicBezTo>
                    <a:pt x="138" y="198"/>
                    <a:pt x="138" y="198"/>
                    <a:pt x="138" y="198"/>
                  </a:cubicBezTo>
                  <a:cubicBezTo>
                    <a:pt x="140" y="198"/>
                    <a:pt x="141" y="197"/>
                    <a:pt x="142" y="195"/>
                  </a:cubicBezTo>
                  <a:cubicBezTo>
                    <a:pt x="142" y="195"/>
                    <a:pt x="142" y="195"/>
                    <a:pt x="142" y="195"/>
                  </a:cubicBezTo>
                  <a:cubicBezTo>
                    <a:pt x="144" y="193"/>
                    <a:pt x="143" y="190"/>
                    <a:pt x="140" y="189"/>
                  </a:cubicBezTo>
                  <a:cubicBezTo>
                    <a:pt x="140" y="189"/>
                    <a:pt x="140" y="189"/>
                    <a:pt x="140" y="189"/>
                  </a:cubicBezTo>
                  <a:cubicBezTo>
                    <a:pt x="138" y="187"/>
                    <a:pt x="135" y="188"/>
                    <a:pt x="134" y="191"/>
                  </a:cubicBezTo>
                  <a:cubicBezTo>
                    <a:pt x="134" y="191"/>
                    <a:pt x="134" y="191"/>
                    <a:pt x="134" y="191"/>
                  </a:cubicBezTo>
                  <a:cubicBezTo>
                    <a:pt x="132" y="193"/>
                    <a:pt x="133" y="196"/>
                    <a:pt x="136" y="197"/>
                  </a:cubicBezTo>
                  <a:cubicBezTo>
                    <a:pt x="136" y="198"/>
                    <a:pt x="137" y="198"/>
                    <a:pt x="138" y="198"/>
                  </a:cubicBezTo>
                  <a:close/>
                  <a:moveTo>
                    <a:pt x="385" y="198"/>
                  </a:moveTo>
                  <a:cubicBezTo>
                    <a:pt x="385" y="198"/>
                    <a:pt x="385" y="198"/>
                    <a:pt x="385" y="198"/>
                  </a:cubicBezTo>
                  <a:cubicBezTo>
                    <a:pt x="386" y="198"/>
                    <a:pt x="387" y="198"/>
                    <a:pt x="388" y="197"/>
                  </a:cubicBezTo>
                  <a:cubicBezTo>
                    <a:pt x="388" y="197"/>
                    <a:pt x="388" y="197"/>
                    <a:pt x="388" y="197"/>
                  </a:cubicBezTo>
                  <a:cubicBezTo>
                    <a:pt x="388" y="197"/>
                    <a:pt x="388" y="197"/>
                    <a:pt x="388" y="197"/>
                  </a:cubicBezTo>
                  <a:cubicBezTo>
                    <a:pt x="388" y="197"/>
                    <a:pt x="388" y="197"/>
                    <a:pt x="388" y="197"/>
                  </a:cubicBezTo>
                  <a:cubicBezTo>
                    <a:pt x="390" y="196"/>
                    <a:pt x="391" y="193"/>
                    <a:pt x="390" y="191"/>
                  </a:cubicBezTo>
                  <a:cubicBezTo>
                    <a:pt x="390" y="191"/>
                    <a:pt x="390" y="191"/>
                    <a:pt x="390" y="191"/>
                  </a:cubicBezTo>
                  <a:cubicBezTo>
                    <a:pt x="389" y="188"/>
                    <a:pt x="386" y="187"/>
                    <a:pt x="383" y="189"/>
                  </a:cubicBezTo>
                  <a:cubicBezTo>
                    <a:pt x="383" y="189"/>
                    <a:pt x="383" y="189"/>
                    <a:pt x="383" y="189"/>
                  </a:cubicBezTo>
                  <a:cubicBezTo>
                    <a:pt x="381" y="190"/>
                    <a:pt x="380" y="193"/>
                    <a:pt x="381" y="195"/>
                  </a:cubicBezTo>
                  <a:cubicBezTo>
                    <a:pt x="382" y="197"/>
                    <a:pt x="384" y="198"/>
                    <a:pt x="385" y="198"/>
                  </a:cubicBezTo>
                  <a:close/>
                  <a:moveTo>
                    <a:pt x="121" y="188"/>
                  </a:moveTo>
                  <a:cubicBezTo>
                    <a:pt x="121" y="188"/>
                    <a:pt x="121" y="188"/>
                    <a:pt x="121" y="188"/>
                  </a:cubicBezTo>
                  <a:cubicBezTo>
                    <a:pt x="123" y="188"/>
                    <a:pt x="124" y="187"/>
                    <a:pt x="125" y="186"/>
                  </a:cubicBezTo>
                  <a:cubicBezTo>
                    <a:pt x="125" y="186"/>
                    <a:pt x="125" y="186"/>
                    <a:pt x="125" y="186"/>
                  </a:cubicBezTo>
                  <a:cubicBezTo>
                    <a:pt x="127" y="183"/>
                    <a:pt x="126" y="180"/>
                    <a:pt x="124" y="179"/>
                  </a:cubicBezTo>
                  <a:cubicBezTo>
                    <a:pt x="124" y="179"/>
                    <a:pt x="124" y="179"/>
                    <a:pt x="124" y="179"/>
                  </a:cubicBezTo>
                  <a:cubicBezTo>
                    <a:pt x="121" y="177"/>
                    <a:pt x="118" y="178"/>
                    <a:pt x="117" y="180"/>
                  </a:cubicBezTo>
                  <a:cubicBezTo>
                    <a:pt x="117" y="180"/>
                    <a:pt x="117" y="180"/>
                    <a:pt x="117" y="180"/>
                  </a:cubicBezTo>
                  <a:cubicBezTo>
                    <a:pt x="115" y="183"/>
                    <a:pt x="116" y="186"/>
                    <a:pt x="118" y="187"/>
                  </a:cubicBezTo>
                  <a:cubicBezTo>
                    <a:pt x="119" y="188"/>
                    <a:pt x="120" y="188"/>
                    <a:pt x="121" y="188"/>
                  </a:cubicBezTo>
                  <a:close/>
                  <a:moveTo>
                    <a:pt x="403" y="188"/>
                  </a:moveTo>
                  <a:cubicBezTo>
                    <a:pt x="403" y="188"/>
                    <a:pt x="403" y="188"/>
                    <a:pt x="403" y="188"/>
                  </a:cubicBezTo>
                  <a:cubicBezTo>
                    <a:pt x="403" y="188"/>
                    <a:pt x="404" y="188"/>
                    <a:pt x="405" y="187"/>
                  </a:cubicBezTo>
                  <a:cubicBezTo>
                    <a:pt x="405" y="187"/>
                    <a:pt x="405" y="187"/>
                    <a:pt x="405" y="187"/>
                  </a:cubicBezTo>
                  <a:cubicBezTo>
                    <a:pt x="405" y="187"/>
                    <a:pt x="405" y="187"/>
                    <a:pt x="405" y="187"/>
                  </a:cubicBezTo>
                  <a:cubicBezTo>
                    <a:pt x="405" y="187"/>
                    <a:pt x="405" y="187"/>
                    <a:pt x="405" y="187"/>
                  </a:cubicBezTo>
                  <a:cubicBezTo>
                    <a:pt x="408" y="186"/>
                    <a:pt x="408" y="182"/>
                    <a:pt x="407" y="180"/>
                  </a:cubicBezTo>
                  <a:cubicBezTo>
                    <a:pt x="407" y="180"/>
                    <a:pt x="407" y="180"/>
                    <a:pt x="407" y="180"/>
                  </a:cubicBezTo>
                  <a:cubicBezTo>
                    <a:pt x="405" y="178"/>
                    <a:pt x="402" y="177"/>
                    <a:pt x="400" y="179"/>
                  </a:cubicBezTo>
                  <a:cubicBezTo>
                    <a:pt x="400" y="179"/>
                    <a:pt x="400" y="179"/>
                    <a:pt x="400" y="179"/>
                  </a:cubicBezTo>
                  <a:cubicBezTo>
                    <a:pt x="398" y="180"/>
                    <a:pt x="397" y="183"/>
                    <a:pt x="398" y="186"/>
                  </a:cubicBezTo>
                  <a:cubicBezTo>
                    <a:pt x="399" y="187"/>
                    <a:pt x="401" y="188"/>
                    <a:pt x="403" y="188"/>
                  </a:cubicBezTo>
                  <a:close/>
                  <a:moveTo>
                    <a:pt x="105" y="177"/>
                  </a:moveTo>
                  <a:cubicBezTo>
                    <a:pt x="105" y="177"/>
                    <a:pt x="105" y="177"/>
                    <a:pt x="105" y="177"/>
                  </a:cubicBezTo>
                  <a:cubicBezTo>
                    <a:pt x="106" y="177"/>
                    <a:pt x="108" y="176"/>
                    <a:pt x="109" y="175"/>
                  </a:cubicBezTo>
                  <a:cubicBezTo>
                    <a:pt x="109" y="175"/>
                    <a:pt x="109" y="175"/>
                    <a:pt x="109" y="175"/>
                  </a:cubicBezTo>
                  <a:cubicBezTo>
                    <a:pt x="110" y="172"/>
                    <a:pt x="110" y="169"/>
                    <a:pt x="108" y="168"/>
                  </a:cubicBezTo>
                  <a:cubicBezTo>
                    <a:pt x="108" y="168"/>
                    <a:pt x="108" y="168"/>
                    <a:pt x="108" y="168"/>
                  </a:cubicBezTo>
                  <a:cubicBezTo>
                    <a:pt x="105" y="166"/>
                    <a:pt x="102" y="166"/>
                    <a:pt x="101" y="169"/>
                  </a:cubicBezTo>
                  <a:cubicBezTo>
                    <a:pt x="101" y="169"/>
                    <a:pt x="101" y="169"/>
                    <a:pt x="101" y="169"/>
                  </a:cubicBezTo>
                  <a:cubicBezTo>
                    <a:pt x="99" y="171"/>
                    <a:pt x="99" y="174"/>
                    <a:pt x="102" y="176"/>
                  </a:cubicBezTo>
                  <a:cubicBezTo>
                    <a:pt x="102" y="176"/>
                    <a:pt x="104" y="177"/>
                    <a:pt x="105" y="177"/>
                  </a:cubicBezTo>
                  <a:close/>
                  <a:moveTo>
                    <a:pt x="419" y="176"/>
                  </a:moveTo>
                  <a:cubicBezTo>
                    <a:pt x="419" y="176"/>
                    <a:pt x="419" y="176"/>
                    <a:pt x="419" y="176"/>
                  </a:cubicBezTo>
                  <a:cubicBezTo>
                    <a:pt x="420" y="176"/>
                    <a:pt x="421" y="176"/>
                    <a:pt x="422" y="175"/>
                  </a:cubicBezTo>
                  <a:cubicBezTo>
                    <a:pt x="422" y="175"/>
                    <a:pt x="422" y="175"/>
                    <a:pt x="422" y="175"/>
                  </a:cubicBezTo>
                  <a:cubicBezTo>
                    <a:pt x="422" y="175"/>
                    <a:pt x="422" y="175"/>
                    <a:pt x="422" y="175"/>
                  </a:cubicBezTo>
                  <a:cubicBezTo>
                    <a:pt x="422" y="175"/>
                    <a:pt x="422" y="175"/>
                    <a:pt x="422" y="175"/>
                  </a:cubicBezTo>
                  <a:cubicBezTo>
                    <a:pt x="424" y="174"/>
                    <a:pt x="424" y="171"/>
                    <a:pt x="423" y="168"/>
                  </a:cubicBezTo>
                  <a:cubicBezTo>
                    <a:pt x="423" y="168"/>
                    <a:pt x="423" y="168"/>
                    <a:pt x="423" y="168"/>
                  </a:cubicBezTo>
                  <a:cubicBezTo>
                    <a:pt x="421" y="166"/>
                    <a:pt x="418" y="166"/>
                    <a:pt x="416" y="167"/>
                  </a:cubicBezTo>
                  <a:cubicBezTo>
                    <a:pt x="416" y="167"/>
                    <a:pt x="416" y="167"/>
                    <a:pt x="416" y="167"/>
                  </a:cubicBezTo>
                  <a:cubicBezTo>
                    <a:pt x="414" y="169"/>
                    <a:pt x="413" y="172"/>
                    <a:pt x="415" y="174"/>
                  </a:cubicBezTo>
                  <a:cubicBezTo>
                    <a:pt x="416" y="176"/>
                    <a:pt x="417" y="176"/>
                    <a:pt x="419" y="176"/>
                  </a:cubicBezTo>
                  <a:close/>
                  <a:moveTo>
                    <a:pt x="89" y="164"/>
                  </a:moveTo>
                  <a:cubicBezTo>
                    <a:pt x="89" y="164"/>
                    <a:pt x="89" y="164"/>
                    <a:pt x="89" y="164"/>
                  </a:cubicBezTo>
                  <a:cubicBezTo>
                    <a:pt x="91" y="164"/>
                    <a:pt x="92" y="163"/>
                    <a:pt x="93" y="162"/>
                  </a:cubicBezTo>
                  <a:cubicBezTo>
                    <a:pt x="93" y="162"/>
                    <a:pt x="93" y="162"/>
                    <a:pt x="93" y="162"/>
                  </a:cubicBezTo>
                  <a:cubicBezTo>
                    <a:pt x="95" y="160"/>
                    <a:pt x="95" y="157"/>
                    <a:pt x="93" y="155"/>
                  </a:cubicBezTo>
                  <a:cubicBezTo>
                    <a:pt x="93" y="155"/>
                    <a:pt x="93" y="155"/>
                    <a:pt x="93" y="155"/>
                  </a:cubicBezTo>
                  <a:cubicBezTo>
                    <a:pt x="90" y="153"/>
                    <a:pt x="87" y="154"/>
                    <a:pt x="86" y="156"/>
                  </a:cubicBezTo>
                  <a:cubicBezTo>
                    <a:pt x="86" y="156"/>
                    <a:pt x="86" y="156"/>
                    <a:pt x="86" y="156"/>
                  </a:cubicBezTo>
                  <a:cubicBezTo>
                    <a:pt x="84" y="158"/>
                    <a:pt x="84" y="161"/>
                    <a:pt x="86" y="163"/>
                  </a:cubicBezTo>
                  <a:cubicBezTo>
                    <a:pt x="86" y="163"/>
                    <a:pt x="86" y="163"/>
                    <a:pt x="86" y="163"/>
                  </a:cubicBezTo>
                  <a:cubicBezTo>
                    <a:pt x="86" y="163"/>
                    <a:pt x="86" y="163"/>
                    <a:pt x="86" y="163"/>
                  </a:cubicBezTo>
                  <a:cubicBezTo>
                    <a:pt x="87" y="164"/>
                    <a:pt x="88" y="164"/>
                    <a:pt x="89" y="164"/>
                  </a:cubicBezTo>
                  <a:close/>
                  <a:moveTo>
                    <a:pt x="434" y="164"/>
                  </a:moveTo>
                  <a:cubicBezTo>
                    <a:pt x="434" y="164"/>
                    <a:pt x="434" y="164"/>
                    <a:pt x="434" y="164"/>
                  </a:cubicBezTo>
                  <a:cubicBezTo>
                    <a:pt x="435" y="164"/>
                    <a:pt x="436" y="163"/>
                    <a:pt x="437" y="163"/>
                  </a:cubicBezTo>
                  <a:cubicBezTo>
                    <a:pt x="437" y="163"/>
                    <a:pt x="437" y="163"/>
                    <a:pt x="437" y="163"/>
                  </a:cubicBezTo>
                  <a:cubicBezTo>
                    <a:pt x="440" y="161"/>
                    <a:pt x="440" y="158"/>
                    <a:pt x="438" y="156"/>
                  </a:cubicBezTo>
                  <a:cubicBezTo>
                    <a:pt x="438" y="156"/>
                    <a:pt x="438" y="156"/>
                    <a:pt x="438" y="156"/>
                  </a:cubicBezTo>
                  <a:cubicBezTo>
                    <a:pt x="436" y="153"/>
                    <a:pt x="433" y="153"/>
                    <a:pt x="431" y="155"/>
                  </a:cubicBezTo>
                  <a:cubicBezTo>
                    <a:pt x="431" y="155"/>
                    <a:pt x="431" y="155"/>
                    <a:pt x="431" y="155"/>
                  </a:cubicBezTo>
                  <a:cubicBezTo>
                    <a:pt x="429" y="157"/>
                    <a:pt x="429" y="160"/>
                    <a:pt x="430" y="162"/>
                  </a:cubicBezTo>
                  <a:cubicBezTo>
                    <a:pt x="431" y="163"/>
                    <a:pt x="433" y="164"/>
                    <a:pt x="434" y="164"/>
                  </a:cubicBezTo>
                  <a:close/>
                  <a:moveTo>
                    <a:pt x="75" y="150"/>
                  </a:moveTo>
                  <a:cubicBezTo>
                    <a:pt x="75" y="150"/>
                    <a:pt x="75" y="150"/>
                    <a:pt x="75" y="150"/>
                  </a:cubicBezTo>
                  <a:cubicBezTo>
                    <a:pt x="76" y="150"/>
                    <a:pt x="77" y="150"/>
                    <a:pt x="78" y="149"/>
                  </a:cubicBezTo>
                  <a:cubicBezTo>
                    <a:pt x="78" y="149"/>
                    <a:pt x="78" y="149"/>
                    <a:pt x="78" y="149"/>
                  </a:cubicBezTo>
                  <a:cubicBezTo>
                    <a:pt x="80" y="147"/>
                    <a:pt x="80" y="144"/>
                    <a:pt x="78" y="142"/>
                  </a:cubicBezTo>
                  <a:cubicBezTo>
                    <a:pt x="78" y="142"/>
                    <a:pt x="78" y="142"/>
                    <a:pt x="78" y="142"/>
                  </a:cubicBezTo>
                  <a:cubicBezTo>
                    <a:pt x="77" y="140"/>
                    <a:pt x="73" y="140"/>
                    <a:pt x="71" y="142"/>
                  </a:cubicBezTo>
                  <a:cubicBezTo>
                    <a:pt x="71" y="142"/>
                    <a:pt x="71" y="142"/>
                    <a:pt x="71" y="142"/>
                  </a:cubicBezTo>
                  <a:cubicBezTo>
                    <a:pt x="69" y="144"/>
                    <a:pt x="69" y="147"/>
                    <a:pt x="71" y="149"/>
                  </a:cubicBezTo>
                  <a:cubicBezTo>
                    <a:pt x="72" y="150"/>
                    <a:pt x="74" y="150"/>
                    <a:pt x="75" y="150"/>
                  </a:cubicBezTo>
                  <a:close/>
                  <a:moveTo>
                    <a:pt x="448" y="150"/>
                  </a:moveTo>
                  <a:cubicBezTo>
                    <a:pt x="448" y="150"/>
                    <a:pt x="448" y="150"/>
                    <a:pt x="448" y="150"/>
                  </a:cubicBezTo>
                  <a:cubicBezTo>
                    <a:pt x="450" y="150"/>
                    <a:pt x="451" y="150"/>
                    <a:pt x="452" y="149"/>
                  </a:cubicBezTo>
                  <a:cubicBezTo>
                    <a:pt x="452" y="149"/>
                    <a:pt x="452" y="149"/>
                    <a:pt x="452" y="149"/>
                  </a:cubicBezTo>
                  <a:cubicBezTo>
                    <a:pt x="454" y="147"/>
                    <a:pt x="454" y="143"/>
                    <a:pt x="452" y="142"/>
                  </a:cubicBezTo>
                  <a:cubicBezTo>
                    <a:pt x="452" y="142"/>
                    <a:pt x="452" y="142"/>
                    <a:pt x="452" y="142"/>
                  </a:cubicBezTo>
                  <a:cubicBezTo>
                    <a:pt x="450" y="140"/>
                    <a:pt x="447" y="140"/>
                    <a:pt x="445" y="142"/>
                  </a:cubicBezTo>
                  <a:cubicBezTo>
                    <a:pt x="445" y="142"/>
                    <a:pt x="445" y="142"/>
                    <a:pt x="445" y="142"/>
                  </a:cubicBezTo>
                  <a:cubicBezTo>
                    <a:pt x="443" y="144"/>
                    <a:pt x="443" y="147"/>
                    <a:pt x="445" y="149"/>
                  </a:cubicBezTo>
                  <a:cubicBezTo>
                    <a:pt x="446" y="150"/>
                    <a:pt x="447" y="150"/>
                    <a:pt x="448" y="150"/>
                  </a:cubicBezTo>
                  <a:close/>
                  <a:moveTo>
                    <a:pt x="62" y="136"/>
                  </a:moveTo>
                  <a:cubicBezTo>
                    <a:pt x="62" y="136"/>
                    <a:pt x="62" y="136"/>
                    <a:pt x="62" y="136"/>
                  </a:cubicBezTo>
                  <a:cubicBezTo>
                    <a:pt x="63" y="136"/>
                    <a:pt x="64" y="135"/>
                    <a:pt x="65" y="134"/>
                  </a:cubicBezTo>
                  <a:cubicBezTo>
                    <a:pt x="65" y="134"/>
                    <a:pt x="65" y="134"/>
                    <a:pt x="65" y="134"/>
                  </a:cubicBezTo>
                  <a:cubicBezTo>
                    <a:pt x="67" y="133"/>
                    <a:pt x="67" y="130"/>
                    <a:pt x="65" y="127"/>
                  </a:cubicBezTo>
                  <a:cubicBezTo>
                    <a:pt x="65" y="127"/>
                    <a:pt x="65" y="127"/>
                    <a:pt x="65" y="127"/>
                  </a:cubicBezTo>
                  <a:cubicBezTo>
                    <a:pt x="64" y="125"/>
                    <a:pt x="61" y="125"/>
                    <a:pt x="58" y="127"/>
                  </a:cubicBezTo>
                  <a:cubicBezTo>
                    <a:pt x="58" y="127"/>
                    <a:pt x="58" y="127"/>
                    <a:pt x="58" y="127"/>
                  </a:cubicBezTo>
                  <a:cubicBezTo>
                    <a:pt x="56" y="129"/>
                    <a:pt x="56" y="132"/>
                    <a:pt x="58" y="134"/>
                  </a:cubicBezTo>
                  <a:cubicBezTo>
                    <a:pt x="59" y="135"/>
                    <a:pt x="60" y="136"/>
                    <a:pt x="62" y="136"/>
                  </a:cubicBezTo>
                  <a:close/>
                  <a:moveTo>
                    <a:pt x="462" y="135"/>
                  </a:moveTo>
                  <a:cubicBezTo>
                    <a:pt x="462" y="135"/>
                    <a:pt x="462" y="135"/>
                    <a:pt x="462" y="135"/>
                  </a:cubicBezTo>
                  <a:cubicBezTo>
                    <a:pt x="463" y="135"/>
                    <a:pt x="465" y="135"/>
                    <a:pt x="466" y="134"/>
                  </a:cubicBezTo>
                  <a:cubicBezTo>
                    <a:pt x="466" y="134"/>
                    <a:pt x="466" y="134"/>
                    <a:pt x="466" y="134"/>
                  </a:cubicBezTo>
                  <a:cubicBezTo>
                    <a:pt x="467" y="131"/>
                    <a:pt x="467" y="128"/>
                    <a:pt x="465" y="127"/>
                  </a:cubicBezTo>
                  <a:cubicBezTo>
                    <a:pt x="465" y="127"/>
                    <a:pt x="465" y="127"/>
                    <a:pt x="465" y="127"/>
                  </a:cubicBezTo>
                  <a:cubicBezTo>
                    <a:pt x="463" y="125"/>
                    <a:pt x="460" y="125"/>
                    <a:pt x="458" y="127"/>
                  </a:cubicBezTo>
                  <a:cubicBezTo>
                    <a:pt x="458" y="127"/>
                    <a:pt x="458" y="127"/>
                    <a:pt x="458" y="127"/>
                  </a:cubicBezTo>
                  <a:cubicBezTo>
                    <a:pt x="456" y="129"/>
                    <a:pt x="456" y="132"/>
                    <a:pt x="459" y="134"/>
                  </a:cubicBezTo>
                  <a:cubicBezTo>
                    <a:pt x="459" y="135"/>
                    <a:pt x="461" y="135"/>
                    <a:pt x="462" y="135"/>
                  </a:cubicBezTo>
                  <a:close/>
                  <a:moveTo>
                    <a:pt x="50" y="120"/>
                  </a:moveTo>
                  <a:cubicBezTo>
                    <a:pt x="50" y="120"/>
                    <a:pt x="50" y="120"/>
                    <a:pt x="50" y="120"/>
                  </a:cubicBezTo>
                  <a:cubicBezTo>
                    <a:pt x="51" y="120"/>
                    <a:pt x="52" y="120"/>
                    <a:pt x="52" y="119"/>
                  </a:cubicBezTo>
                  <a:cubicBezTo>
                    <a:pt x="52" y="119"/>
                    <a:pt x="52" y="119"/>
                    <a:pt x="52" y="119"/>
                  </a:cubicBezTo>
                  <a:cubicBezTo>
                    <a:pt x="55" y="117"/>
                    <a:pt x="55" y="114"/>
                    <a:pt x="54" y="112"/>
                  </a:cubicBezTo>
                  <a:cubicBezTo>
                    <a:pt x="54" y="112"/>
                    <a:pt x="54" y="112"/>
                    <a:pt x="54" y="112"/>
                  </a:cubicBezTo>
                  <a:cubicBezTo>
                    <a:pt x="52" y="110"/>
                    <a:pt x="49" y="109"/>
                    <a:pt x="47" y="111"/>
                  </a:cubicBezTo>
                  <a:cubicBezTo>
                    <a:pt x="47" y="111"/>
                    <a:pt x="47" y="111"/>
                    <a:pt x="47" y="111"/>
                  </a:cubicBezTo>
                  <a:cubicBezTo>
                    <a:pt x="44" y="112"/>
                    <a:pt x="44" y="116"/>
                    <a:pt x="45" y="118"/>
                  </a:cubicBezTo>
                  <a:cubicBezTo>
                    <a:pt x="45" y="118"/>
                    <a:pt x="45" y="118"/>
                    <a:pt x="45" y="118"/>
                  </a:cubicBezTo>
                  <a:cubicBezTo>
                    <a:pt x="45" y="118"/>
                    <a:pt x="45" y="118"/>
                    <a:pt x="45" y="118"/>
                  </a:cubicBezTo>
                  <a:cubicBezTo>
                    <a:pt x="46" y="119"/>
                    <a:pt x="48" y="120"/>
                    <a:pt x="50" y="120"/>
                  </a:cubicBezTo>
                  <a:close/>
                  <a:moveTo>
                    <a:pt x="474" y="120"/>
                  </a:moveTo>
                  <a:cubicBezTo>
                    <a:pt x="474" y="120"/>
                    <a:pt x="474" y="120"/>
                    <a:pt x="474" y="120"/>
                  </a:cubicBezTo>
                  <a:cubicBezTo>
                    <a:pt x="475" y="120"/>
                    <a:pt x="477" y="119"/>
                    <a:pt x="478" y="118"/>
                  </a:cubicBezTo>
                  <a:cubicBezTo>
                    <a:pt x="478" y="118"/>
                    <a:pt x="478" y="118"/>
                    <a:pt x="478" y="118"/>
                  </a:cubicBezTo>
                  <a:cubicBezTo>
                    <a:pt x="480" y="115"/>
                    <a:pt x="479" y="112"/>
                    <a:pt x="477" y="111"/>
                  </a:cubicBezTo>
                  <a:cubicBezTo>
                    <a:pt x="477" y="111"/>
                    <a:pt x="477" y="111"/>
                    <a:pt x="477" y="111"/>
                  </a:cubicBezTo>
                  <a:cubicBezTo>
                    <a:pt x="474" y="109"/>
                    <a:pt x="471" y="109"/>
                    <a:pt x="470" y="112"/>
                  </a:cubicBezTo>
                  <a:cubicBezTo>
                    <a:pt x="470" y="112"/>
                    <a:pt x="470" y="112"/>
                    <a:pt x="470" y="112"/>
                  </a:cubicBezTo>
                  <a:cubicBezTo>
                    <a:pt x="468" y="114"/>
                    <a:pt x="469" y="117"/>
                    <a:pt x="471" y="119"/>
                  </a:cubicBezTo>
                  <a:cubicBezTo>
                    <a:pt x="472" y="119"/>
                    <a:pt x="473" y="120"/>
                    <a:pt x="474" y="120"/>
                  </a:cubicBezTo>
                  <a:close/>
                  <a:moveTo>
                    <a:pt x="39" y="103"/>
                  </a:moveTo>
                  <a:cubicBezTo>
                    <a:pt x="39" y="103"/>
                    <a:pt x="39" y="103"/>
                    <a:pt x="39" y="103"/>
                  </a:cubicBezTo>
                  <a:cubicBezTo>
                    <a:pt x="39" y="103"/>
                    <a:pt x="40" y="103"/>
                    <a:pt x="41" y="103"/>
                  </a:cubicBezTo>
                  <a:cubicBezTo>
                    <a:pt x="41" y="103"/>
                    <a:pt x="41" y="103"/>
                    <a:pt x="41" y="103"/>
                  </a:cubicBezTo>
                  <a:cubicBezTo>
                    <a:pt x="44" y="101"/>
                    <a:pt x="44" y="98"/>
                    <a:pt x="43" y="96"/>
                  </a:cubicBezTo>
                  <a:cubicBezTo>
                    <a:pt x="43" y="96"/>
                    <a:pt x="43" y="96"/>
                    <a:pt x="43" y="96"/>
                  </a:cubicBezTo>
                  <a:cubicBezTo>
                    <a:pt x="41" y="93"/>
                    <a:pt x="38" y="93"/>
                    <a:pt x="36" y="94"/>
                  </a:cubicBezTo>
                  <a:cubicBezTo>
                    <a:pt x="36" y="94"/>
                    <a:pt x="36" y="94"/>
                    <a:pt x="36" y="94"/>
                  </a:cubicBezTo>
                  <a:cubicBezTo>
                    <a:pt x="34" y="95"/>
                    <a:pt x="33" y="99"/>
                    <a:pt x="34" y="101"/>
                  </a:cubicBezTo>
                  <a:cubicBezTo>
                    <a:pt x="34" y="101"/>
                    <a:pt x="34" y="101"/>
                    <a:pt x="34" y="101"/>
                  </a:cubicBezTo>
                  <a:cubicBezTo>
                    <a:pt x="34" y="101"/>
                    <a:pt x="34" y="101"/>
                    <a:pt x="34" y="101"/>
                  </a:cubicBezTo>
                  <a:cubicBezTo>
                    <a:pt x="35" y="102"/>
                    <a:pt x="37" y="103"/>
                    <a:pt x="39" y="103"/>
                  </a:cubicBezTo>
                  <a:close/>
                  <a:moveTo>
                    <a:pt x="485" y="103"/>
                  </a:moveTo>
                  <a:cubicBezTo>
                    <a:pt x="485" y="103"/>
                    <a:pt x="485" y="103"/>
                    <a:pt x="485" y="103"/>
                  </a:cubicBezTo>
                  <a:cubicBezTo>
                    <a:pt x="486" y="103"/>
                    <a:pt x="488" y="102"/>
                    <a:pt x="489" y="101"/>
                  </a:cubicBezTo>
                  <a:cubicBezTo>
                    <a:pt x="489" y="101"/>
                    <a:pt x="489" y="101"/>
                    <a:pt x="489" y="101"/>
                  </a:cubicBezTo>
                  <a:cubicBezTo>
                    <a:pt x="490" y="98"/>
                    <a:pt x="490" y="95"/>
                    <a:pt x="487" y="94"/>
                  </a:cubicBezTo>
                  <a:cubicBezTo>
                    <a:pt x="487" y="94"/>
                    <a:pt x="487" y="94"/>
                    <a:pt x="487" y="94"/>
                  </a:cubicBezTo>
                  <a:cubicBezTo>
                    <a:pt x="485" y="92"/>
                    <a:pt x="482" y="93"/>
                    <a:pt x="480" y="95"/>
                  </a:cubicBezTo>
                  <a:cubicBezTo>
                    <a:pt x="480" y="95"/>
                    <a:pt x="480" y="95"/>
                    <a:pt x="480" y="95"/>
                  </a:cubicBezTo>
                  <a:cubicBezTo>
                    <a:pt x="479" y="98"/>
                    <a:pt x="480" y="101"/>
                    <a:pt x="482" y="102"/>
                  </a:cubicBezTo>
                  <a:cubicBezTo>
                    <a:pt x="483" y="103"/>
                    <a:pt x="484" y="103"/>
                    <a:pt x="485" y="103"/>
                  </a:cubicBezTo>
                  <a:close/>
                  <a:moveTo>
                    <a:pt x="29" y="86"/>
                  </a:moveTo>
                  <a:cubicBezTo>
                    <a:pt x="29" y="86"/>
                    <a:pt x="29" y="86"/>
                    <a:pt x="29" y="86"/>
                  </a:cubicBezTo>
                  <a:cubicBezTo>
                    <a:pt x="30" y="86"/>
                    <a:pt x="31" y="86"/>
                    <a:pt x="31" y="85"/>
                  </a:cubicBezTo>
                  <a:cubicBezTo>
                    <a:pt x="31" y="85"/>
                    <a:pt x="31" y="85"/>
                    <a:pt x="31" y="85"/>
                  </a:cubicBezTo>
                  <a:cubicBezTo>
                    <a:pt x="34" y="84"/>
                    <a:pt x="35" y="81"/>
                    <a:pt x="33" y="79"/>
                  </a:cubicBezTo>
                  <a:cubicBezTo>
                    <a:pt x="33" y="79"/>
                    <a:pt x="33" y="79"/>
                    <a:pt x="33" y="79"/>
                  </a:cubicBezTo>
                  <a:cubicBezTo>
                    <a:pt x="32" y="76"/>
                    <a:pt x="29" y="75"/>
                    <a:pt x="27" y="76"/>
                  </a:cubicBezTo>
                  <a:cubicBezTo>
                    <a:pt x="27" y="76"/>
                    <a:pt x="27" y="76"/>
                    <a:pt x="27" y="76"/>
                  </a:cubicBezTo>
                  <a:cubicBezTo>
                    <a:pt x="24" y="78"/>
                    <a:pt x="23" y="81"/>
                    <a:pt x="25" y="83"/>
                  </a:cubicBezTo>
                  <a:cubicBezTo>
                    <a:pt x="25" y="85"/>
                    <a:pt x="27" y="86"/>
                    <a:pt x="29" y="86"/>
                  </a:cubicBezTo>
                  <a:close/>
                  <a:moveTo>
                    <a:pt x="494" y="86"/>
                  </a:moveTo>
                  <a:cubicBezTo>
                    <a:pt x="494" y="86"/>
                    <a:pt x="494" y="86"/>
                    <a:pt x="494" y="86"/>
                  </a:cubicBezTo>
                  <a:cubicBezTo>
                    <a:pt x="496" y="86"/>
                    <a:pt x="498" y="85"/>
                    <a:pt x="499" y="83"/>
                  </a:cubicBezTo>
                  <a:cubicBezTo>
                    <a:pt x="499" y="83"/>
                    <a:pt x="499" y="83"/>
                    <a:pt x="499" y="83"/>
                  </a:cubicBezTo>
                  <a:cubicBezTo>
                    <a:pt x="499" y="83"/>
                    <a:pt x="499" y="83"/>
                    <a:pt x="499" y="83"/>
                  </a:cubicBezTo>
                  <a:cubicBezTo>
                    <a:pt x="499" y="83"/>
                    <a:pt x="499" y="83"/>
                    <a:pt x="499" y="83"/>
                  </a:cubicBezTo>
                  <a:cubicBezTo>
                    <a:pt x="500" y="80"/>
                    <a:pt x="499" y="77"/>
                    <a:pt x="497" y="76"/>
                  </a:cubicBezTo>
                  <a:cubicBezTo>
                    <a:pt x="497" y="76"/>
                    <a:pt x="497" y="76"/>
                    <a:pt x="497" y="76"/>
                  </a:cubicBezTo>
                  <a:cubicBezTo>
                    <a:pt x="494" y="75"/>
                    <a:pt x="491" y="76"/>
                    <a:pt x="490" y="78"/>
                  </a:cubicBezTo>
                  <a:cubicBezTo>
                    <a:pt x="490" y="78"/>
                    <a:pt x="490" y="78"/>
                    <a:pt x="490" y="78"/>
                  </a:cubicBezTo>
                  <a:cubicBezTo>
                    <a:pt x="489" y="81"/>
                    <a:pt x="490" y="84"/>
                    <a:pt x="492" y="85"/>
                  </a:cubicBezTo>
                  <a:cubicBezTo>
                    <a:pt x="493" y="86"/>
                    <a:pt x="494" y="86"/>
                    <a:pt x="494" y="86"/>
                  </a:cubicBezTo>
                  <a:close/>
                  <a:moveTo>
                    <a:pt x="21" y="68"/>
                  </a:moveTo>
                  <a:cubicBezTo>
                    <a:pt x="21" y="68"/>
                    <a:pt x="21" y="68"/>
                    <a:pt x="21" y="68"/>
                  </a:cubicBezTo>
                  <a:cubicBezTo>
                    <a:pt x="21" y="68"/>
                    <a:pt x="22" y="68"/>
                    <a:pt x="23" y="68"/>
                  </a:cubicBezTo>
                  <a:cubicBezTo>
                    <a:pt x="23" y="68"/>
                    <a:pt x="23" y="68"/>
                    <a:pt x="23" y="68"/>
                  </a:cubicBezTo>
                  <a:cubicBezTo>
                    <a:pt x="25" y="66"/>
                    <a:pt x="26" y="64"/>
                    <a:pt x="25" y="61"/>
                  </a:cubicBezTo>
                  <a:cubicBezTo>
                    <a:pt x="25" y="61"/>
                    <a:pt x="25" y="61"/>
                    <a:pt x="25" y="61"/>
                  </a:cubicBezTo>
                  <a:cubicBezTo>
                    <a:pt x="24" y="58"/>
                    <a:pt x="21" y="57"/>
                    <a:pt x="19" y="58"/>
                  </a:cubicBezTo>
                  <a:cubicBezTo>
                    <a:pt x="19" y="58"/>
                    <a:pt x="19" y="58"/>
                    <a:pt x="19" y="58"/>
                  </a:cubicBezTo>
                  <a:cubicBezTo>
                    <a:pt x="16" y="59"/>
                    <a:pt x="15" y="62"/>
                    <a:pt x="16" y="65"/>
                  </a:cubicBezTo>
                  <a:cubicBezTo>
                    <a:pt x="17" y="67"/>
                    <a:pt x="19" y="68"/>
                    <a:pt x="21" y="68"/>
                  </a:cubicBezTo>
                  <a:close/>
                  <a:moveTo>
                    <a:pt x="502" y="68"/>
                  </a:moveTo>
                  <a:cubicBezTo>
                    <a:pt x="502" y="68"/>
                    <a:pt x="502" y="68"/>
                    <a:pt x="502" y="68"/>
                  </a:cubicBezTo>
                  <a:cubicBezTo>
                    <a:pt x="504" y="68"/>
                    <a:pt x="506" y="66"/>
                    <a:pt x="507" y="65"/>
                  </a:cubicBezTo>
                  <a:cubicBezTo>
                    <a:pt x="507" y="65"/>
                    <a:pt x="507" y="65"/>
                    <a:pt x="507" y="65"/>
                  </a:cubicBezTo>
                  <a:cubicBezTo>
                    <a:pt x="508" y="62"/>
                    <a:pt x="507" y="59"/>
                    <a:pt x="504" y="58"/>
                  </a:cubicBezTo>
                  <a:cubicBezTo>
                    <a:pt x="504" y="58"/>
                    <a:pt x="504" y="58"/>
                    <a:pt x="504" y="58"/>
                  </a:cubicBezTo>
                  <a:cubicBezTo>
                    <a:pt x="502" y="57"/>
                    <a:pt x="499" y="58"/>
                    <a:pt x="498" y="61"/>
                  </a:cubicBezTo>
                  <a:cubicBezTo>
                    <a:pt x="498" y="61"/>
                    <a:pt x="498" y="61"/>
                    <a:pt x="498" y="61"/>
                  </a:cubicBezTo>
                  <a:cubicBezTo>
                    <a:pt x="497" y="63"/>
                    <a:pt x="498" y="66"/>
                    <a:pt x="501" y="67"/>
                  </a:cubicBezTo>
                  <a:cubicBezTo>
                    <a:pt x="501" y="67"/>
                    <a:pt x="502" y="68"/>
                    <a:pt x="502" y="68"/>
                  </a:cubicBezTo>
                  <a:close/>
                  <a:moveTo>
                    <a:pt x="14" y="49"/>
                  </a:moveTo>
                  <a:cubicBezTo>
                    <a:pt x="14" y="49"/>
                    <a:pt x="14" y="49"/>
                    <a:pt x="14" y="49"/>
                  </a:cubicBezTo>
                  <a:cubicBezTo>
                    <a:pt x="14" y="49"/>
                    <a:pt x="15" y="49"/>
                    <a:pt x="15" y="49"/>
                  </a:cubicBezTo>
                  <a:cubicBezTo>
                    <a:pt x="15" y="49"/>
                    <a:pt x="15" y="49"/>
                    <a:pt x="15" y="49"/>
                  </a:cubicBezTo>
                  <a:cubicBezTo>
                    <a:pt x="18" y="48"/>
                    <a:pt x="20" y="45"/>
                    <a:pt x="19" y="43"/>
                  </a:cubicBezTo>
                  <a:cubicBezTo>
                    <a:pt x="19" y="43"/>
                    <a:pt x="19" y="43"/>
                    <a:pt x="19" y="43"/>
                  </a:cubicBezTo>
                  <a:cubicBezTo>
                    <a:pt x="18" y="40"/>
                    <a:pt x="15" y="39"/>
                    <a:pt x="12" y="40"/>
                  </a:cubicBezTo>
                  <a:cubicBezTo>
                    <a:pt x="12" y="40"/>
                    <a:pt x="12" y="40"/>
                    <a:pt x="12" y="40"/>
                  </a:cubicBezTo>
                  <a:cubicBezTo>
                    <a:pt x="10" y="40"/>
                    <a:pt x="8" y="43"/>
                    <a:pt x="9" y="46"/>
                  </a:cubicBezTo>
                  <a:cubicBezTo>
                    <a:pt x="9" y="46"/>
                    <a:pt x="9" y="46"/>
                    <a:pt x="9" y="46"/>
                  </a:cubicBezTo>
                  <a:cubicBezTo>
                    <a:pt x="9" y="46"/>
                    <a:pt x="9" y="46"/>
                    <a:pt x="9" y="46"/>
                  </a:cubicBezTo>
                  <a:cubicBezTo>
                    <a:pt x="10" y="48"/>
                    <a:pt x="12" y="49"/>
                    <a:pt x="14" y="49"/>
                  </a:cubicBezTo>
                  <a:close/>
                  <a:moveTo>
                    <a:pt x="509" y="49"/>
                  </a:moveTo>
                  <a:cubicBezTo>
                    <a:pt x="509" y="49"/>
                    <a:pt x="509" y="49"/>
                    <a:pt x="509" y="49"/>
                  </a:cubicBezTo>
                  <a:cubicBezTo>
                    <a:pt x="511" y="49"/>
                    <a:pt x="513" y="48"/>
                    <a:pt x="514" y="46"/>
                  </a:cubicBezTo>
                  <a:cubicBezTo>
                    <a:pt x="514" y="46"/>
                    <a:pt x="514" y="46"/>
                    <a:pt x="514" y="46"/>
                  </a:cubicBezTo>
                  <a:cubicBezTo>
                    <a:pt x="515" y="43"/>
                    <a:pt x="513" y="40"/>
                    <a:pt x="511" y="39"/>
                  </a:cubicBezTo>
                  <a:cubicBezTo>
                    <a:pt x="511" y="39"/>
                    <a:pt x="511" y="39"/>
                    <a:pt x="511" y="39"/>
                  </a:cubicBezTo>
                  <a:cubicBezTo>
                    <a:pt x="508" y="38"/>
                    <a:pt x="505" y="40"/>
                    <a:pt x="505" y="42"/>
                  </a:cubicBezTo>
                  <a:cubicBezTo>
                    <a:pt x="505" y="42"/>
                    <a:pt x="505" y="42"/>
                    <a:pt x="505" y="42"/>
                  </a:cubicBezTo>
                  <a:cubicBezTo>
                    <a:pt x="504" y="45"/>
                    <a:pt x="505" y="48"/>
                    <a:pt x="508" y="49"/>
                  </a:cubicBezTo>
                  <a:cubicBezTo>
                    <a:pt x="508" y="49"/>
                    <a:pt x="509" y="49"/>
                    <a:pt x="509" y="49"/>
                  </a:cubicBezTo>
                  <a:close/>
                  <a:moveTo>
                    <a:pt x="9" y="30"/>
                  </a:moveTo>
                  <a:cubicBezTo>
                    <a:pt x="9" y="30"/>
                    <a:pt x="9" y="30"/>
                    <a:pt x="9" y="30"/>
                  </a:cubicBezTo>
                  <a:cubicBezTo>
                    <a:pt x="9" y="30"/>
                    <a:pt x="9" y="30"/>
                    <a:pt x="10" y="30"/>
                  </a:cubicBezTo>
                  <a:cubicBezTo>
                    <a:pt x="10" y="30"/>
                    <a:pt x="10" y="30"/>
                    <a:pt x="10" y="30"/>
                  </a:cubicBezTo>
                  <a:cubicBezTo>
                    <a:pt x="12" y="29"/>
                    <a:pt x="14" y="27"/>
                    <a:pt x="13" y="24"/>
                  </a:cubicBezTo>
                  <a:cubicBezTo>
                    <a:pt x="13" y="24"/>
                    <a:pt x="13" y="24"/>
                    <a:pt x="13" y="24"/>
                  </a:cubicBezTo>
                  <a:cubicBezTo>
                    <a:pt x="13" y="21"/>
                    <a:pt x="10" y="20"/>
                    <a:pt x="7" y="20"/>
                  </a:cubicBezTo>
                  <a:cubicBezTo>
                    <a:pt x="7" y="20"/>
                    <a:pt x="7" y="20"/>
                    <a:pt x="7" y="20"/>
                  </a:cubicBezTo>
                  <a:cubicBezTo>
                    <a:pt x="5" y="21"/>
                    <a:pt x="3" y="24"/>
                    <a:pt x="4" y="26"/>
                  </a:cubicBezTo>
                  <a:cubicBezTo>
                    <a:pt x="4" y="29"/>
                    <a:pt x="6" y="30"/>
                    <a:pt x="9" y="30"/>
                  </a:cubicBezTo>
                  <a:close/>
                  <a:moveTo>
                    <a:pt x="515" y="30"/>
                  </a:moveTo>
                  <a:cubicBezTo>
                    <a:pt x="515" y="30"/>
                    <a:pt x="515" y="30"/>
                    <a:pt x="515" y="30"/>
                  </a:cubicBezTo>
                  <a:cubicBezTo>
                    <a:pt x="517" y="30"/>
                    <a:pt x="519" y="28"/>
                    <a:pt x="520" y="26"/>
                  </a:cubicBezTo>
                  <a:cubicBezTo>
                    <a:pt x="520" y="26"/>
                    <a:pt x="520" y="26"/>
                    <a:pt x="520" y="26"/>
                  </a:cubicBezTo>
                  <a:cubicBezTo>
                    <a:pt x="520" y="26"/>
                    <a:pt x="520" y="26"/>
                    <a:pt x="520" y="26"/>
                  </a:cubicBezTo>
                  <a:cubicBezTo>
                    <a:pt x="520" y="26"/>
                    <a:pt x="520" y="26"/>
                    <a:pt x="520" y="26"/>
                  </a:cubicBezTo>
                  <a:cubicBezTo>
                    <a:pt x="520" y="23"/>
                    <a:pt x="519" y="21"/>
                    <a:pt x="516" y="20"/>
                  </a:cubicBezTo>
                  <a:cubicBezTo>
                    <a:pt x="516" y="20"/>
                    <a:pt x="516" y="20"/>
                    <a:pt x="516" y="20"/>
                  </a:cubicBezTo>
                  <a:cubicBezTo>
                    <a:pt x="513" y="19"/>
                    <a:pt x="510" y="21"/>
                    <a:pt x="510" y="24"/>
                  </a:cubicBezTo>
                  <a:cubicBezTo>
                    <a:pt x="510" y="24"/>
                    <a:pt x="510" y="24"/>
                    <a:pt x="510" y="24"/>
                  </a:cubicBezTo>
                  <a:cubicBezTo>
                    <a:pt x="509" y="26"/>
                    <a:pt x="511" y="29"/>
                    <a:pt x="514" y="30"/>
                  </a:cubicBezTo>
                  <a:cubicBezTo>
                    <a:pt x="514" y="30"/>
                    <a:pt x="514" y="30"/>
                    <a:pt x="515" y="30"/>
                  </a:cubicBezTo>
                  <a:close/>
                  <a:moveTo>
                    <a:pt x="8" y="9"/>
                  </a:moveTo>
                  <a:cubicBezTo>
                    <a:pt x="9" y="8"/>
                    <a:pt x="9" y="8"/>
                    <a:pt x="9" y="7"/>
                  </a:cubicBezTo>
                  <a:cubicBezTo>
                    <a:pt x="9" y="7"/>
                    <a:pt x="10" y="6"/>
                    <a:pt x="10" y="5"/>
                  </a:cubicBezTo>
                  <a:cubicBezTo>
                    <a:pt x="10" y="5"/>
                    <a:pt x="10" y="5"/>
                    <a:pt x="9" y="4"/>
                  </a:cubicBezTo>
                  <a:cubicBezTo>
                    <a:pt x="9" y="4"/>
                    <a:pt x="9" y="4"/>
                    <a:pt x="9" y="3"/>
                  </a:cubicBezTo>
                  <a:cubicBezTo>
                    <a:pt x="9" y="3"/>
                    <a:pt x="9" y="3"/>
                    <a:pt x="9" y="3"/>
                  </a:cubicBezTo>
                  <a:cubicBezTo>
                    <a:pt x="9" y="2"/>
                    <a:pt x="8" y="2"/>
                    <a:pt x="8" y="2"/>
                  </a:cubicBezTo>
                  <a:cubicBezTo>
                    <a:pt x="6" y="0"/>
                    <a:pt x="3" y="0"/>
                    <a:pt x="1" y="2"/>
                  </a:cubicBezTo>
                  <a:cubicBezTo>
                    <a:pt x="1" y="2"/>
                    <a:pt x="1" y="2"/>
                    <a:pt x="0" y="3"/>
                  </a:cubicBezTo>
                  <a:cubicBezTo>
                    <a:pt x="0" y="3"/>
                    <a:pt x="0" y="3"/>
                    <a:pt x="0" y="3"/>
                  </a:cubicBezTo>
                  <a:cubicBezTo>
                    <a:pt x="0" y="4"/>
                    <a:pt x="0" y="4"/>
                    <a:pt x="0" y="4"/>
                  </a:cubicBezTo>
                  <a:cubicBezTo>
                    <a:pt x="0" y="5"/>
                    <a:pt x="0" y="5"/>
                    <a:pt x="0" y="5"/>
                  </a:cubicBezTo>
                  <a:cubicBezTo>
                    <a:pt x="0" y="6"/>
                    <a:pt x="0" y="7"/>
                    <a:pt x="0" y="7"/>
                  </a:cubicBezTo>
                  <a:cubicBezTo>
                    <a:pt x="0" y="8"/>
                    <a:pt x="1" y="8"/>
                    <a:pt x="1" y="9"/>
                  </a:cubicBezTo>
                  <a:cubicBezTo>
                    <a:pt x="2" y="10"/>
                    <a:pt x="3" y="10"/>
                    <a:pt x="5" y="10"/>
                  </a:cubicBezTo>
                  <a:cubicBezTo>
                    <a:pt x="6" y="10"/>
                    <a:pt x="7" y="10"/>
                    <a:pt x="8" y="9"/>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5" name="Oval 18">
              <a:extLst>
                <a:ext uri="{FF2B5EF4-FFF2-40B4-BE49-F238E27FC236}">
                  <a16:creationId xmlns:a16="http://schemas.microsoft.com/office/drawing/2014/main" id="{9DD995BB-422B-2FAC-ED0C-4EF3E0779D12}"/>
                </a:ext>
              </a:extLst>
            </p:cNvPr>
            <p:cNvSpPr>
              <a:spLocks noChangeArrowheads="1"/>
            </p:cNvSpPr>
            <p:nvPr/>
          </p:nvSpPr>
          <p:spPr bwMode="auto">
            <a:xfrm>
              <a:off x="8329613" y="3376613"/>
              <a:ext cx="106363" cy="107950"/>
            </a:xfrm>
            <a:prstGeom prst="ellipse">
              <a:avLst/>
            </a:prstGeom>
            <a:noFill/>
            <a:ln w="30163" cap="flat">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76" name="Oval 31">
              <a:extLst>
                <a:ext uri="{FF2B5EF4-FFF2-40B4-BE49-F238E27FC236}">
                  <a16:creationId xmlns:a16="http://schemas.microsoft.com/office/drawing/2014/main" id="{3C563191-DC95-B33F-A43A-42F628845D83}"/>
                </a:ext>
              </a:extLst>
            </p:cNvPr>
            <p:cNvSpPr>
              <a:spLocks noChangeArrowheads="1"/>
            </p:cNvSpPr>
            <p:nvPr/>
          </p:nvSpPr>
          <p:spPr bwMode="auto">
            <a:xfrm>
              <a:off x="6350000" y="3376613"/>
              <a:ext cx="101600" cy="107950"/>
            </a:xfrm>
            <a:prstGeom prst="ellipse">
              <a:avLst/>
            </a:prstGeom>
            <a:solidFill>
              <a:schemeClr val="bg2"/>
            </a:solidFill>
            <a:ln w="30163" cap="flat">
              <a:solidFill>
                <a:schemeClr val="accent3"/>
              </a:solidFill>
              <a:prstDash val="solid"/>
              <a:miter lim="800000"/>
              <a:headEnd/>
              <a:tailEnd/>
            </a:ln>
          </p:spPr>
          <p:txBody>
            <a:bodyPr vert="horz" wrap="square" lIns="91440" tIns="45720" rIns="91440" bIns="45720" numCol="1" anchor="t" anchorCtr="0" compatLnSpc="1">
              <a:prstTxWarp prst="textNoShape">
                <a:avLst/>
              </a:prstTxWarp>
            </a:bodyPr>
            <a:lstStyle/>
            <a:p>
              <a:endParaRPr lang="ru-UA"/>
            </a:p>
          </p:txBody>
        </p:sp>
      </p:grpSp>
      <p:sp>
        <p:nvSpPr>
          <p:cNvPr id="79" name="Rectangle 40">
            <a:extLst>
              <a:ext uri="{FF2B5EF4-FFF2-40B4-BE49-F238E27FC236}">
                <a16:creationId xmlns:a16="http://schemas.microsoft.com/office/drawing/2014/main" id="{334E1F26-0399-9512-6F85-FE309B82B9B9}"/>
              </a:ext>
            </a:extLst>
          </p:cNvPr>
          <p:cNvSpPr>
            <a:spLocks noChangeArrowheads="1"/>
          </p:cNvSpPr>
          <p:nvPr/>
        </p:nvSpPr>
        <p:spPr bwMode="auto">
          <a:xfrm>
            <a:off x="329157" y="1484557"/>
            <a:ext cx="1151174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1600" b="1" dirty="0">
                <a:latin typeface="+mj-lt"/>
              </a:rPr>
              <a:t>Under the illustrative 8% target, the analysis sizes a $1.80M recovery requirement, but the exhibit does not reveal where the deterioration occurred.</a:t>
            </a:r>
          </a:p>
        </p:txBody>
      </p:sp>
      <p:grpSp>
        <p:nvGrpSpPr>
          <p:cNvPr id="80" name="Group 79">
            <a:extLst>
              <a:ext uri="{FF2B5EF4-FFF2-40B4-BE49-F238E27FC236}">
                <a16:creationId xmlns:a16="http://schemas.microsoft.com/office/drawing/2014/main" id="{5EE96665-8E5E-1C8A-984E-7C1CB072F859}"/>
              </a:ext>
            </a:extLst>
          </p:cNvPr>
          <p:cNvGrpSpPr/>
          <p:nvPr/>
        </p:nvGrpSpPr>
        <p:grpSpPr>
          <a:xfrm>
            <a:off x="1568693" y="2346585"/>
            <a:ext cx="1524000" cy="1524000"/>
            <a:chOff x="1927225" y="2668588"/>
            <a:chExt cx="1524000" cy="1524000"/>
          </a:xfrm>
        </p:grpSpPr>
        <p:sp>
          <p:nvSpPr>
            <p:cNvPr id="81" name="Oval 6">
              <a:extLst>
                <a:ext uri="{FF2B5EF4-FFF2-40B4-BE49-F238E27FC236}">
                  <a16:creationId xmlns:a16="http://schemas.microsoft.com/office/drawing/2014/main" id="{00DF9F0F-B727-4994-33F4-662F2FF09CAB}"/>
                </a:ext>
              </a:extLst>
            </p:cNvPr>
            <p:cNvSpPr>
              <a:spLocks noChangeArrowheads="1"/>
            </p:cNvSpPr>
            <p:nvPr/>
          </p:nvSpPr>
          <p:spPr bwMode="auto">
            <a:xfrm>
              <a:off x="1927225" y="2668588"/>
              <a:ext cx="1524000" cy="152400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nvGrpSpPr>
            <p:cNvPr id="82" name="Group 81">
              <a:extLst>
                <a:ext uri="{FF2B5EF4-FFF2-40B4-BE49-F238E27FC236}">
                  <a16:creationId xmlns:a16="http://schemas.microsoft.com/office/drawing/2014/main" id="{25367038-D265-CD3B-4994-80E1CDC9909B}"/>
                </a:ext>
              </a:extLst>
            </p:cNvPr>
            <p:cNvGrpSpPr/>
            <p:nvPr/>
          </p:nvGrpSpPr>
          <p:grpSpPr>
            <a:xfrm>
              <a:off x="2097004" y="2824873"/>
              <a:ext cx="1144671" cy="1144671"/>
              <a:chOff x="7017281" y="2258750"/>
              <a:chExt cx="1072619" cy="1072619"/>
            </a:xfrm>
            <a:effectLst>
              <a:outerShdw blurRad="152400" dist="88900" dir="2700000" algn="tl" rotWithShape="0">
                <a:prstClr val="black">
                  <a:alpha val="31000"/>
                </a:prstClr>
              </a:outerShdw>
            </a:effectLst>
          </p:grpSpPr>
          <p:sp>
            <p:nvSpPr>
              <p:cNvPr id="83" name="Oval 22">
                <a:extLst>
                  <a:ext uri="{FF2B5EF4-FFF2-40B4-BE49-F238E27FC236}">
                    <a16:creationId xmlns:a16="http://schemas.microsoft.com/office/drawing/2014/main" id="{B9EF3D05-8575-C9D8-5557-A3D8CB71D1A8}"/>
                  </a:ext>
                </a:extLst>
              </p:cNvPr>
              <p:cNvSpPr>
                <a:spLocks noChangeArrowheads="1"/>
              </p:cNvSpPr>
              <p:nvPr/>
            </p:nvSpPr>
            <p:spPr bwMode="auto">
              <a:xfrm>
                <a:off x="7088188" y="2349500"/>
                <a:ext cx="939800" cy="939800"/>
              </a:xfrm>
              <a:prstGeom prst="ellipse">
                <a:avLst/>
              </a:prstGeom>
              <a:solidFill>
                <a:srgbClr val="E6E7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4" name="Oval 83">
                <a:extLst>
                  <a:ext uri="{FF2B5EF4-FFF2-40B4-BE49-F238E27FC236}">
                    <a16:creationId xmlns:a16="http://schemas.microsoft.com/office/drawing/2014/main" id="{5FADD442-F59B-C715-147B-E6941AC287D3}"/>
                  </a:ext>
                </a:extLst>
              </p:cNvPr>
              <p:cNvSpPr/>
              <p:nvPr/>
            </p:nvSpPr>
            <p:spPr>
              <a:xfrm>
                <a:off x="7091101" y="2346062"/>
                <a:ext cx="962845" cy="962845"/>
              </a:xfrm>
              <a:prstGeom prst="ellipse">
                <a:avLst/>
              </a:prstGeom>
              <a:gradFill>
                <a:gsLst>
                  <a:gs pos="0">
                    <a:schemeClr val="bg2"/>
                  </a:gs>
                  <a:gs pos="100000">
                    <a:schemeClr val="bg2">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85" name="Oval 84">
                <a:extLst>
                  <a:ext uri="{FF2B5EF4-FFF2-40B4-BE49-F238E27FC236}">
                    <a16:creationId xmlns:a16="http://schemas.microsoft.com/office/drawing/2014/main" id="{7C9B6B08-FEE4-B1DC-9C1A-44813860A31D}"/>
                  </a:ext>
                </a:extLst>
              </p:cNvPr>
              <p:cNvSpPr/>
              <p:nvPr/>
            </p:nvSpPr>
            <p:spPr>
              <a:xfrm>
                <a:off x="7017281" y="2258750"/>
                <a:ext cx="1072619" cy="1072619"/>
              </a:xfrm>
              <a:prstGeom prst="ellipse">
                <a:avLst/>
              </a:prstGeom>
              <a:solidFill>
                <a:schemeClr val="bg2"/>
              </a:solidFill>
              <a:ln>
                <a:noFill/>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ln w="0"/>
                  <a:solidFill>
                    <a:schemeClr val="tx1"/>
                  </a:solidFill>
                  <a:effectLst>
                    <a:outerShdw blurRad="38100" dist="19050" dir="2700000" algn="tl" rotWithShape="0">
                      <a:schemeClr val="dk1">
                        <a:alpha val="40000"/>
                      </a:schemeClr>
                    </a:outerShdw>
                  </a:effectLst>
                </a:endParaRPr>
              </a:p>
            </p:txBody>
          </p:sp>
        </p:grpSp>
      </p:grpSp>
      <p:grpSp>
        <p:nvGrpSpPr>
          <p:cNvPr id="86" name="Group 85">
            <a:extLst>
              <a:ext uri="{FF2B5EF4-FFF2-40B4-BE49-F238E27FC236}">
                <a16:creationId xmlns:a16="http://schemas.microsoft.com/office/drawing/2014/main" id="{AAEB2264-6C7B-0A1B-AC56-30A8A25ED7FF}"/>
              </a:ext>
            </a:extLst>
          </p:cNvPr>
          <p:cNvGrpSpPr/>
          <p:nvPr/>
        </p:nvGrpSpPr>
        <p:grpSpPr>
          <a:xfrm>
            <a:off x="5177333" y="2346585"/>
            <a:ext cx="1524000" cy="1524000"/>
            <a:chOff x="4276725" y="2668588"/>
            <a:chExt cx="1524000" cy="1524000"/>
          </a:xfrm>
        </p:grpSpPr>
        <p:sp>
          <p:nvSpPr>
            <p:cNvPr id="87" name="Oval 10">
              <a:extLst>
                <a:ext uri="{FF2B5EF4-FFF2-40B4-BE49-F238E27FC236}">
                  <a16:creationId xmlns:a16="http://schemas.microsoft.com/office/drawing/2014/main" id="{815172B7-D98B-E7ED-3147-485FE502A70B}"/>
                </a:ext>
              </a:extLst>
            </p:cNvPr>
            <p:cNvSpPr>
              <a:spLocks noChangeArrowheads="1"/>
            </p:cNvSpPr>
            <p:nvPr/>
          </p:nvSpPr>
          <p:spPr bwMode="auto">
            <a:xfrm>
              <a:off x="4276725" y="2668588"/>
              <a:ext cx="1524000" cy="152400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nvGrpSpPr>
            <p:cNvPr id="88" name="Group 87">
              <a:extLst>
                <a:ext uri="{FF2B5EF4-FFF2-40B4-BE49-F238E27FC236}">
                  <a16:creationId xmlns:a16="http://schemas.microsoft.com/office/drawing/2014/main" id="{07CDE507-D681-38B4-81CB-FB2D977E0492}"/>
                </a:ext>
              </a:extLst>
            </p:cNvPr>
            <p:cNvGrpSpPr/>
            <p:nvPr/>
          </p:nvGrpSpPr>
          <p:grpSpPr>
            <a:xfrm>
              <a:off x="4459204" y="2824873"/>
              <a:ext cx="1144671" cy="1144671"/>
              <a:chOff x="7017281" y="2258750"/>
              <a:chExt cx="1072619" cy="1072619"/>
            </a:xfrm>
            <a:effectLst>
              <a:outerShdw blurRad="152400" dist="88900" dir="2700000" algn="tl" rotWithShape="0">
                <a:prstClr val="black">
                  <a:alpha val="31000"/>
                </a:prstClr>
              </a:outerShdw>
            </a:effectLst>
          </p:grpSpPr>
          <p:sp>
            <p:nvSpPr>
              <p:cNvPr id="89" name="Oval 22">
                <a:extLst>
                  <a:ext uri="{FF2B5EF4-FFF2-40B4-BE49-F238E27FC236}">
                    <a16:creationId xmlns:a16="http://schemas.microsoft.com/office/drawing/2014/main" id="{19F9C409-097F-1F2E-8C66-4F43ADFA018B}"/>
                  </a:ext>
                </a:extLst>
              </p:cNvPr>
              <p:cNvSpPr>
                <a:spLocks noChangeArrowheads="1"/>
              </p:cNvSpPr>
              <p:nvPr/>
            </p:nvSpPr>
            <p:spPr bwMode="auto">
              <a:xfrm>
                <a:off x="7088188" y="2349500"/>
                <a:ext cx="939800" cy="939800"/>
              </a:xfrm>
              <a:prstGeom prst="ellipse">
                <a:avLst/>
              </a:prstGeom>
              <a:solidFill>
                <a:srgbClr val="E6E7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0" name="Oval 89">
                <a:extLst>
                  <a:ext uri="{FF2B5EF4-FFF2-40B4-BE49-F238E27FC236}">
                    <a16:creationId xmlns:a16="http://schemas.microsoft.com/office/drawing/2014/main" id="{CD14207D-7963-F96D-9E91-F2C1358EECCB}"/>
                  </a:ext>
                </a:extLst>
              </p:cNvPr>
              <p:cNvSpPr/>
              <p:nvPr/>
            </p:nvSpPr>
            <p:spPr>
              <a:xfrm>
                <a:off x="7091101" y="2346062"/>
                <a:ext cx="962845" cy="962845"/>
              </a:xfrm>
              <a:prstGeom prst="ellipse">
                <a:avLst/>
              </a:prstGeom>
              <a:gradFill>
                <a:gsLst>
                  <a:gs pos="0">
                    <a:schemeClr val="bg2"/>
                  </a:gs>
                  <a:gs pos="100000">
                    <a:schemeClr val="bg2">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91" name="Oval 90">
                <a:extLst>
                  <a:ext uri="{FF2B5EF4-FFF2-40B4-BE49-F238E27FC236}">
                    <a16:creationId xmlns:a16="http://schemas.microsoft.com/office/drawing/2014/main" id="{676A558B-3B5F-4840-9827-0756840BACE5}"/>
                  </a:ext>
                </a:extLst>
              </p:cNvPr>
              <p:cNvSpPr/>
              <p:nvPr/>
            </p:nvSpPr>
            <p:spPr>
              <a:xfrm>
                <a:off x="7017281" y="2258750"/>
                <a:ext cx="1072619" cy="1072619"/>
              </a:xfrm>
              <a:prstGeom prst="ellipse">
                <a:avLst/>
              </a:prstGeom>
              <a:solidFill>
                <a:schemeClr val="bg2"/>
              </a:solidFill>
              <a:ln>
                <a:noFill/>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grpSp>
      <p:grpSp>
        <p:nvGrpSpPr>
          <p:cNvPr id="92" name="Group 91">
            <a:extLst>
              <a:ext uri="{FF2B5EF4-FFF2-40B4-BE49-F238E27FC236}">
                <a16:creationId xmlns:a16="http://schemas.microsoft.com/office/drawing/2014/main" id="{1F9E192E-0114-BBE3-6C6F-1354C364F28F}"/>
              </a:ext>
            </a:extLst>
          </p:cNvPr>
          <p:cNvGrpSpPr/>
          <p:nvPr/>
        </p:nvGrpSpPr>
        <p:grpSpPr>
          <a:xfrm>
            <a:off x="8783779" y="2346584"/>
            <a:ext cx="1524000" cy="1524000"/>
            <a:chOff x="6630988" y="2668588"/>
            <a:chExt cx="1524000" cy="1524000"/>
          </a:xfrm>
        </p:grpSpPr>
        <p:sp>
          <p:nvSpPr>
            <p:cNvPr id="93" name="Oval 15">
              <a:extLst>
                <a:ext uri="{FF2B5EF4-FFF2-40B4-BE49-F238E27FC236}">
                  <a16:creationId xmlns:a16="http://schemas.microsoft.com/office/drawing/2014/main" id="{84B6F59B-5333-F9B0-127A-35BC18C5ED33}"/>
                </a:ext>
              </a:extLst>
            </p:cNvPr>
            <p:cNvSpPr>
              <a:spLocks noChangeArrowheads="1"/>
            </p:cNvSpPr>
            <p:nvPr/>
          </p:nvSpPr>
          <p:spPr bwMode="auto">
            <a:xfrm>
              <a:off x="6630988" y="2668588"/>
              <a:ext cx="1524000" cy="1524000"/>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nvGrpSpPr>
            <p:cNvPr id="94" name="Group 93">
              <a:extLst>
                <a:ext uri="{FF2B5EF4-FFF2-40B4-BE49-F238E27FC236}">
                  <a16:creationId xmlns:a16="http://schemas.microsoft.com/office/drawing/2014/main" id="{38A149E4-98FC-13C2-4FE7-73F2FC79C5EA}"/>
                </a:ext>
              </a:extLst>
            </p:cNvPr>
            <p:cNvGrpSpPr/>
            <p:nvPr/>
          </p:nvGrpSpPr>
          <p:grpSpPr>
            <a:xfrm>
              <a:off x="6803560" y="2824873"/>
              <a:ext cx="1144671" cy="1144671"/>
              <a:chOff x="7017281" y="2258750"/>
              <a:chExt cx="1072619" cy="1072619"/>
            </a:xfrm>
            <a:effectLst>
              <a:outerShdw blurRad="152400" dist="88900" dir="2700000" algn="tl" rotWithShape="0">
                <a:prstClr val="black">
                  <a:alpha val="31000"/>
                </a:prstClr>
              </a:outerShdw>
            </a:effectLst>
          </p:grpSpPr>
          <p:sp>
            <p:nvSpPr>
              <p:cNvPr id="95" name="Oval 22">
                <a:extLst>
                  <a:ext uri="{FF2B5EF4-FFF2-40B4-BE49-F238E27FC236}">
                    <a16:creationId xmlns:a16="http://schemas.microsoft.com/office/drawing/2014/main" id="{8396B4BC-FD0F-C220-D7BB-92818B80BAE5}"/>
                  </a:ext>
                </a:extLst>
              </p:cNvPr>
              <p:cNvSpPr>
                <a:spLocks noChangeArrowheads="1"/>
              </p:cNvSpPr>
              <p:nvPr/>
            </p:nvSpPr>
            <p:spPr bwMode="auto">
              <a:xfrm>
                <a:off x="7088188" y="2349500"/>
                <a:ext cx="939800" cy="939800"/>
              </a:xfrm>
              <a:prstGeom prst="ellipse">
                <a:avLst/>
              </a:prstGeom>
              <a:solidFill>
                <a:srgbClr val="E6E7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6" name="Oval 95">
                <a:extLst>
                  <a:ext uri="{FF2B5EF4-FFF2-40B4-BE49-F238E27FC236}">
                    <a16:creationId xmlns:a16="http://schemas.microsoft.com/office/drawing/2014/main" id="{48F5F944-8653-25B3-701A-22E1F9D405E3}"/>
                  </a:ext>
                </a:extLst>
              </p:cNvPr>
              <p:cNvSpPr/>
              <p:nvPr/>
            </p:nvSpPr>
            <p:spPr>
              <a:xfrm>
                <a:off x="7091101" y="2346062"/>
                <a:ext cx="962845" cy="962845"/>
              </a:xfrm>
              <a:prstGeom prst="ellipse">
                <a:avLst/>
              </a:prstGeom>
              <a:gradFill>
                <a:gsLst>
                  <a:gs pos="0">
                    <a:schemeClr val="bg2"/>
                  </a:gs>
                  <a:gs pos="100000">
                    <a:schemeClr val="bg2">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97" name="Oval 96">
                <a:extLst>
                  <a:ext uri="{FF2B5EF4-FFF2-40B4-BE49-F238E27FC236}">
                    <a16:creationId xmlns:a16="http://schemas.microsoft.com/office/drawing/2014/main" id="{2C0A46D1-F2FA-B5AD-EC10-2659FE93984C}"/>
                  </a:ext>
                </a:extLst>
              </p:cNvPr>
              <p:cNvSpPr/>
              <p:nvPr/>
            </p:nvSpPr>
            <p:spPr>
              <a:xfrm>
                <a:off x="7017281" y="2258750"/>
                <a:ext cx="1072619" cy="1072619"/>
              </a:xfrm>
              <a:prstGeom prst="ellipse">
                <a:avLst/>
              </a:prstGeom>
              <a:solidFill>
                <a:schemeClr val="bg2"/>
              </a:solidFill>
              <a:ln>
                <a:noFill/>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grpSp>
      <p:sp>
        <p:nvSpPr>
          <p:cNvPr id="101" name="Text Placeholder 53">
            <a:extLst>
              <a:ext uri="{FF2B5EF4-FFF2-40B4-BE49-F238E27FC236}">
                <a16:creationId xmlns:a16="http://schemas.microsoft.com/office/drawing/2014/main" id="{7BF7360B-BD53-CC69-7BE1-A4C9EC0A4105}"/>
              </a:ext>
            </a:extLst>
          </p:cNvPr>
          <p:cNvSpPr txBox="1">
            <a:spLocks/>
          </p:cNvSpPr>
          <p:nvPr/>
        </p:nvSpPr>
        <p:spPr>
          <a:xfrm>
            <a:off x="947518" y="4390491"/>
            <a:ext cx="2766350" cy="4649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fr-FR" sz="1000" dirty="0"/>
              <a:t>Compare revenue and delivery cost per order by zone, customer cohort and order type.</a:t>
            </a:r>
          </a:p>
        </p:txBody>
      </p:sp>
      <p:sp>
        <p:nvSpPr>
          <p:cNvPr id="104" name="Line 11">
            <a:extLst>
              <a:ext uri="{FF2B5EF4-FFF2-40B4-BE49-F238E27FC236}">
                <a16:creationId xmlns:a16="http://schemas.microsoft.com/office/drawing/2014/main" id="{C93F864D-2AAB-6811-3C0A-9C161781EC38}"/>
              </a:ext>
            </a:extLst>
          </p:cNvPr>
          <p:cNvSpPr>
            <a:spLocks noChangeShapeType="1"/>
          </p:cNvSpPr>
          <p:nvPr/>
        </p:nvSpPr>
        <p:spPr bwMode="auto">
          <a:xfrm>
            <a:off x="6992162" y="3101180"/>
            <a:ext cx="1502376" cy="5716"/>
          </a:xfrm>
          <a:prstGeom prst="line">
            <a:avLst/>
          </a:prstGeom>
          <a:noFill/>
          <a:ln w="30163" cap="rnd">
            <a:solidFill>
              <a:schemeClr val="accent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ru-UA"/>
          </a:p>
        </p:txBody>
      </p:sp>
      <p:sp>
        <p:nvSpPr>
          <p:cNvPr id="105" name="Rectangle 104">
            <a:extLst>
              <a:ext uri="{FF2B5EF4-FFF2-40B4-BE49-F238E27FC236}">
                <a16:creationId xmlns:a16="http://schemas.microsoft.com/office/drawing/2014/main" id="{CE062C86-5035-D584-E7AB-263EFF315D18}"/>
              </a:ext>
            </a:extLst>
          </p:cNvPr>
          <p:cNvSpPr/>
          <p:nvPr/>
        </p:nvSpPr>
        <p:spPr>
          <a:xfrm>
            <a:off x="329158" y="206609"/>
            <a:ext cx="1633011"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RECOMMENDATION</a:t>
            </a:r>
          </a:p>
        </p:txBody>
      </p:sp>
      <p:sp>
        <p:nvSpPr>
          <p:cNvPr id="108" name="Rectangle 107">
            <a:extLst>
              <a:ext uri="{FF2B5EF4-FFF2-40B4-BE49-F238E27FC236}">
                <a16:creationId xmlns:a16="http://schemas.microsoft.com/office/drawing/2014/main" id="{50EFE810-E8EC-1B33-BD3E-51CB3661BC55}"/>
              </a:ext>
            </a:extLst>
          </p:cNvPr>
          <p:cNvSpPr/>
          <p:nvPr/>
        </p:nvSpPr>
        <p:spPr>
          <a:xfrm>
            <a:off x="329159" y="567893"/>
            <a:ext cx="11291824" cy="384721"/>
          </a:xfrm>
          <a:prstGeom prst="rect">
            <a:avLst/>
          </a:prstGeom>
        </p:spPr>
        <p:txBody>
          <a:bodyPr wrap="square" lIns="0" tIns="0" rIns="0" bIns="0">
            <a:spAutoFit/>
          </a:bodyPr>
          <a:lstStyle/>
          <a:p>
            <a:r>
              <a:rPr lang="en-US" sz="2500" b="1" dirty="0">
                <a:latin typeface="+mj-lt"/>
              </a:rPr>
              <a:t>Locate the deterioration first, then test the narrowest effective response</a:t>
            </a:r>
          </a:p>
        </p:txBody>
      </p:sp>
      <p:sp>
        <p:nvSpPr>
          <p:cNvPr id="113" name="Text Placeholder 53">
            <a:extLst>
              <a:ext uri="{FF2B5EF4-FFF2-40B4-BE49-F238E27FC236}">
                <a16:creationId xmlns:a16="http://schemas.microsoft.com/office/drawing/2014/main" id="{486CB0F3-9282-51B4-0DD0-D15762D19A1B}"/>
              </a:ext>
            </a:extLst>
          </p:cNvPr>
          <p:cNvSpPr txBox="1">
            <a:spLocks/>
          </p:cNvSpPr>
          <p:nvPr/>
        </p:nvSpPr>
        <p:spPr>
          <a:xfrm>
            <a:off x="4555060" y="4387234"/>
            <a:ext cx="2766350" cy="6626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fr-FR" sz="1000" dirty="0"/>
              <a:t>Match the intervention to the diagnosed cause and test it only in affected segments.</a:t>
            </a:r>
          </a:p>
        </p:txBody>
      </p:sp>
      <p:sp>
        <p:nvSpPr>
          <p:cNvPr id="114" name="Text Placeholder 53">
            <a:extLst>
              <a:ext uri="{FF2B5EF4-FFF2-40B4-BE49-F238E27FC236}">
                <a16:creationId xmlns:a16="http://schemas.microsoft.com/office/drawing/2014/main" id="{0096C5DE-D131-1F75-8B80-B8E6C804D9ED}"/>
              </a:ext>
            </a:extLst>
          </p:cNvPr>
          <p:cNvSpPr txBox="1">
            <a:spLocks/>
          </p:cNvSpPr>
          <p:nvPr/>
        </p:nvSpPr>
        <p:spPr>
          <a:xfrm>
            <a:off x="8145510" y="4387234"/>
            <a:ext cx="2766350" cy="6626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fr-FR" sz="1000" dirty="0"/>
              <a:t>Expand only if contribution improves while retention and service remain acceptable.</a:t>
            </a:r>
          </a:p>
        </p:txBody>
      </p:sp>
      <p:sp>
        <p:nvSpPr>
          <p:cNvPr id="116" name="TextBox 115">
            <a:extLst>
              <a:ext uri="{FF2B5EF4-FFF2-40B4-BE49-F238E27FC236}">
                <a16:creationId xmlns:a16="http://schemas.microsoft.com/office/drawing/2014/main" id="{CD11ABAE-70D5-C048-EAD3-DEE3208F3DBF}"/>
              </a:ext>
            </a:extLst>
          </p:cNvPr>
          <p:cNvSpPr txBox="1"/>
          <p:nvPr/>
        </p:nvSpPr>
        <p:spPr>
          <a:xfrm>
            <a:off x="1840110" y="2945414"/>
            <a:ext cx="968465" cy="307777"/>
          </a:xfrm>
          <a:prstGeom prst="rect">
            <a:avLst/>
          </a:prstGeom>
          <a:noFill/>
        </p:spPr>
        <p:txBody>
          <a:bodyPr wrap="square">
            <a:spAutoFit/>
          </a:bodyPr>
          <a:lstStyle/>
          <a:p>
            <a:pPr algn="ctr"/>
            <a:r>
              <a:rPr lang="en-US" sz="1400" b="1" dirty="0">
                <a:solidFill>
                  <a:srgbClr val="111111"/>
                </a:solidFill>
                <a:latin typeface="Arial"/>
                <a:ea typeface="Arial"/>
                <a:cs typeface="Arial"/>
              </a:rPr>
              <a:t>Segment</a:t>
            </a:r>
            <a:endParaRPr lang="en-US" sz="1100" dirty="0">
              <a:solidFill>
                <a:schemeClr val="accent3"/>
              </a:solidFill>
            </a:endParaRPr>
          </a:p>
        </p:txBody>
      </p:sp>
      <p:sp>
        <p:nvSpPr>
          <p:cNvPr id="119" name="Rounded Rectangle 118">
            <a:extLst>
              <a:ext uri="{FF2B5EF4-FFF2-40B4-BE49-F238E27FC236}">
                <a16:creationId xmlns:a16="http://schemas.microsoft.com/office/drawing/2014/main" id="{FACE2A16-E3D9-7DA6-4771-F59BE4BF1587}"/>
              </a:ext>
            </a:extLst>
          </p:cNvPr>
          <p:cNvSpPr/>
          <p:nvPr/>
        </p:nvSpPr>
        <p:spPr>
          <a:xfrm>
            <a:off x="329158" y="5312339"/>
            <a:ext cx="11511743" cy="1074434"/>
          </a:xfrm>
          <a:prstGeom prst="roundRect">
            <a:avLst/>
          </a:prstGeom>
          <a:solidFill>
            <a:schemeClr val="bg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0" name="Group 119">
            <a:extLst>
              <a:ext uri="{FF2B5EF4-FFF2-40B4-BE49-F238E27FC236}">
                <a16:creationId xmlns:a16="http://schemas.microsoft.com/office/drawing/2014/main" id="{57043667-7EDC-0791-AC1C-9D32CF2A7391}"/>
              </a:ext>
            </a:extLst>
          </p:cNvPr>
          <p:cNvGrpSpPr/>
          <p:nvPr/>
        </p:nvGrpSpPr>
        <p:grpSpPr>
          <a:xfrm>
            <a:off x="4887618" y="3067953"/>
            <a:ext cx="2087563" cy="1063625"/>
            <a:chOff x="1644650" y="3376613"/>
            <a:chExt cx="2087563" cy="1063625"/>
          </a:xfrm>
        </p:grpSpPr>
        <p:sp>
          <p:nvSpPr>
            <p:cNvPr id="121" name="Freeform 7">
              <a:extLst>
                <a:ext uri="{FF2B5EF4-FFF2-40B4-BE49-F238E27FC236}">
                  <a16:creationId xmlns:a16="http://schemas.microsoft.com/office/drawing/2014/main" id="{C533EF68-C23E-4946-25CB-1450CB5CB1D1}"/>
                </a:ext>
              </a:extLst>
            </p:cNvPr>
            <p:cNvSpPr>
              <a:spLocks noEditPoints="1"/>
            </p:cNvSpPr>
            <p:nvPr/>
          </p:nvSpPr>
          <p:spPr bwMode="auto">
            <a:xfrm>
              <a:off x="1679575" y="3411538"/>
              <a:ext cx="2006600" cy="1028700"/>
            </a:xfrm>
            <a:custGeom>
              <a:avLst/>
              <a:gdLst>
                <a:gd name="T0" fmla="*/ 524 w 527"/>
                <a:gd name="T1" fmla="*/ 42 h 270"/>
                <a:gd name="T2" fmla="*/ 527 w 527"/>
                <a:gd name="T3" fmla="*/ 48 h 270"/>
                <a:gd name="T4" fmla="*/ 279 w 527"/>
                <a:gd name="T5" fmla="*/ 265 h 270"/>
                <a:gd name="T6" fmla="*/ 254 w 527"/>
                <a:gd name="T7" fmla="*/ 270 h 270"/>
                <a:gd name="T8" fmla="*/ 249 w 527"/>
                <a:gd name="T9" fmla="*/ 265 h 270"/>
                <a:gd name="T10" fmla="*/ 299 w 527"/>
                <a:gd name="T11" fmla="*/ 263 h 270"/>
                <a:gd name="T12" fmla="*/ 235 w 527"/>
                <a:gd name="T13" fmla="*/ 268 h 270"/>
                <a:gd name="T14" fmla="*/ 234 w 527"/>
                <a:gd name="T15" fmla="*/ 268 h 270"/>
                <a:gd name="T16" fmla="*/ 319 w 527"/>
                <a:gd name="T17" fmla="*/ 260 h 270"/>
                <a:gd name="T18" fmla="*/ 220 w 527"/>
                <a:gd name="T19" fmla="*/ 261 h 270"/>
                <a:gd name="T20" fmla="*/ 215 w 527"/>
                <a:gd name="T21" fmla="*/ 265 h 270"/>
                <a:gd name="T22" fmla="*/ 338 w 527"/>
                <a:gd name="T23" fmla="*/ 255 h 270"/>
                <a:gd name="T24" fmla="*/ 196 w 527"/>
                <a:gd name="T25" fmla="*/ 261 h 270"/>
                <a:gd name="T26" fmla="*/ 194 w 527"/>
                <a:gd name="T27" fmla="*/ 261 h 270"/>
                <a:gd name="T28" fmla="*/ 354 w 527"/>
                <a:gd name="T29" fmla="*/ 255 h 270"/>
                <a:gd name="T30" fmla="*/ 177 w 527"/>
                <a:gd name="T31" fmla="*/ 255 h 270"/>
                <a:gd name="T32" fmla="*/ 172 w 527"/>
                <a:gd name="T33" fmla="*/ 248 h 270"/>
                <a:gd name="T34" fmla="*/ 373 w 527"/>
                <a:gd name="T35" fmla="*/ 248 h 270"/>
                <a:gd name="T36" fmla="*/ 371 w 527"/>
                <a:gd name="T37" fmla="*/ 248 h 270"/>
                <a:gd name="T38" fmla="*/ 154 w 527"/>
                <a:gd name="T39" fmla="*/ 240 h 270"/>
                <a:gd name="T40" fmla="*/ 391 w 527"/>
                <a:gd name="T41" fmla="*/ 239 h 270"/>
                <a:gd name="T42" fmla="*/ 384 w 527"/>
                <a:gd name="T43" fmla="*/ 237 h 270"/>
                <a:gd name="T44" fmla="*/ 143 w 527"/>
                <a:gd name="T45" fmla="*/ 229 h 270"/>
                <a:gd name="T46" fmla="*/ 408 w 527"/>
                <a:gd name="T47" fmla="*/ 228 h 270"/>
                <a:gd name="T48" fmla="*/ 406 w 527"/>
                <a:gd name="T49" fmla="*/ 229 h 270"/>
                <a:gd name="T50" fmla="*/ 119 w 527"/>
                <a:gd name="T51" fmla="*/ 221 h 270"/>
                <a:gd name="T52" fmla="*/ 425 w 527"/>
                <a:gd name="T53" fmla="*/ 217 h 270"/>
                <a:gd name="T54" fmla="*/ 107 w 527"/>
                <a:gd name="T55" fmla="*/ 217 h 270"/>
                <a:gd name="T56" fmla="*/ 103 w 527"/>
                <a:gd name="T57" fmla="*/ 209 h 270"/>
                <a:gd name="T58" fmla="*/ 441 w 527"/>
                <a:gd name="T59" fmla="*/ 197 h 270"/>
                <a:gd name="T60" fmla="*/ 92 w 527"/>
                <a:gd name="T61" fmla="*/ 204 h 270"/>
                <a:gd name="T62" fmla="*/ 88 w 527"/>
                <a:gd name="T63" fmla="*/ 203 h 270"/>
                <a:gd name="T64" fmla="*/ 455 w 527"/>
                <a:gd name="T65" fmla="*/ 190 h 270"/>
                <a:gd name="T66" fmla="*/ 77 w 527"/>
                <a:gd name="T67" fmla="*/ 190 h 270"/>
                <a:gd name="T68" fmla="*/ 74 w 527"/>
                <a:gd name="T69" fmla="*/ 182 h 270"/>
                <a:gd name="T70" fmla="*/ 468 w 527"/>
                <a:gd name="T71" fmla="*/ 168 h 270"/>
                <a:gd name="T72" fmla="*/ 64 w 527"/>
                <a:gd name="T73" fmla="*/ 175 h 270"/>
                <a:gd name="T74" fmla="*/ 60 w 527"/>
                <a:gd name="T75" fmla="*/ 174 h 270"/>
                <a:gd name="T76" fmla="*/ 481 w 527"/>
                <a:gd name="T77" fmla="*/ 159 h 270"/>
                <a:gd name="T78" fmla="*/ 52 w 527"/>
                <a:gd name="T79" fmla="*/ 160 h 270"/>
                <a:gd name="T80" fmla="*/ 49 w 527"/>
                <a:gd name="T81" fmla="*/ 151 h 270"/>
                <a:gd name="T82" fmla="*/ 492 w 527"/>
                <a:gd name="T83" fmla="*/ 142 h 270"/>
                <a:gd name="T84" fmla="*/ 488 w 527"/>
                <a:gd name="T85" fmla="*/ 144 h 270"/>
                <a:gd name="T86" fmla="*/ 39 w 527"/>
                <a:gd name="T87" fmla="*/ 134 h 270"/>
                <a:gd name="T88" fmla="*/ 502 w 527"/>
                <a:gd name="T89" fmla="*/ 124 h 270"/>
                <a:gd name="T90" fmla="*/ 32 w 527"/>
                <a:gd name="T91" fmla="*/ 126 h 270"/>
                <a:gd name="T92" fmla="*/ 30 w 527"/>
                <a:gd name="T93" fmla="*/ 116 h 270"/>
                <a:gd name="T94" fmla="*/ 508 w 527"/>
                <a:gd name="T95" fmla="*/ 99 h 270"/>
                <a:gd name="T96" fmla="*/ 24 w 527"/>
                <a:gd name="T97" fmla="*/ 107 h 270"/>
                <a:gd name="T98" fmla="*/ 19 w 527"/>
                <a:gd name="T99" fmla="*/ 104 h 270"/>
                <a:gd name="T100" fmla="*/ 518 w 527"/>
                <a:gd name="T101" fmla="*/ 87 h 270"/>
                <a:gd name="T102" fmla="*/ 17 w 527"/>
                <a:gd name="T103" fmla="*/ 89 h 270"/>
                <a:gd name="T104" fmla="*/ 15 w 527"/>
                <a:gd name="T105" fmla="*/ 79 h 270"/>
                <a:gd name="T106" fmla="*/ 523 w 527"/>
                <a:gd name="T107" fmla="*/ 67 h 270"/>
                <a:gd name="T108" fmla="*/ 513 w 527"/>
                <a:gd name="T109" fmla="*/ 65 h 270"/>
                <a:gd name="T110" fmla="*/ 17 w 527"/>
                <a:gd name="T111" fmla="*/ 63 h 270"/>
                <a:gd name="T112" fmla="*/ 12 w 527"/>
                <a:gd name="T113" fmla="*/ 70 h 270"/>
                <a:gd name="T114" fmla="*/ 7 w 527"/>
                <a:gd name="T115" fmla="*/ 40 h 270"/>
                <a:gd name="T116" fmla="*/ 6 w 527"/>
                <a:gd name="T117" fmla="*/ 30 h 270"/>
                <a:gd name="T118" fmla="*/ 7 w 527"/>
                <a:gd name="T119" fmla="*/ 10 h 270"/>
                <a:gd name="T120" fmla="*/ 8 w 527"/>
                <a:gd name="T121" fmla="*/ 1 h 270"/>
                <a:gd name="T122" fmla="*/ 1 w 527"/>
                <a:gd name="T123" fmla="*/ 1 h 270"/>
                <a:gd name="T124" fmla="*/ 3 w 527"/>
                <a:gd name="T125" fmla="*/ 1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27" h="270">
                  <a:moveTo>
                    <a:pt x="522" y="51"/>
                  </a:moveTo>
                  <a:cubicBezTo>
                    <a:pt x="521" y="51"/>
                    <a:pt x="520" y="51"/>
                    <a:pt x="519" y="50"/>
                  </a:cubicBezTo>
                  <a:cubicBezTo>
                    <a:pt x="518" y="49"/>
                    <a:pt x="518" y="49"/>
                    <a:pt x="518" y="48"/>
                  </a:cubicBezTo>
                  <a:cubicBezTo>
                    <a:pt x="517" y="48"/>
                    <a:pt x="517" y="47"/>
                    <a:pt x="517" y="46"/>
                  </a:cubicBezTo>
                  <a:cubicBezTo>
                    <a:pt x="517" y="45"/>
                    <a:pt x="518" y="44"/>
                    <a:pt x="519" y="43"/>
                  </a:cubicBezTo>
                  <a:cubicBezTo>
                    <a:pt x="520" y="42"/>
                    <a:pt x="521" y="41"/>
                    <a:pt x="523" y="42"/>
                  </a:cubicBezTo>
                  <a:cubicBezTo>
                    <a:pt x="523" y="42"/>
                    <a:pt x="524" y="42"/>
                    <a:pt x="524" y="42"/>
                  </a:cubicBezTo>
                  <a:cubicBezTo>
                    <a:pt x="524" y="42"/>
                    <a:pt x="525" y="42"/>
                    <a:pt x="525" y="42"/>
                  </a:cubicBezTo>
                  <a:cubicBezTo>
                    <a:pt x="525" y="42"/>
                    <a:pt x="525" y="43"/>
                    <a:pt x="526" y="43"/>
                  </a:cubicBezTo>
                  <a:cubicBezTo>
                    <a:pt x="526" y="43"/>
                    <a:pt x="526" y="43"/>
                    <a:pt x="526" y="44"/>
                  </a:cubicBezTo>
                  <a:cubicBezTo>
                    <a:pt x="526" y="44"/>
                    <a:pt x="527" y="44"/>
                    <a:pt x="527" y="44"/>
                  </a:cubicBezTo>
                  <a:cubicBezTo>
                    <a:pt x="527" y="45"/>
                    <a:pt x="527" y="45"/>
                    <a:pt x="527" y="45"/>
                  </a:cubicBezTo>
                  <a:cubicBezTo>
                    <a:pt x="527" y="46"/>
                    <a:pt x="527" y="46"/>
                    <a:pt x="527" y="46"/>
                  </a:cubicBezTo>
                  <a:cubicBezTo>
                    <a:pt x="527" y="47"/>
                    <a:pt x="527" y="48"/>
                    <a:pt x="527" y="48"/>
                  </a:cubicBezTo>
                  <a:cubicBezTo>
                    <a:pt x="526" y="49"/>
                    <a:pt x="526" y="49"/>
                    <a:pt x="526" y="50"/>
                  </a:cubicBezTo>
                  <a:cubicBezTo>
                    <a:pt x="525" y="50"/>
                    <a:pt x="525" y="51"/>
                    <a:pt x="524" y="51"/>
                  </a:cubicBezTo>
                  <a:cubicBezTo>
                    <a:pt x="523" y="51"/>
                    <a:pt x="523" y="51"/>
                    <a:pt x="522" y="51"/>
                  </a:cubicBezTo>
                  <a:close/>
                  <a:moveTo>
                    <a:pt x="275" y="270"/>
                  </a:moveTo>
                  <a:cubicBezTo>
                    <a:pt x="275" y="270"/>
                    <a:pt x="275" y="270"/>
                    <a:pt x="275" y="270"/>
                  </a:cubicBezTo>
                  <a:cubicBezTo>
                    <a:pt x="277" y="270"/>
                    <a:pt x="279" y="268"/>
                    <a:pt x="279" y="265"/>
                  </a:cubicBezTo>
                  <a:cubicBezTo>
                    <a:pt x="279" y="265"/>
                    <a:pt x="279" y="265"/>
                    <a:pt x="279" y="265"/>
                  </a:cubicBezTo>
                  <a:cubicBezTo>
                    <a:pt x="279" y="262"/>
                    <a:pt x="277" y="260"/>
                    <a:pt x="274" y="260"/>
                  </a:cubicBezTo>
                  <a:cubicBezTo>
                    <a:pt x="274" y="260"/>
                    <a:pt x="274" y="260"/>
                    <a:pt x="274" y="260"/>
                  </a:cubicBezTo>
                  <a:cubicBezTo>
                    <a:pt x="271" y="260"/>
                    <a:pt x="269" y="263"/>
                    <a:pt x="269" y="265"/>
                  </a:cubicBezTo>
                  <a:cubicBezTo>
                    <a:pt x="269" y="265"/>
                    <a:pt x="269" y="265"/>
                    <a:pt x="269" y="265"/>
                  </a:cubicBezTo>
                  <a:cubicBezTo>
                    <a:pt x="269" y="268"/>
                    <a:pt x="272" y="270"/>
                    <a:pt x="275" y="270"/>
                  </a:cubicBezTo>
                  <a:cubicBezTo>
                    <a:pt x="275" y="270"/>
                    <a:pt x="275" y="270"/>
                    <a:pt x="275" y="270"/>
                  </a:cubicBezTo>
                  <a:close/>
                  <a:moveTo>
                    <a:pt x="254" y="270"/>
                  </a:moveTo>
                  <a:cubicBezTo>
                    <a:pt x="254" y="270"/>
                    <a:pt x="254" y="270"/>
                    <a:pt x="254" y="270"/>
                  </a:cubicBezTo>
                  <a:cubicBezTo>
                    <a:pt x="257" y="270"/>
                    <a:pt x="259" y="268"/>
                    <a:pt x="259" y="265"/>
                  </a:cubicBezTo>
                  <a:cubicBezTo>
                    <a:pt x="259" y="265"/>
                    <a:pt x="259" y="265"/>
                    <a:pt x="259" y="265"/>
                  </a:cubicBezTo>
                  <a:cubicBezTo>
                    <a:pt x="260" y="262"/>
                    <a:pt x="257" y="260"/>
                    <a:pt x="255" y="260"/>
                  </a:cubicBezTo>
                  <a:cubicBezTo>
                    <a:pt x="255" y="260"/>
                    <a:pt x="255" y="260"/>
                    <a:pt x="255" y="260"/>
                  </a:cubicBezTo>
                  <a:cubicBezTo>
                    <a:pt x="252" y="260"/>
                    <a:pt x="250" y="262"/>
                    <a:pt x="249" y="265"/>
                  </a:cubicBezTo>
                  <a:cubicBezTo>
                    <a:pt x="249" y="265"/>
                    <a:pt x="249" y="265"/>
                    <a:pt x="249" y="265"/>
                  </a:cubicBezTo>
                  <a:cubicBezTo>
                    <a:pt x="249" y="268"/>
                    <a:pt x="252" y="270"/>
                    <a:pt x="254" y="270"/>
                  </a:cubicBezTo>
                  <a:cubicBezTo>
                    <a:pt x="254" y="270"/>
                    <a:pt x="254" y="270"/>
                    <a:pt x="254" y="270"/>
                  </a:cubicBezTo>
                  <a:close/>
                  <a:moveTo>
                    <a:pt x="294" y="269"/>
                  </a:moveTo>
                  <a:cubicBezTo>
                    <a:pt x="294" y="269"/>
                    <a:pt x="294" y="269"/>
                    <a:pt x="294" y="269"/>
                  </a:cubicBezTo>
                  <a:cubicBezTo>
                    <a:pt x="294" y="269"/>
                    <a:pt x="295" y="269"/>
                    <a:pt x="295" y="269"/>
                  </a:cubicBezTo>
                  <a:cubicBezTo>
                    <a:pt x="295" y="269"/>
                    <a:pt x="295" y="269"/>
                    <a:pt x="295" y="269"/>
                  </a:cubicBezTo>
                  <a:cubicBezTo>
                    <a:pt x="297" y="268"/>
                    <a:pt x="299" y="266"/>
                    <a:pt x="299" y="263"/>
                  </a:cubicBezTo>
                  <a:cubicBezTo>
                    <a:pt x="299" y="263"/>
                    <a:pt x="299" y="263"/>
                    <a:pt x="299" y="263"/>
                  </a:cubicBezTo>
                  <a:cubicBezTo>
                    <a:pt x="299" y="260"/>
                    <a:pt x="296" y="258"/>
                    <a:pt x="294" y="259"/>
                  </a:cubicBezTo>
                  <a:cubicBezTo>
                    <a:pt x="294" y="259"/>
                    <a:pt x="294" y="259"/>
                    <a:pt x="294" y="259"/>
                  </a:cubicBezTo>
                  <a:cubicBezTo>
                    <a:pt x="291" y="259"/>
                    <a:pt x="289" y="261"/>
                    <a:pt x="289" y="264"/>
                  </a:cubicBezTo>
                  <a:cubicBezTo>
                    <a:pt x="290" y="267"/>
                    <a:pt x="292" y="269"/>
                    <a:pt x="294" y="269"/>
                  </a:cubicBezTo>
                  <a:close/>
                  <a:moveTo>
                    <a:pt x="235" y="268"/>
                  </a:moveTo>
                  <a:cubicBezTo>
                    <a:pt x="235" y="268"/>
                    <a:pt x="235" y="268"/>
                    <a:pt x="235" y="268"/>
                  </a:cubicBezTo>
                  <a:cubicBezTo>
                    <a:pt x="237" y="268"/>
                    <a:pt x="239" y="267"/>
                    <a:pt x="240" y="264"/>
                  </a:cubicBezTo>
                  <a:cubicBezTo>
                    <a:pt x="240" y="264"/>
                    <a:pt x="240" y="264"/>
                    <a:pt x="240" y="264"/>
                  </a:cubicBezTo>
                  <a:cubicBezTo>
                    <a:pt x="240" y="261"/>
                    <a:pt x="238" y="259"/>
                    <a:pt x="235" y="259"/>
                  </a:cubicBezTo>
                  <a:cubicBezTo>
                    <a:pt x="235" y="259"/>
                    <a:pt x="235" y="259"/>
                    <a:pt x="235" y="259"/>
                  </a:cubicBezTo>
                  <a:cubicBezTo>
                    <a:pt x="232" y="258"/>
                    <a:pt x="230" y="260"/>
                    <a:pt x="230" y="263"/>
                  </a:cubicBezTo>
                  <a:cubicBezTo>
                    <a:pt x="230" y="263"/>
                    <a:pt x="230" y="263"/>
                    <a:pt x="230" y="263"/>
                  </a:cubicBezTo>
                  <a:cubicBezTo>
                    <a:pt x="229" y="266"/>
                    <a:pt x="231" y="268"/>
                    <a:pt x="234" y="268"/>
                  </a:cubicBezTo>
                  <a:cubicBezTo>
                    <a:pt x="234" y="268"/>
                    <a:pt x="234" y="268"/>
                    <a:pt x="235" y="268"/>
                  </a:cubicBezTo>
                  <a:close/>
                  <a:moveTo>
                    <a:pt x="314" y="266"/>
                  </a:moveTo>
                  <a:cubicBezTo>
                    <a:pt x="314" y="266"/>
                    <a:pt x="314" y="266"/>
                    <a:pt x="314" y="266"/>
                  </a:cubicBezTo>
                  <a:cubicBezTo>
                    <a:pt x="314" y="266"/>
                    <a:pt x="314" y="266"/>
                    <a:pt x="315" y="266"/>
                  </a:cubicBezTo>
                  <a:cubicBezTo>
                    <a:pt x="315" y="266"/>
                    <a:pt x="315" y="266"/>
                    <a:pt x="315" y="266"/>
                  </a:cubicBezTo>
                  <a:cubicBezTo>
                    <a:pt x="317" y="265"/>
                    <a:pt x="319" y="262"/>
                    <a:pt x="319" y="260"/>
                  </a:cubicBezTo>
                  <a:cubicBezTo>
                    <a:pt x="319" y="260"/>
                    <a:pt x="319" y="260"/>
                    <a:pt x="319" y="260"/>
                  </a:cubicBezTo>
                  <a:cubicBezTo>
                    <a:pt x="318" y="257"/>
                    <a:pt x="316" y="255"/>
                    <a:pt x="313" y="256"/>
                  </a:cubicBezTo>
                  <a:cubicBezTo>
                    <a:pt x="313" y="256"/>
                    <a:pt x="313" y="256"/>
                    <a:pt x="313" y="256"/>
                  </a:cubicBezTo>
                  <a:cubicBezTo>
                    <a:pt x="310" y="256"/>
                    <a:pt x="308" y="259"/>
                    <a:pt x="309" y="262"/>
                  </a:cubicBezTo>
                  <a:cubicBezTo>
                    <a:pt x="309" y="264"/>
                    <a:pt x="311" y="266"/>
                    <a:pt x="314" y="266"/>
                  </a:cubicBezTo>
                  <a:close/>
                  <a:moveTo>
                    <a:pt x="215" y="265"/>
                  </a:moveTo>
                  <a:cubicBezTo>
                    <a:pt x="215" y="265"/>
                    <a:pt x="215" y="265"/>
                    <a:pt x="215" y="265"/>
                  </a:cubicBezTo>
                  <a:cubicBezTo>
                    <a:pt x="217" y="265"/>
                    <a:pt x="219" y="264"/>
                    <a:pt x="220" y="261"/>
                  </a:cubicBezTo>
                  <a:cubicBezTo>
                    <a:pt x="220" y="261"/>
                    <a:pt x="220" y="261"/>
                    <a:pt x="220" y="261"/>
                  </a:cubicBezTo>
                  <a:cubicBezTo>
                    <a:pt x="220" y="259"/>
                    <a:pt x="219" y="256"/>
                    <a:pt x="216" y="256"/>
                  </a:cubicBezTo>
                  <a:cubicBezTo>
                    <a:pt x="216" y="256"/>
                    <a:pt x="216" y="256"/>
                    <a:pt x="216" y="256"/>
                  </a:cubicBezTo>
                  <a:cubicBezTo>
                    <a:pt x="213" y="255"/>
                    <a:pt x="211" y="257"/>
                    <a:pt x="210" y="259"/>
                  </a:cubicBezTo>
                  <a:cubicBezTo>
                    <a:pt x="210" y="259"/>
                    <a:pt x="210" y="259"/>
                    <a:pt x="210" y="259"/>
                  </a:cubicBezTo>
                  <a:cubicBezTo>
                    <a:pt x="210" y="262"/>
                    <a:pt x="211" y="265"/>
                    <a:pt x="214" y="265"/>
                  </a:cubicBezTo>
                  <a:cubicBezTo>
                    <a:pt x="214" y="265"/>
                    <a:pt x="215" y="265"/>
                    <a:pt x="215" y="265"/>
                  </a:cubicBezTo>
                  <a:close/>
                  <a:moveTo>
                    <a:pt x="333" y="261"/>
                  </a:moveTo>
                  <a:cubicBezTo>
                    <a:pt x="333" y="261"/>
                    <a:pt x="333" y="261"/>
                    <a:pt x="333" y="261"/>
                  </a:cubicBezTo>
                  <a:cubicBezTo>
                    <a:pt x="334" y="261"/>
                    <a:pt x="334" y="261"/>
                    <a:pt x="335" y="261"/>
                  </a:cubicBezTo>
                  <a:cubicBezTo>
                    <a:pt x="335" y="261"/>
                    <a:pt x="335" y="261"/>
                    <a:pt x="335" y="261"/>
                  </a:cubicBezTo>
                  <a:cubicBezTo>
                    <a:pt x="335" y="261"/>
                    <a:pt x="335" y="261"/>
                    <a:pt x="335" y="261"/>
                  </a:cubicBezTo>
                  <a:cubicBezTo>
                    <a:pt x="335" y="261"/>
                    <a:pt x="335" y="261"/>
                    <a:pt x="335" y="261"/>
                  </a:cubicBezTo>
                  <a:cubicBezTo>
                    <a:pt x="337" y="260"/>
                    <a:pt x="339" y="258"/>
                    <a:pt x="338" y="255"/>
                  </a:cubicBezTo>
                  <a:cubicBezTo>
                    <a:pt x="338" y="255"/>
                    <a:pt x="338" y="255"/>
                    <a:pt x="338" y="255"/>
                  </a:cubicBezTo>
                  <a:cubicBezTo>
                    <a:pt x="337" y="252"/>
                    <a:pt x="335" y="251"/>
                    <a:pt x="332" y="251"/>
                  </a:cubicBezTo>
                  <a:cubicBezTo>
                    <a:pt x="332" y="251"/>
                    <a:pt x="332" y="251"/>
                    <a:pt x="332" y="251"/>
                  </a:cubicBezTo>
                  <a:cubicBezTo>
                    <a:pt x="329" y="252"/>
                    <a:pt x="328" y="255"/>
                    <a:pt x="328" y="258"/>
                  </a:cubicBezTo>
                  <a:cubicBezTo>
                    <a:pt x="329" y="260"/>
                    <a:pt x="331" y="261"/>
                    <a:pt x="333" y="261"/>
                  </a:cubicBezTo>
                  <a:close/>
                  <a:moveTo>
                    <a:pt x="196" y="261"/>
                  </a:moveTo>
                  <a:cubicBezTo>
                    <a:pt x="196" y="261"/>
                    <a:pt x="196" y="261"/>
                    <a:pt x="196" y="261"/>
                  </a:cubicBezTo>
                  <a:cubicBezTo>
                    <a:pt x="198" y="261"/>
                    <a:pt x="200" y="259"/>
                    <a:pt x="200" y="257"/>
                  </a:cubicBezTo>
                  <a:cubicBezTo>
                    <a:pt x="200" y="257"/>
                    <a:pt x="200" y="257"/>
                    <a:pt x="200" y="257"/>
                  </a:cubicBezTo>
                  <a:cubicBezTo>
                    <a:pt x="201" y="255"/>
                    <a:pt x="200" y="252"/>
                    <a:pt x="197" y="251"/>
                  </a:cubicBezTo>
                  <a:cubicBezTo>
                    <a:pt x="197" y="251"/>
                    <a:pt x="197" y="251"/>
                    <a:pt x="197" y="251"/>
                  </a:cubicBezTo>
                  <a:cubicBezTo>
                    <a:pt x="194" y="250"/>
                    <a:pt x="192" y="252"/>
                    <a:pt x="191" y="255"/>
                  </a:cubicBezTo>
                  <a:cubicBezTo>
                    <a:pt x="191" y="255"/>
                    <a:pt x="191" y="255"/>
                    <a:pt x="191" y="255"/>
                  </a:cubicBezTo>
                  <a:cubicBezTo>
                    <a:pt x="190" y="257"/>
                    <a:pt x="192" y="260"/>
                    <a:pt x="194" y="261"/>
                  </a:cubicBezTo>
                  <a:cubicBezTo>
                    <a:pt x="195" y="261"/>
                    <a:pt x="195" y="261"/>
                    <a:pt x="196" y="261"/>
                  </a:cubicBezTo>
                  <a:close/>
                  <a:moveTo>
                    <a:pt x="352" y="255"/>
                  </a:moveTo>
                  <a:cubicBezTo>
                    <a:pt x="352" y="255"/>
                    <a:pt x="352" y="255"/>
                    <a:pt x="352" y="255"/>
                  </a:cubicBezTo>
                  <a:cubicBezTo>
                    <a:pt x="353" y="255"/>
                    <a:pt x="353" y="255"/>
                    <a:pt x="354" y="255"/>
                  </a:cubicBezTo>
                  <a:cubicBezTo>
                    <a:pt x="354" y="255"/>
                    <a:pt x="354" y="255"/>
                    <a:pt x="354" y="255"/>
                  </a:cubicBezTo>
                  <a:cubicBezTo>
                    <a:pt x="354" y="255"/>
                    <a:pt x="354" y="255"/>
                    <a:pt x="354" y="255"/>
                  </a:cubicBezTo>
                  <a:cubicBezTo>
                    <a:pt x="354" y="255"/>
                    <a:pt x="354" y="255"/>
                    <a:pt x="354" y="255"/>
                  </a:cubicBezTo>
                  <a:cubicBezTo>
                    <a:pt x="356" y="254"/>
                    <a:pt x="358" y="251"/>
                    <a:pt x="357" y="249"/>
                  </a:cubicBezTo>
                  <a:cubicBezTo>
                    <a:pt x="357" y="249"/>
                    <a:pt x="357" y="249"/>
                    <a:pt x="357" y="249"/>
                  </a:cubicBezTo>
                  <a:cubicBezTo>
                    <a:pt x="356" y="246"/>
                    <a:pt x="353" y="245"/>
                    <a:pt x="351" y="246"/>
                  </a:cubicBezTo>
                  <a:cubicBezTo>
                    <a:pt x="351" y="246"/>
                    <a:pt x="351" y="246"/>
                    <a:pt x="351" y="246"/>
                  </a:cubicBezTo>
                  <a:cubicBezTo>
                    <a:pt x="348" y="247"/>
                    <a:pt x="347" y="249"/>
                    <a:pt x="347" y="252"/>
                  </a:cubicBezTo>
                  <a:cubicBezTo>
                    <a:pt x="348" y="254"/>
                    <a:pt x="350" y="255"/>
                    <a:pt x="352" y="255"/>
                  </a:cubicBezTo>
                  <a:close/>
                  <a:moveTo>
                    <a:pt x="177" y="255"/>
                  </a:moveTo>
                  <a:cubicBezTo>
                    <a:pt x="177" y="255"/>
                    <a:pt x="177" y="255"/>
                    <a:pt x="177" y="255"/>
                  </a:cubicBezTo>
                  <a:cubicBezTo>
                    <a:pt x="179" y="255"/>
                    <a:pt x="181" y="254"/>
                    <a:pt x="181" y="252"/>
                  </a:cubicBezTo>
                  <a:cubicBezTo>
                    <a:pt x="181" y="252"/>
                    <a:pt x="181" y="252"/>
                    <a:pt x="181" y="252"/>
                  </a:cubicBezTo>
                  <a:cubicBezTo>
                    <a:pt x="182" y="249"/>
                    <a:pt x="181" y="246"/>
                    <a:pt x="178" y="245"/>
                  </a:cubicBezTo>
                  <a:cubicBezTo>
                    <a:pt x="178" y="245"/>
                    <a:pt x="178" y="245"/>
                    <a:pt x="178" y="245"/>
                  </a:cubicBezTo>
                  <a:cubicBezTo>
                    <a:pt x="176" y="244"/>
                    <a:pt x="173" y="246"/>
                    <a:pt x="172" y="248"/>
                  </a:cubicBezTo>
                  <a:cubicBezTo>
                    <a:pt x="172" y="248"/>
                    <a:pt x="172" y="248"/>
                    <a:pt x="172" y="248"/>
                  </a:cubicBezTo>
                  <a:cubicBezTo>
                    <a:pt x="171" y="251"/>
                    <a:pt x="172" y="254"/>
                    <a:pt x="175" y="255"/>
                  </a:cubicBezTo>
                  <a:cubicBezTo>
                    <a:pt x="175" y="255"/>
                    <a:pt x="175" y="255"/>
                    <a:pt x="175" y="255"/>
                  </a:cubicBezTo>
                  <a:cubicBezTo>
                    <a:pt x="175" y="255"/>
                    <a:pt x="175" y="255"/>
                    <a:pt x="175" y="255"/>
                  </a:cubicBezTo>
                  <a:cubicBezTo>
                    <a:pt x="176" y="255"/>
                    <a:pt x="176" y="255"/>
                    <a:pt x="177" y="255"/>
                  </a:cubicBezTo>
                  <a:close/>
                  <a:moveTo>
                    <a:pt x="371" y="248"/>
                  </a:moveTo>
                  <a:cubicBezTo>
                    <a:pt x="371" y="248"/>
                    <a:pt x="371" y="248"/>
                    <a:pt x="371" y="248"/>
                  </a:cubicBezTo>
                  <a:cubicBezTo>
                    <a:pt x="371" y="248"/>
                    <a:pt x="372" y="248"/>
                    <a:pt x="373" y="248"/>
                  </a:cubicBezTo>
                  <a:cubicBezTo>
                    <a:pt x="373" y="248"/>
                    <a:pt x="373" y="248"/>
                    <a:pt x="373" y="248"/>
                  </a:cubicBezTo>
                  <a:cubicBezTo>
                    <a:pt x="375" y="246"/>
                    <a:pt x="376" y="243"/>
                    <a:pt x="375" y="241"/>
                  </a:cubicBezTo>
                  <a:cubicBezTo>
                    <a:pt x="375" y="241"/>
                    <a:pt x="375" y="241"/>
                    <a:pt x="375" y="241"/>
                  </a:cubicBezTo>
                  <a:cubicBezTo>
                    <a:pt x="374" y="238"/>
                    <a:pt x="371" y="237"/>
                    <a:pt x="369" y="238"/>
                  </a:cubicBezTo>
                  <a:cubicBezTo>
                    <a:pt x="369" y="238"/>
                    <a:pt x="369" y="238"/>
                    <a:pt x="369" y="238"/>
                  </a:cubicBezTo>
                  <a:cubicBezTo>
                    <a:pt x="366" y="240"/>
                    <a:pt x="365" y="242"/>
                    <a:pt x="366" y="245"/>
                  </a:cubicBezTo>
                  <a:cubicBezTo>
                    <a:pt x="367" y="247"/>
                    <a:pt x="369" y="248"/>
                    <a:pt x="371" y="248"/>
                  </a:cubicBezTo>
                  <a:close/>
                  <a:moveTo>
                    <a:pt x="158" y="247"/>
                  </a:moveTo>
                  <a:cubicBezTo>
                    <a:pt x="158" y="247"/>
                    <a:pt x="158" y="247"/>
                    <a:pt x="158" y="247"/>
                  </a:cubicBezTo>
                  <a:cubicBezTo>
                    <a:pt x="160" y="247"/>
                    <a:pt x="162" y="246"/>
                    <a:pt x="163" y="244"/>
                  </a:cubicBezTo>
                  <a:cubicBezTo>
                    <a:pt x="163" y="244"/>
                    <a:pt x="163" y="244"/>
                    <a:pt x="163" y="244"/>
                  </a:cubicBezTo>
                  <a:cubicBezTo>
                    <a:pt x="164" y="242"/>
                    <a:pt x="163" y="239"/>
                    <a:pt x="160" y="238"/>
                  </a:cubicBezTo>
                  <a:cubicBezTo>
                    <a:pt x="160" y="238"/>
                    <a:pt x="160" y="238"/>
                    <a:pt x="160" y="238"/>
                  </a:cubicBezTo>
                  <a:cubicBezTo>
                    <a:pt x="158" y="237"/>
                    <a:pt x="155" y="238"/>
                    <a:pt x="154" y="240"/>
                  </a:cubicBezTo>
                  <a:cubicBezTo>
                    <a:pt x="154" y="240"/>
                    <a:pt x="154" y="240"/>
                    <a:pt x="154" y="240"/>
                  </a:cubicBezTo>
                  <a:cubicBezTo>
                    <a:pt x="153" y="243"/>
                    <a:pt x="154" y="246"/>
                    <a:pt x="156" y="247"/>
                  </a:cubicBezTo>
                  <a:cubicBezTo>
                    <a:pt x="157" y="247"/>
                    <a:pt x="158" y="247"/>
                    <a:pt x="158" y="247"/>
                  </a:cubicBezTo>
                  <a:close/>
                  <a:moveTo>
                    <a:pt x="389" y="239"/>
                  </a:moveTo>
                  <a:cubicBezTo>
                    <a:pt x="389" y="239"/>
                    <a:pt x="389" y="239"/>
                    <a:pt x="389" y="239"/>
                  </a:cubicBezTo>
                  <a:cubicBezTo>
                    <a:pt x="389" y="239"/>
                    <a:pt x="390" y="239"/>
                    <a:pt x="391" y="239"/>
                  </a:cubicBezTo>
                  <a:cubicBezTo>
                    <a:pt x="391" y="239"/>
                    <a:pt x="391" y="239"/>
                    <a:pt x="391" y="239"/>
                  </a:cubicBezTo>
                  <a:cubicBezTo>
                    <a:pt x="391" y="239"/>
                    <a:pt x="391" y="239"/>
                    <a:pt x="391" y="239"/>
                  </a:cubicBezTo>
                  <a:cubicBezTo>
                    <a:pt x="391" y="239"/>
                    <a:pt x="391" y="239"/>
                    <a:pt x="391" y="239"/>
                  </a:cubicBezTo>
                  <a:cubicBezTo>
                    <a:pt x="393" y="237"/>
                    <a:pt x="394" y="234"/>
                    <a:pt x="393" y="232"/>
                  </a:cubicBezTo>
                  <a:cubicBezTo>
                    <a:pt x="393" y="232"/>
                    <a:pt x="393" y="232"/>
                    <a:pt x="393" y="232"/>
                  </a:cubicBezTo>
                  <a:cubicBezTo>
                    <a:pt x="392" y="229"/>
                    <a:pt x="389" y="228"/>
                    <a:pt x="386" y="230"/>
                  </a:cubicBezTo>
                  <a:cubicBezTo>
                    <a:pt x="386" y="230"/>
                    <a:pt x="386" y="230"/>
                    <a:pt x="386" y="230"/>
                  </a:cubicBezTo>
                  <a:cubicBezTo>
                    <a:pt x="384" y="231"/>
                    <a:pt x="383" y="234"/>
                    <a:pt x="384" y="237"/>
                  </a:cubicBezTo>
                  <a:cubicBezTo>
                    <a:pt x="385" y="238"/>
                    <a:pt x="387" y="239"/>
                    <a:pt x="389" y="239"/>
                  </a:cubicBezTo>
                  <a:close/>
                  <a:moveTo>
                    <a:pt x="140" y="239"/>
                  </a:moveTo>
                  <a:cubicBezTo>
                    <a:pt x="140" y="239"/>
                    <a:pt x="140" y="239"/>
                    <a:pt x="140" y="239"/>
                  </a:cubicBezTo>
                  <a:cubicBezTo>
                    <a:pt x="142" y="239"/>
                    <a:pt x="144" y="238"/>
                    <a:pt x="145" y="236"/>
                  </a:cubicBezTo>
                  <a:cubicBezTo>
                    <a:pt x="145" y="236"/>
                    <a:pt x="145" y="236"/>
                    <a:pt x="145" y="236"/>
                  </a:cubicBezTo>
                  <a:cubicBezTo>
                    <a:pt x="146" y="233"/>
                    <a:pt x="145" y="230"/>
                    <a:pt x="143" y="229"/>
                  </a:cubicBezTo>
                  <a:cubicBezTo>
                    <a:pt x="143" y="229"/>
                    <a:pt x="143" y="229"/>
                    <a:pt x="143" y="229"/>
                  </a:cubicBezTo>
                  <a:cubicBezTo>
                    <a:pt x="140" y="228"/>
                    <a:pt x="137" y="229"/>
                    <a:pt x="136" y="231"/>
                  </a:cubicBezTo>
                  <a:cubicBezTo>
                    <a:pt x="136" y="231"/>
                    <a:pt x="136" y="231"/>
                    <a:pt x="136" y="231"/>
                  </a:cubicBezTo>
                  <a:cubicBezTo>
                    <a:pt x="135" y="234"/>
                    <a:pt x="136" y="237"/>
                    <a:pt x="138" y="238"/>
                  </a:cubicBezTo>
                  <a:cubicBezTo>
                    <a:pt x="139" y="238"/>
                    <a:pt x="140" y="239"/>
                    <a:pt x="140" y="239"/>
                  </a:cubicBezTo>
                  <a:close/>
                  <a:moveTo>
                    <a:pt x="406" y="229"/>
                  </a:moveTo>
                  <a:cubicBezTo>
                    <a:pt x="406" y="229"/>
                    <a:pt x="406" y="229"/>
                    <a:pt x="406" y="229"/>
                  </a:cubicBezTo>
                  <a:cubicBezTo>
                    <a:pt x="407" y="229"/>
                    <a:pt x="408" y="229"/>
                    <a:pt x="408" y="228"/>
                  </a:cubicBezTo>
                  <a:cubicBezTo>
                    <a:pt x="408" y="228"/>
                    <a:pt x="408" y="228"/>
                    <a:pt x="408" y="228"/>
                  </a:cubicBezTo>
                  <a:cubicBezTo>
                    <a:pt x="411" y="227"/>
                    <a:pt x="411" y="224"/>
                    <a:pt x="410" y="221"/>
                  </a:cubicBezTo>
                  <a:cubicBezTo>
                    <a:pt x="410" y="221"/>
                    <a:pt x="410" y="221"/>
                    <a:pt x="410" y="221"/>
                  </a:cubicBezTo>
                  <a:cubicBezTo>
                    <a:pt x="408" y="219"/>
                    <a:pt x="405" y="218"/>
                    <a:pt x="403" y="220"/>
                  </a:cubicBezTo>
                  <a:cubicBezTo>
                    <a:pt x="403" y="220"/>
                    <a:pt x="403" y="220"/>
                    <a:pt x="403" y="220"/>
                  </a:cubicBezTo>
                  <a:cubicBezTo>
                    <a:pt x="401" y="221"/>
                    <a:pt x="400" y="224"/>
                    <a:pt x="401" y="227"/>
                  </a:cubicBezTo>
                  <a:cubicBezTo>
                    <a:pt x="402" y="228"/>
                    <a:pt x="404" y="229"/>
                    <a:pt x="406" y="229"/>
                  </a:cubicBezTo>
                  <a:close/>
                  <a:moveTo>
                    <a:pt x="123" y="228"/>
                  </a:moveTo>
                  <a:cubicBezTo>
                    <a:pt x="123" y="228"/>
                    <a:pt x="123" y="228"/>
                    <a:pt x="123" y="228"/>
                  </a:cubicBezTo>
                  <a:cubicBezTo>
                    <a:pt x="125" y="228"/>
                    <a:pt x="127" y="227"/>
                    <a:pt x="128" y="226"/>
                  </a:cubicBezTo>
                  <a:cubicBezTo>
                    <a:pt x="128" y="226"/>
                    <a:pt x="128" y="226"/>
                    <a:pt x="128" y="226"/>
                  </a:cubicBezTo>
                  <a:cubicBezTo>
                    <a:pt x="129" y="224"/>
                    <a:pt x="128" y="221"/>
                    <a:pt x="126" y="219"/>
                  </a:cubicBezTo>
                  <a:cubicBezTo>
                    <a:pt x="126" y="219"/>
                    <a:pt x="126" y="219"/>
                    <a:pt x="126" y="219"/>
                  </a:cubicBezTo>
                  <a:cubicBezTo>
                    <a:pt x="124" y="218"/>
                    <a:pt x="121" y="218"/>
                    <a:pt x="119" y="221"/>
                  </a:cubicBezTo>
                  <a:cubicBezTo>
                    <a:pt x="119" y="221"/>
                    <a:pt x="119" y="221"/>
                    <a:pt x="119" y="221"/>
                  </a:cubicBezTo>
                  <a:cubicBezTo>
                    <a:pt x="118" y="223"/>
                    <a:pt x="118" y="226"/>
                    <a:pt x="121" y="227"/>
                  </a:cubicBezTo>
                  <a:cubicBezTo>
                    <a:pt x="121" y="228"/>
                    <a:pt x="122" y="228"/>
                    <a:pt x="123" y="228"/>
                  </a:cubicBezTo>
                  <a:close/>
                  <a:moveTo>
                    <a:pt x="422" y="218"/>
                  </a:moveTo>
                  <a:cubicBezTo>
                    <a:pt x="422" y="218"/>
                    <a:pt x="422" y="218"/>
                    <a:pt x="422" y="218"/>
                  </a:cubicBezTo>
                  <a:cubicBezTo>
                    <a:pt x="423" y="218"/>
                    <a:pt x="424" y="217"/>
                    <a:pt x="425" y="217"/>
                  </a:cubicBezTo>
                  <a:cubicBezTo>
                    <a:pt x="425" y="217"/>
                    <a:pt x="425" y="217"/>
                    <a:pt x="425" y="217"/>
                  </a:cubicBezTo>
                  <a:cubicBezTo>
                    <a:pt x="427" y="215"/>
                    <a:pt x="428" y="212"/>
                    <a:pt x="426" y="210"/>
                  </a:cubicBezTo>
                  <a:cubicBezTo>
                    <a:pt x="426" y="210"/>
                    <a:pt x="426" y="210"/>
                    <a:pt x="426" y="210"/>
                  </a:cubicBezTo>
                  <a:cubicBezTo>
                    <a:pt x="424" y="208"/>
                    <a:pt x="421" y="207"/>
                    <a:pt x="419" y="209"/>
                  </a:cubicBezTo>
                  <a:cubicBezTo>
                    <a:pt x="419" y="209"/>
                    <a:pt x="419" y="209"/>
                    <a:pt x="419" y="209"/>
                  </a:cubicBezTo>
                  <a:cubicBezTo>
                    <a:pt x="417" y="210"/>
                    <a:pt x="416" y="214"/>
                    <a:pt x="418" y="216"/>
                  </a:cubicBezTo>
                  <a:cubicBezTo>
                    <a:pt x="419" y="217"/>
                    <a:pt x="420" y="218"/>
                    <a:pt x="422" y="218"/>
                  </a:cubicBezTo>
                  <a:close/>
                  <a:moveTo>
                    <a:pt x="107" y="217"/>
                  </a:moveTo>
                  <a:cubicBezTo>
                    <a:pt x="107" y="217"/>
                    <a:pt x="107" y="217"/>
                    <a:pt x="107" y="217"/>
                  </a:cubicBezTo>
                  <a:cubicBezTo>
                    <a:pt x="109" y="217"/>
                    <a:pt x="110" y="216"/>
                    <a:pt x="111" y="215"/>
                  </a:cubicBezTo>
                  <a:cubicBezTo>
                    <a:pt x="111" y="215"/>
                    <a:pt x="111" y="215"/>
                    <a:pt x="111" y="215"/>
                  </a:cubicBezTo>
                  <a:cubicBezTo>
                    <a:pt x="113" y="213"/>
                    <a:pt x="112" y="210"/>
                    <a:pt x="110" y="208"/>
                  </a:cubicBezTo>
                  <a:cubicBezTo>
                    <a:pt x="110" y="208"/>
                    <a:pt x="110" y="208"/>
                    <a:pt x="110" y="208"/>
                  </a:cubicBezTo>
                  <a:cubicBezTo>
                    <a:pt x="108" y="206"/>
                    <a:pt x="105" y="207"/>
                    <a:pt x="103" y="209"/>
                  </a:cubicBezTo>
                  <a:cubicBezTo>
                    <a:pt x="103" y="209"/>
                    <a:pt x="103" y="209"/>
                    <a:pt x="103" y="209"/>
                  </a:cubicBezTo>
                  <a:cubicBezTo>
                    <a:pt x="101" y="211"/>
                    <a:pt x="102" y="214"/>
                    <a:pt x="104" y="216"/>
                  </a:cubicBezTo>
                  <a:cubicBezTo>
                    <a:pt x="105" y="216"/>
                    <a:pt x="106" y="217"/>
                    <a:pt x="107" y="217"/>
                  </a:cubicBezTo>
                  <a:close/>
                  <a:moveTo>
                    <a:pt x="437" y="205"/>
                  </a:moveTo>
                  <a:cubicBezTo>
                    <a:pt x="437" y="205"/>
                    <a:pt x="437" y="205"/>
                    <a:pt x="437" y="205"/>
                  </a:cubicBezTo>
                  <a:cubicBezTo>
                    <a:pt x="439" y="205"/>
                    <a:pt x="440" y="205"/>
                    <a:pt x="441" y="204"/>
                  </a:cubicBezTo>
                  <a:cubicBezTo>
                    <a:pt x="441" y="204"/>
                    <a:pt x="441" y="204"/>
                    <a:pt x="441" y="204"/>
                  </a:cubicBezTo>
                  <a:cubicBezTo>
                    <a:pt x="443" y="202"/>
                    <a:pt x="443" y="199"/>
                    <a:pt x="441" y="197"/>
                  </a:cubicBezTo>
                  <a:cubicBezTo>
                    <a:pt x="441" y="197"/>
                    <a:pt x="441" y="197"/>
                    <a:pt x="441" y="197"/>
                  </a:cubicBezTo>
                  <a:cubicBezTo>
                    <a:pt x="439" y="195"/>
                    <a:pt x="436" y="195"/>
                    <a:pt x="434" y="196"/>
                  </a:cubicBezTo>
                  <a:cubicBezTo>
                    <a:pt x="434" y="196"/>
                    <a:pt x="434" y="196"/>
                    <a:pt x="434" y="196"/>
                  </a:cubicBezTo>
                  <a:cubicBezTo>
                    <a:pt x="432" y="198"/>
                    <a:pt x="432" y="201"/>
                    <a:pt x="434" y="203"/>
                  </a:cubicBezTo>
                  <a:cubicBezTo>
                    <a:pt x="435" y="205"/>
                    <a:pt x="436" y="205"/>
                    <a:pt x="437" y="205"/>
                  </a:cubicBezTo>
                  <a:close/>
                  <a:moveTo>
                    <a:pt x="92" y="204"/>
                  </a:moveTo>
                  <a:cubicBezTo>
                    <a:pt x="92" y="204"/>
                    <a:pt x="92" y="204"/>
                    <a:pt x="92" y="204"/>
                  </a:cubicBezTo>
                  <a:cubicBezTo>
                    <a:pt x="93" y="204"/>
                    <a:pt x="95" y="204"/>
                    <a:pt x="96" y="202"/>
                  </a:cubicBezTo>
                  <a:cubicBezTo>
                    <a:pt x="96" y="202"/>
                    <a:pt x="96" y="202"/>
                    <a:pt x="96" y="202"/>
                  </a:cubicBezTo>
                  <a:cubicBezTo>
                    <a:pt x="97" y="200"/>
                    <a:pt x="97" y="197"/>
                    <a:pt x="95" y="195"/>
                  </a:cubicBezTo>
                  <a:cubicBezTo>
                    <a:pt x="95" y="195"/>
                    <a:pt x="95" y="195"/>
                    <a:pt x="95" y="195"/>
                  </a:cubicBezTo>
                  <a:cubicBezTo>
                    <a:pt x="93" y="194"/>
                    <a:pt x="90" y="194"/>
                    <a:pt x="88" y="196"/>
                  </a:cubicBezTo>
                  <a:cubicBezTo>
                    <a:pt x="88" y="196"/>
                    <a:pt x="88" y="196"/>
                    <a:pt x="88" y="196"/>
                  </a:cubicBezTo>
                  <a:cubicBezTo>
                    <a:pt x="86" y="198"/>
                    <a:pt x="86" y="201"/>
                    <a:pt x="88" y="203"/>
                  </a:cubicBezTo>
                  <a:cubicBezTo>
                    <a:pt x="89" y="204"/>
                    <a:pt x="91" y="204"/>
                    <a:pt x="92" y="204"/>
                  </a:cubicBezTo>
                  <a:close/>
                  <a:moveTo>
                    <a:pt x="452" y="191"/>
                  </a:moveTo>
                  <a:cubicBezTo>
                    <a:pt x="452" y="191"/>
                    <a:pt x="452" y="191"/>
                    <a:pt x="452" y="191"/>
                  </a:cubicBezTo>
                  <a:cubicBezTo>
                    <a:pt x="453" y="191"/>
                    <a:pt x="454" y="191"/>
                    <a:pt x="455" y="190"/>
                  </a:cubicBezTo>
                  <a:cubicBezTo>
                    <a:pt x="455" y="190"/>
                    <a:pt x="455" y="190"/>
                    <a:pt x="455" y="190"/>
                  </a:cubicBezTo>
                  <a:cubicBezTo>
                    <a:pt x="455" y="190"/>
                    <a:pt x="455" y="190"/>
                    <a:pt x="455" y="190"/>
                  </a:cubicBezTo>
                  <a:cubicBezTo>
                    <a:pt x="455" y="190"/>
                    <a:pt x="455" y="190"/>
                    <a:pt x="455" y="190"/>
                  </a:cubicBezTo>
                  <a:cubicBezTo>
                    <a:pt x="457" y="188"/>
                    <a:pt x="457" y="185"/>
                    <a:pt x="455" y="183"/>
                  </a:cubicBezTo>
                  <a:cubicBezTo>
                    <a:pt x="455" y="183"/>
                    <a:pt x="455" y="183"/>
                    <a:pt x="455" y="183"/>
                  </a:cubicBezTo>
                  <a:cubicBezTo>
                    <a:pt x="453" y="181"/>
                    <a:pt x="450" y="181"/>
                    <a:pt x="448" y="183"/>
                  </a:cubicBezTo>
                  <a:cubicBezTo>
                    <a:pt x="448" y="183"/>
                    <a:pt x="448" y="183"/>
                    <a:pt x="448" y="183"/>
                  </a:cubicBezTo>
                  <a:cubicBezTo>
                    <a:pt x="446" y="185"/>
                    <a:pt x="446" y="188"/>
                    <a:pt x="448" y="190"/>
                  </a:cubicBezTo>
                  <a:cubicBezTo>
                    <a:pt x="449" y="191"/>
                    <a:pt x="451" y="191"/>
                    <a:pt x="452" y="191"/>
                  </a:cubicBezTo>
                  <a:close/>
                  <a:moveTo>
                    <a:pt x="77" y="190"/>
                  </a:moveTo>
                  <a:cubicBezTo>
                    <a:pt x="77" y="190"/>
                    <a:pt x="77" y="190"/>
                    <a:pt x="77" y="190"/>
                  </a:cubicBezTo>
                  <a:cubicBezTo>
                    <a:pt x="79" y="190"/>
                    <a:pt x="80" y="190"/>
                    <a:pt x="81" y="189"/>
                  </a:cubicBezTo>
                  <a:cubicBezTo>
                    <a:pt x="81" y="189"/>
                    <a:pt x="81" y="189"/>
                    <a:pt x="81" y="189"/>
                  </a:cubicBezTo>
                  <a:cubicBezTo>
                    <a:pt x="83" y="187"/>
                    <a:pt x="83" y="184"/>
                    <a:pt x="81" y="182"/>
                  </a:cubicBezTo>
                  <a:cubicBezTo>
                    <a:pt x="81" y="182"/>
                    <a:pt x="81" y="182"/>
                    <a:pt x="81" y="182"/>
                  </a:cubicBezTo>
                  <a:cubicBezTo>
                    <a:pt x="79" y="180"/>
                    <a:pt x="76" y="180"/>
                    <a:pt x="74" y="182"/>
                  </a:cubicBezTo>
                  <a:cubicBezTo>
                    <a:pt x="74" y="182"/>
                    <a:pt x="74" y="182"/>
                    <a:pt x="74" y="182"/>
                  </a:cubicBezTo>
                  <a:cubicBezTo>
                    <a:pt x="72" y="184"/>
                    <a:pt x="72" y="187"/>
                    <a:pt x="74" y="189"/>
                  </a:cubicBezTo>
                  <a:cubicBezTo>
                    <a:pt x="75" y="190"/>
                    <a:pt x="76" y="190"/>
                    <a:pt x="77" y="190"/>
                  </a:cubicBezTo>
                  <a:close/>
                  <a:moveTo>
                    <a:pt x="465" y="177"/>
                  </a:moveTo>
                  <a:cubicBezTo>
                    <a:pt x="465" y="177"/>
                    <a:pt x="465" y="177"/>
                    <a:pt x="465" y="177"/>
                  </a:cubicBezTo>
                  <a:cubicBezTo>
                    <a:pt x="467" y="177"/>
                    <a:pt x="468" y="176"/>
                    <a:pt x="469" y="175"/>
                  </a:cubicBezTo>
                  <a:cubicBezTo>
                    <a:pt x="469" y="175"/>
                    <a:pt x="469" y="175"/>
                    <a:pt x="469" y="175"/>
                  </a:cubicBezTo>
                  <a:cubicBezTo>
                    <a:pt x="471" y="173"/>
                    <a:pt x="470" y="170"/>
                    <a:pt x="468" y="168"/>
                  </a:cubicBezTo>
                  <a:cubicBezTo>
                    <a:pt x="468" y="168"/>
                    <a:pt x="468" y="168"/>
                    <a:pt x="468" y="168"/>
                  </a:cubicBezTo>
                  <a:cubicBezTo>
                    <a:pt x="466" y="166"/>
                    <a:pt x="463" y="166"/>
                    <a:pt x="461" y="168"/>
                  </a:cubicBezTo>
                  <a:cubicBezTo>
                    <a:pt x="461" y="168"/>
                    <a:pt x="461" y="168"/>
                    <a:pt x="461" y="168"/>
                  </a:cubicBezTo>
                  <a:cubicBezTo>
                    <a:pt x="459" y="171"/>
                    <a:pt x="460" y="174"/>
                    <a:pt x="462" y="175"/>
                  </a:cubicBezTo>
                  <a:cubicBezTo>
                    <a:pt x="463" y="176"/>
                    <a:pt x="464" y="177"/>
                    <a:pt x="465" y="177"/>
                  </a:cubicBezTo>
                  <a:close/>
                  <a:moveTo>
                    <a:pt x="64" y="175"/>
                  </a:moveTo>
                  <a:cubicBezTo>
                    <a:pt x="64" y="175"/>
                    <a:pt x="64" y="175"/>
                    <a:pt x="64" y="175"/>
                  </a:cubicBezTo>
                  <a:cubicBezTo>
                    <a:pt x="65" y="175"/>
                    <a:pt x="66" y="175"/>
                    <a:pt x="67" y="174"/>
                  </a:cubicBezTo>
                  <a:cubicBezTo>
                    <a:pt x="67" y="174"/>
                    <a:pt x="67" y="174"/>
                    <a:pt x="67" y="174"/>
                  </a:cubicBezTo>
                  <a:cubicBezTo>
                    <a:pt x="70" y="173"/>
                    <a:pt x="70" y="169"/>
                    <a:pt x="68" y="167"/>
                  </a:cubicBezTo>
                  <a:cubicBezTo>
                    <a:pt x="68" y="167"/>
                    <a:pt x="68" y="167"/>
                    <a:pt x="68" y="167"/>
                  </a:cubicBezTo>
                  <a:cubicBezTo>
                    <a:pt x="66" y="165"/>
                    <a:pt x="63" y="165"/>
                    <a:pt x="61" y="167"/>
                  </a:cubicBezTo>
                  <a:cubicBezTo>
                    <a:pt x="61" y="167"/>
                    <a:pt x="61" y="167"/>
                    <a:pt x="61" y="167"/>
                  </a:cubicBezTo>
                  <a:cubicBezTo>
                    <a:pt x="59" y="168"/>
                    <a:pt x="59" y="172"/>
                    <a:pt x="60" y="174"/>
                  </a:cubicBezTo>
                  <a:cubicBezTo>
                    <a:pt x="60" y="174"/>
                    <a:pt x="60" y="174"/>
                    <a:pt x="60" y="174"/>
                  </a:cubicBezTo>
                  <a:cubicBezTo>
                    <a:pt x="60" y="174"/>
                    <a:pt x="60" y="174"/>
                    <a:pt x="60" y="174"/>
                  </a:cubicBezTo>
                  <a:cubicBezTo>
                    <a:pt x="61" y="175"/>
                    <a:pt x="63" y="175"/>
                    <a:pt x="64" y="175"/>
                  </a:cubicBezTo>
                  <a:close/>
                  <a:moveTo>
                    <a:pt x="477" y="161"/>
                  </a:moveTo>
                  <a:cubicBezTo>
                    <a:pt x="477" y="161"/>
                    <a:pt x="477" y="161"/>
                    <a:pt x="477" y="161"/>
                  </a:cubicBezTo>
                  <a:cubicBezTo>
                    <a:pt x="479" y="161"/>
                    <a:pt x="480" y="160"/>
                    <a:pt x="481" y="159"/>
                  </a:cubicBezTo>
                  <a:cubicBezTo>
                    <a:pt x="481" y="159"/>
                    <a:pt x="481" y="159"/>
                    <a:pt x="481" y="159"/>
                  </a:cubicBezTo>
                  <a:cubicBezTo>
                    <a:pt x="483" y="157"/>
                    <a:pt x="482" y="153"/>
                    <a:pt x="480" y="152"/>
                  </a:cubicBezTo>
                  <a:cubicBezTo>
                    <a:pt x="480" y="152"/>
                    <a:pt x="480" y="152"/>
                    <a:pt x="480" y="152"/>
                  </a:cubicBezTo>
                  <a:cubicBezTo>
                    <a:pt x="478" y="150"/>
                    <a:pt x="475" y="151"/>
                    <a:pt x="473" y="153"/>
                  </a:cubicBezTo>
                  <a:cubicBezTo>
                    <a:pt x="473" y="153"/>
                    <a:pt x="473" y="153"/>
                    <a:pt x="473" y="153"/>
                  </a:cubicBezTo>
                  <a:cubicBezTo>
                    <a:pt x="472" y="155"/>
                    <a:pt x="472" y="158"/>
                    <a:pt x="474" y="160"/>
                  </a:cubicBezTo>
                  <a:cubicBezTo>
                    <a:pt x="475" y="161"/>
                    <a:pt x="476" y="161"/>
                    <a:pt x="477" y="161"/>
                  </a:cubicBezTo>
                  <a:close/>
                  <a:moveTo>
                    <a:pt x="52" y="160"/>
                  </a:moveTo>
                  <a:cubicBezTo>
                    <a:pt x="52" y="160"/>
                    <a:pt x="52" y="160"/>
                    <a:pt x="52" y="160"/>
                  </a:cubicBezTo>
                  <a:cubicBezTo>
                    <a:pt x="53" y="160"/>
                    <a:pt x="54" y="159"/>
                    <a:pt x="55" y="159"/>
                  </a:cubicBezTo>
                  <a:cubicBezTo>
                    <a:pt x="55" y="159"/>
                    <a:pt x="55" y="159"/>
                    <a:pt x="55" y="159"/>
                  </a:cubicBezTo>
                  <a:cubicBezTo>
                    <a:pt x="57" y="157"/>
                    <a:pt x="58" y="154"/>
                    <a:pt x="56" y="152"/>
                  </a:cubicBezTo>
                  <a:cubicBezTo>
                    <a:pt x="56" y="152"/>
                    <a:pt x="56" y="152"/>
                    <a:pt x="56" y="152"/>
                  </a:cubicBezTo>
                  <a:cubicBezTo>
                    <a:pt x="55" y="150"/>
                    <a:pt x="52" y="149"/>
                    <a:pt x="49" y="151"/>
                  </a:cubicBezTo>
                  <a:cubicBezTo>
                    <a:pt x="49" y="151"/>
                    <a:pt x="49" y="151"/>
                    <a:pt x="49" y="151"/>
                  </a:cubicBezTo>
                  <a:cubicBezTo>
                    <a:pt x="47" y="152"/>
                    <a:pt x="46" y="155"/>
                    <a:pt x="48" y="158"/>
                  </a:cubicBezTo>
                  <a:cubicBezTo>
                    <a:pt x="49" y="159"/>
                    <a:pt x="51" y="160"/>
                    <a:pt x="52" y="160"/>
                  </a:cubicBezTo>
                  <a:close/>
                  <a:moveTo>
                    <a:pt x="488" y="144"/>
                  </a:moveTo>
                  <a:cubicBezTo>
                    <a:pt x="488" y="144"/>
                    <a:pt x="488" y="144"/>
                    <a:pt x="488" y="144"/>
                  </a:cubicBezTo>
                  <a:cubicBezTo>
                    <a:pt x="490" y="144"/>
                    <a:pt x="491" y="143"/>
                    <a:pt x="492" y="142"/>
                  </a:cubicBezTo>
                  <a:cubicBezTo>
                    <a:pt x="492" y="142"/>
                    <a:pt x="492" y="142"/>
                    <a:pt x="492" y="142"/>
                  </a:cubicBezTo>
                  <a:cubicBezTo>
                    <a:pt x="492" y="142"/>
                    <a:pt x="492" y="142"/>
                    <a:pt x="492" y="142"/>
                  </a:cubicBezTo>
                  <a:cubicBezTo>
                    <a:pt x="492" y="142"/>
                    <a:pt x="492" y="142"/>
                    <a:pt x="492" y="142"/>
                  </a:cubicBezTo>
                  <a:cubicBezTo>
                    <a:pt x="494" y="139"/>
                    <a:pt x="493" y="136"/>
                    <a:pt x="491" y="135"/>
                  </a:cubicBezTo>
                  <a:cubicBezTo>
                    <a:pt x="491" y="135"/>
                    <a:pt x="491" y="135"/>
                    <a:pt x="491" y="135"/>
                  </a:cubicBezTo>
                  <a:cubicBezTo>
                    <a:pt x="488" y="134"/>
                    <a:pt x="485" y="134"/>
                    <a:pt x="484" y="137"/>
                  </a:cubicBezTo>
                  <a:cubicBezTo>
                    <a:pt x="484" y="137"/>
                    <a:pt x="484" y="137"/>
                    <a:pt x="484" y="137"/>
                  </a:cubicBezTo>
                  <a:cubicBezTo>
                    <a:pt x="482" y="139"/>
                    <a:pt x="483" y="142"/>
                    <a:pt x="486" y="144"/>
                  </a:cubicBezTo>
                  <a:cubicBezTo>
                    <a:pt x="486" y="144"/>
                    <a:pt x="487" y="144"/>
                    <a:pt x="488" y="144"/>
                  </a:cubicBezTo>
                  <a:close/>
                  <a:moveTo>
                    <a:pt x="41" y="143"/>
                  </a:moveTo>
                  <a:cubicBezTo>
                    <a:pt x="41" y="143"/>
                    <a:pt x="41" y="143"/>
                    <a:pt x="41" y="143"/>
                  </a:cubicBezTo>
                  <a:cubicBezTo>
                    <a:pt x="42" y="143"/>
                    <a:pt x="43" y="143"/>
                    <a:pt x="44" y="142"/>
                  </a:cubicBezTo>
                  <a:cubicBezTo>
                    <a:pt x="44" y="142"/>
                    <a:pt x="44" y="142"/>
                    <a:pt x="44" y="142"/>
                  </a:cubicBezTo>
                  <a:cubicBezTo>
                    <a:pt x="46" y="141"/>
                    <a:pt x="47" y="138"/>
                    <a:pt x="46" y="135"/>
                  </a:cubicBezTo>
                  <a:cubicBezTo>
                    <a:pt x="46" y="135"/>
                    <a:pt x="46" y="135"/>
                    <a:pt x="46" y="135"/>
                  </a:cubicBezTo>
                  <a:cubicBezTo>
                    <a:pt x="44" y="133"/>
                    <a:pt x="41" y="132"/>
                    <a:pt x="39" y="134"/>
                  </a:cubicBezTo>
                  <a:cubicBezTo>
                    <a:pt x="39" y="134"/>
                    <a:pt x="39" y="134"/>
                    <a:pt x="39" y="134"/>
                  </a:cubicBezTo>
                  <a:cubicBezTo>
                    <a:pt x="36" y="135"/>
                    <a:pt x="36" y="138"/>
                    <a:pt x="37" y="141"/>
                  </a:cubicBezTo>
                  <a:cubicBezTo>
                    <a:pt x="38" y="142"/>
                    <a:pt x="40" y="143"/>
                    <a:pt x="41" y="143"/>
                  </a:cubicBezTo>
                  <a:close/>
                  <a:moveTo>
                    <a:pt x="498" y="127"/>
                  </a:moveTo>
                  <a:cubicBezTo>
                    <a:pt x="498" y="127"/>
                    <a:pt x="498" y="127"/>
                    <a:pt x="498" y="127"/>
                  </a:cubicBezTo>
                  <a:cubicBezTo>
                    <a:pt x="500" y="127"/>
                    <a:pt x="501" y="126"/>
                    <a:pt x="502" y="124"/>
                  </a:cubicBezTo>
                  <a:cubicBezTo>
                    <a:pt x="502" y="124"/>
                    <a:pt x="502" y="124"/>
                    <a:pt x="502" y="124"/>
                  </a:cubicBezTo>
                  <a:cubicBezTo>
                    <a:pt x="503" y="122"/>
                    <a:pt x="502" y="119"/>
                    <a:pt x="500" y="117"/>
                  </a:cubicBezTo>
                  <a:cubicBezTo>
                    <a:pt x="500" y="117"/>
                    <a:pt x="500" y="117"/>
                    <a:pt x="500" y="117"/>
                  </a:cubicBezTo>
                  <a:cubicBezTo>
                    <a:pt x="498" y="116"/>
                    <a:pt x="495" y="117"/>
                    <a:pt x="493" y="120"/>
                  </a:cubicBezTo>
                  <a:cubicBezTo>
                    <a:pt x="493" y="120"/>
                    <a:pt x="493" y="120"/>
                    <a:pt x="493" y="120"/>
                  </a:cubicBezTo>
                  <a:cubicBezTo>
                    <a:pt x="492" y="122"/>
                    <a:pt x="493" y="125"/>
                    <a:pt x="496" y="126"/>
                  </a:cubicBezTo>
                  <a:cubicBezTo>
                    <a:pt x="496" y="127"/>
                    <a:pt x="497" y="127"/>
                    <a:pt x="498" y="127"/>
                  </a:cubicBezTo>
                  <a:close/>
                  <a:moveTo>
                    <a:pt x="32" y="126"/>
                  </a:moveTo>
                  <a:cubicBezTo>
                    <a:pt x="32" y="126"/>
                    <a:pt x="32" y="126"/>
                    <a:pt x="32" y="126"/>
                  </a:cubicBezTo>
                  <a:cubicBezTo>
                    <a:pt x="33" y="126"/>
                    <a:pt x="33" y="125"/>
                    <a:pt x="34" y="125"/>
                  </a:cubicBezTo>
                  <a:cubicBezTo>
                    <a:pt x="34" y="125"/>
                    <a:pt x="34" y="125"/>
                    <a:pt x="34" y="125"/>
                  </a:cubicBezTo>
                  <a:cubicBezTo>
                    <a:pt x="37" y="124"/>
                    <a:pt x="38" y="121"/>
                    <a:pt x="36" y="118"/>
                  </a:cubicBezTo>
                  <a:cubicBezTo>
                    <a:pt x="36" y="118"/>
                    <a:pt x="36" y="118"/>
                    <a:pt x="36" y="118"/>
                  </a:cubicBezTo>
                  <a:cubicBezTo>
                    <a:pt x="35" y="116"/>
                    <a:pt x="32" y="115"/>
                    <a:pt x="30" y="116"/>
                  </a:cubicBezTo>
                  <a:cubicBezTo>
                    <a:pt x="30" y="116"/>
                    <a:pt x="30" y="116"/>
                    <a:pt x="30" y="116"/>
                  </a:cubicBezTo>
                  <a:cubicBezTo>
                    <a:pt x="27" y="117"/>
                    <a:pt x="26" y="120"/>
                    <a:pt x="27" y="123"/>
                  </a:cubicBezTo>
                  <a:cubicBezTo>
                    <a:pt x="28" y="125"/>
                    <a:pt x="30" y="126"/>
                    <a:pt x="32" y="126"/>
                  </a:cubicBezTo>
                  <a:close/>
                  <a:moveTo>
                    <a:pt x="506" y="109"/>
                  </a:moveTo>
                  <a:cubicBezTo>
                    <a:pt x="506" y="109"/>
                    <a:pt x="506" y="109"/>
                    <a:pt x="506" y="109"/>
                  </a:cubicBezTo>
                  <a:cubicBezTo>
                    <a:pt x="508" y="109"/>
                    <a:pt x="510" y="108"/>
                    <a:pt x="511" y="106"/>
                  </a:cubicBezTo>
                  <a:cubicBezTo>
                    <a:pt x="511" y="106"/>
                    <a:pt x="511" y="106"/>
                    <a:pt x="511" y="106"/>
                  </a:cubicBezTo>
                  <a:cubicBezTo>
                    <a:pt x="512" y="103"/>
                    <a:pt x="510" y="100"/>
                    <a:pt x="508" y="99"/>
                  </a:cubicBezTo>
                  <a:cubicBezTo>
                    <a:pt x="508" y="99"/>
                    <a:pt x="508" y="99"/>
                    <a:pt x="508" y="99"/>
                  </a:cubicBezTo>
                  <a:cubicBezTo>
                    <a:pt x="505" y="98"/>
                    <a:pt x="502" y="99"/>
                    <a:pt x="501" y="102"/>
                  </a:cubicBezTo>
                  <a:cubicBezTo>
                    <a:pt x="501" y="102"/>
                    <a:pt x="501" y="102"/>
                    <a:pt x="501" y="102"/>
                  </a:cubicBezTo>
                  <a:cubicBezTo>
                    <a:pt x="500" y="104"/>
                    <a:pt x="502" y="107"/>
                    <a:pt x="504" y="108"/>
                  </a:cubicBezTo>
                  <a:cubicBezTo>
                    <a:pt x="505" y="109"/>
                    <a:pt x="505" y="109"/>
                    <a:pt x="506" y="109"/>
                  </a:cubicBezTo>
                  <a:close/>
                  <a:moveTo>
                    <a:pt x="24" y="107"/>
                  </a:moveTo>
                  <a:cubicBezTo>
                    <a:pt x="24" y="107"/>
                    <a:pt x="24" y="107"/>
                    <a:pt x="24" y="107"/>
                  </a:cubicBezTo>
                  <a:cubicBezTo>
                    <a:pt x="24" y="107"/>
                    <a:pt x="25" y="107"/>
                    <a:pt x="26" y="107"/>
                  </a:cubicBezTo>
                  <a:cubicBezTo>
                    <a:pt x="26" y="107"/>
                    <a:pt x="26" y="107"/>
                    <a:pt x="26" y="107"/>
                  </a:cubicBezTo>
                  <a:cubicBezTo>
                    <a:pt x="28" y="106"/>
                    <a:pt x="29" y="103"/>
                    <a:pt x="28" y="101"/>
                  </a:cubicBezTo>
                  <a:cubicBezTo>
                    <a:pt x="28" y="101"/>
                    <a:pt x="28" y="101"/>
                    <a:pt x="28" y="101"/>
                  </a:cubicBezTo>
                  <a:cubicBezTo>
                    <a:pt x="27" y="98"/>
                    <a:pt x="24" y="97"/>
                    <a:pt x="22" y="98"/>
                  </a:cubicBezTo>
                  <a:cubicBezTo>
                    <a:pt x="22" y="98"/>
                    <a:pt x="22" y="98"/>
                    <a:pt x="22" y="98"/>
                  </a:cubicBezTo>
                  <a:cubicBezTo>
                    <a:pt x="19" y="99"/>
                    <a:pt x="18" y="102"/>
                    <a:pt x="19" y="104"/>
                  </a:cubicBezTo>
                  <a:cubicBezTo>
                    <a:pt x="19" y="104"/>
                    <a:pt x="19" y="104"/>
                    <a:pt x="19" y="104"/>
                  </a:cubicBezTo>
                  <a:cubicBezTo>
                    <a:pt x="19" y="104"/>
                    <a:pt x="19" y="104"/>
                    <a:pt x="19" y="104"/>
                  </a:cubicBezTo>
                  <a:cubicBezTo>
                    <a:pt x="20" y="106"/>
                    <a:pt x="22" y="107"/>
                    <a:pt x="24" y="107"/>
                  </a:cubicBezTo>
                  <a:close/>
                  <a:moveTo>
                    <a:pt x="513" y="90"/>
                  </a:moveTo>
                  <a:cubicBezTo>
                    <a:pt x="513" y="90"/>
                    <a:pt x="513" y="90"/>
                    <a:pt x="513" y="90"/>
                  </a:cubicBezTo>
                  <a:cubicBezTo>
                    <a:pt x="515" y="90"/>
                    <a:pt x="517" y="89"/>
                    <a:pt x="518" y="87"/>
                  </a:cubicBezTo>
                  <a:cubicBezTo>
                    <a:pt x="518" y="87"/>
                    <a:pt x="518" y="87"/>
                    <a:pt x="518" y="87"/>
                  </a:cubicBezTo>
                  <a:cubicBezTo>
                    <a:pt x="518" y="84"/>
                    <a:pt x="517" y="81"/>
                    <a:pt x="514" y="80"/>
                  </a:cubicBezTo>
                  <a:cubicBezTo>
                    <a:pt x="514" y="80"/>
                    <a:pt x="514" y="80"/>
                    <a:pt x="514" y="80"/>
                  </a:cubicBezTo>
                  <a:cubicBezTo>
                    <a:pt x="512" y="79"/>
                    <a:pt x="509" y="81"/>
                    <a:pt x="508" y="84"/>
                  </a:cubicBezTo>
                  <a:cubicBezTo>
                    <a:pt x="508" y="84"/>
                    <a:pt x="508" y="84"/>
                    <a:pt x="508" y="84"/>
                  </a:cubicBezTo>
                  <a:cubicBezTo>
                    <a:pt x="507" y="86"/>
                    <a:pt x="509" y="89"/>
                    <a:pt x="511" y="90"/>
                  </a:cubicBezTo>
                  <a:cubicBezTo>
                    <a:pt x="512" y="90"/>
                    <a:pt x="512" y="90"/>
                    <a:pt x="513" y="90"/>
                  </a:cubicBezTo>
                  <a:close/>
                  <a:moveTo>
                    <a:pt x="17" y="89"/>
                  </a:moveTo>
                  <a:cubicBezTo>
                    <a:pt x="17" y="89"/>
                    <a:pt x="17" y="89"/>
                    <a:pt x="17" y="89"/>
                  </a:cubicBezTo>
                  <a:cubicBezTo>
                    <a:pt x="17" y="89"/>
                    <a:pt x="18" y="89"/>
                    <a:pt x="18" y="88"/>
                  </a:cubicBezTo>
                  <a:cubicBezTo>
                    <a:pt x="18" y="88"/>
                    <a:pt x="18" y="88"/>
                    <a:pt x="18" y="88"/>
                  </a:cubicBezTo>
                  <a:cubicBezTo>
                    <a:pt x="21" y="88"/>
                    <a:pt x="23" y="85"/>
                    <a:pt x="22" y="82"/>
                  </a:cubicBezTo>
                  <a:cubicBezTo>
                    <a:pt x="22" y="82"/>
                    <a:pt x="22" y="82"/>
                    <a:pt x="22" y="82"/>
                  </a:cubicBezTo>
                  <a:cubicBezTo>
                    <a:pt x="21" y="80"/>
                    <a:pt x="18" y="78"/>
                    <a:pt x="15" y="79"/>
                  </a:cubicBezTo>
                  <a:cubicBezTo>
                    <a:pt x="15" y="79"/>
                    <a:pt x="15" y="79"/>
                    <a:pt x="15" y="79"/>
                  </a:cubicBezTo>
                  <a:cubicBezTo>
                    <a:pt x="13" y="80"/>
                    <a:pt x="11" y="83"/>
                    <a:pt x="12" y="85"/>
                  </a:cubicBezTo>
                  <a:cubicBezTo>
                    <a:pt x="12" y="85"/>
                    <a:pt x="12" y="85"/>
                    <a:pt x="12" y="85"/>
                  </a:cubicBezTo>
                  <a:cubicBezTo>
                    <a:pt x="12" y="85"/>
                    <a:pt x="12" y="85"/>
                    <a:pt x="12" y="85"/>
                  </a:cubicBezTo>
                  <a:cubicBezTo>
                    <a:pt x="13" y="87"/>
                    <a:pt x="15" y="89"/>
                    <a:pt x="17" y="89"/>
                  </a:cubicBezTo>
                  <a:close/>
                  <a:moveTo>
                    <a:pt x="518" y="71"/>
                  </a:moveTo>
                  <a:cubicBezTo>
                    <a:pt x="518" y="71"/>
                    <a:pt x="518" y="71"/>
                    <a:pt x="518" y="71"/>
                  </a:cubicBezTo>
                  <a:cubicBezTo>
                    <a:pt x="520" y="71"/>
                    <a:pt x="523" y="69"/>
                    <a:pt x="523" y="67"/>
                  </a:cubicBezTo>
                  <a:cubicBezTo>
                    <a:pt x="523" y="67"/>
                    <a:pt x="523" y="67"/>
                    <a:pt x="523" y="67"/>
                  </a:cubicBezTo>
                  <a:cubicBezTo>
                    <a:pt x="523" y="67"/>
                    <a:pt x="523" y="67"/>
                    <a:pt x="523" y="67"/>
                  </a:cubicBezTo>
                  <a:cubicBezTo>
                    <a:pt x="523" y="67"/>
                    <a:pt x="523" y="67"/>
                    <a:pt x="523" y="67"/>
                  </a:cubicBezTo>
                  <a:cubicBezTo>
                    <a:pt x="524" y="64"/>
                    <a:pt x="522" y="62"/>
                    <a:pt x="519" y="61"/>
                  </a:cubicBezTo>
                  <a:cubicBezTo>
                    <a:pt x="519" y="61"/>
                    <a:pt x="519" y="61"/>
                    <a:pt x="519" y="61"/>
                  </a:cubicBezTo>
                  <a:cubicBezTo>
                    <a:pt x="517" y="60"/>
                    <a:pt x="514" y="62"/>
                    <a:pt x="513" y="65"/>
                  </a:cubicBezTo>
                  <a:cubicBezTo>
                    <a:pt x="513" y="65"/>
                    <a:pt x="513" y="65"/>
                    <a:pt x="513" y="65"/>
                  </a:cubicBezTo>
                  <a:cubicBezTo>
                    <a:pt x="513" y="67"/>
                    <a:pt x="514" y="70"/>
                    <a:pt x="517" y="71"/>
                  </a:cubicBezTo>
                  <a:cubicBezTo>
                    <a:pt x="517" y="71"/>
                    <a:pt x="518" y="71"/>
                    <a:pt x="518" y="71"/>
                  </a:cubicBezTo>
                  <a:close/>
                  <a:moveTo>
                    <a:pt x="12" y="70"/>
                  </a:moveTo>
                  <a:cubicBezTo>
                    <a:pt x="12" y="70"/>
                    <a:pt x="12" y="70"/>
                    <a:pt x="12" y="70"/>
                  </a:cubicBezTo>
                  <a:cubicBezTo>
                    <a:pt x="12" y="70"/>
                    <a:pt x="12" y="69"/>
                    <a:pt x="13" y="69"/>
                  </a:cubicBezTo>
                  <a:cubicBezTo>
                    <a:pt x="13" y="69"/>
                    <a:pt x="13" y="69"/>
                    <a:pt x="13" y="69"/>
                  </a:cubicBezTo>
                  <a:cubicBezTo>
                    <a:pt x="16" y="69"/>
                    <a:pt x="17" y="66"/>
                    <a:pt x="17" y="63"/>
                  </a:cubicBezTo>
                  <a:cubicBezTo>
                    <a:pt x="17" y="63"/>
                    <a:pt x="17" y="63"/>
                    <a:pt x="17" y="63"/>
                  </a:cubicBezTo>
                  <a:cubicBezTo>
                    <a:pt x="16" y="61"/>
                    <a:pt x="13" y="59"/>
                    <a:pt x="11" y="60"/>
                  </a:cubicBezTo>
                  <a:cubicBezTo>
                    <a:pt x="11" y="60"/>
                    <a:pt x="11" y="60"/>
                    <a:pt x="11" y="60"/>
                  </a:cubicBezTo>
                  <a:cubicBezTo>
                    <a:pt x="8" y="60"/>
                    <a:pt x="6" y="63"/>
                    <a:pt x="7" y="66"/>
                  </a:cubicBezTo>
                  <a:cubicBezTo>
                    <a:pt x="7" y="66"/>
                    <a:pt x="7" y="66"/>
                    <a:pt x="7" y="66"/>
                  </a:cubicBezTo>
                  <a:cubicBezTo>
                    <a:pt x="7" y="66"/>
                    <a:pt x="7" y="66"/>
                    <a:pt x="7" y="66"/>
                  </a:cubicBezTo>
                  <a:cubicBezTo>
                    <a:pt x="7" y="68"/>
                    <a:pt x="9" y="70"/>
                    <a:pt x="12" y="70"/>
                  </a:cubicBezTo>
                  <a:close/>
                  <a:moveTo>
                    <a:pt x="8" y="50"/>
                  </a:moveTo>
                  <a:cubicBezTo>
                    <a:pt x="8" y="50"/>
                    <a:pt x="8" y="50"/>
                    <a:pt x="8" y="50"/>
                  </a:cubicBezTo>
                  <a:cubicBezTo>
                    <a:pt x="8" y="50"/>
                    <a:pt x="8" y="50"/>
                    <a:pt x="9" y="50"/>
                  </a:cubicBezTo>
                  <a:cubicBezTo>
                    <a:pt x="9" y="50"/>
                    <a:pt x="9" y="50"/>
                    <a:pt x="9" y="50"/>
                  </a:cubicBezTo>
                  <a:cubicBezTo>
                    <a:pt x="11" y="50"/>
                    <a:pt x="13" y="47"/>
                    <a:pt x="13" y="44"/>
                  </a:cubicBezTo>
                  <a:cubicBezTo>
                    <a:pt x="13" y="44"/>
                    <a:pt x="13" y="44"/>
                    <a:pt x="13" y="44"/>
                  </a:cubicBezTo>
                  <a:cubicBezTo>
                    <a:pt x="12" y="42"/>
                    <a:pt x="10" y="40"/>
                    <a:pt x="7" y="40"/>
                  </a:cubicBezTo>
                  <a:cubicBezTo>
                    <a:pt x="7" y="40"/>
                    <a:pt x="7" y="40"/>
                    <a:pt x="7" y="40"/>
                  </a:cubicBezTo>
                  <a:cubicBezTo>
                    <a:pt x="4" y="40"/>
                    <a:pt x="3" y="43"/>
                    <a:pt x="3" y="46"/>
                  </a:cubicBezTo>
                  <a:cubicBezTo>
                    <a:pt x="3" y="48"/>
                    <a:pt x="5" y="50"/>
                    <a:pt x="8" y="50"/>
                  </a:cubicBezTo>
                  <a:close/>
                  <a:moveTo>
                    <a:pt x="6" y="30"/>
                  </a:moveTo>
                  <a:cubicBezTo>
                    <a:pt x="6" y="30"/>
                    <a:pt x="6" y="30"/>
                    <a:pt x="6" y="30"/>
                  </a:cubicBezTo>
                  <a:cubicBezTo>
                    <a:pt x="6" y="30"/>
                    <a:pt x="6" y="30"/>
                    <a:pt x="6" y="30"/>
                  </a:cubicBezTo>
                  <a:cubicBezTo>
                    <a:pt x="6" y="30"/>
                    <a:pt x="6" y="30"/>
                    <a:pt x="6" y="30"/>
                  </a:cubicBezTo>
                  <a:cubicBezTo>
                    <a:pt x="9" y="30"/>
                    <a:pt x="11" y="28"/>
                    <a:pt x="11" y="25"/>
                  </a:cubicBezTo>
                  <a:cubicBezTo>
                    <a:pt x="11" y="25"/>
                    <a:pt x="11" y="25"/>
                    <a:pt x="11" y="25"/>
                  </a:cubicBezTo>
                  <a:cubicBezTo>
                    <a:pt x="10" y="22"/>
                    <a:pt x="8" y="20"/>
                    <a:pt x="5" y="20"/>
                  </a:cubicBezTo>
                  <a:cubicBezTo>
                    <a:pt x="5" y="20"/>
                    <a:pt x="5" y="20"/>
                    <a:pt x="5" y="20"/>
                  </a:cubicBezTo>
                  <a:cubicBezTo>
                    <a:pt x="3" y="20"/>
                    <a:pt x="0" y="23"/>
                    <a:pt x="1" y="26"/>
                  </a:cubicBezTo>
                  <a:cubicBezTo>
                    <a:pt x="1" y="28"/>
                    <a:pt x="3" y="30"/>
                    <a:pt x="6" y="30"/>
                  </a:cubicBezTo>
                  <a:close/>
                  <a:moveTo>
                    <a:pt x="7" y="10"/>
                  </a:moveTo>
                  <a:cubicBezTo>
                    <a:pt x="7" y="9"/>
                    <a:pt x="8" y="9"/>
                    <a:pt x="8" y="9"/>
                  </a:cubicBezTo>
                  <a:cubicBezTo>
                    <a:pt x="9" y="8"/>
                    <a:pt x="9" y="8"/>
                    <a:pt x="9" y="7"/>
                  </a:cubicBezTo>
                  <a:cubicBezTo>
                    <a:pt x="10" y="6"/>
                    <a:pt x="10" y="6"/>
                    <a:pt x="10" y="5"/>
                  </a:cubicBezTo>
                  <a:cubicBezTo>
                    <a:pt x="10" y="5"/>
                    <a:pt x="10" y="4"/>
                    <a:pt x="10" y="4"/>
                  </a:cubicBezTo>
                  <a:cubicBezTo>
                    <a:pt x="10" y="4"/>
                    <a:pt x="10" y="3"/>
                    <a:pt x="9" y="3"/>
                  </a:cubicBezTo>
                  <a:cubicBezTo>
                    <a:pt x="9" y="3"/>
                    <a:pt x="9" y="2"/>
                    <a:pt x="9" y="2"/>
                  </a:cubicBezTo>
                  <a:cubicBezTo>
                    <a:pt x="9" y="2"/>
                    <a:pt x="9" y="2"/>
                    <a:pt x="8" y="1"/>
                  </a:cubicBezTo>
                  <a:cubicBezTo>
                    <a:pt x="8" y="1"/>
                    <a:pt x="8" y="1"/>
                    <a:pt x="8" y="1"/>
                  </a:cubicBezTo>
                  <a:cubicBezTo>
                    <a:pt x="7" y="1"/>
                    <a:pt x="7" y="1"/>
                    <a:pt x="7" y="0"/>
                  </a:cubicBezTo>
                  <a:cubicBezTo>
                    <a:pt x="6" y="0"/>
                    <a:pt x="6" y="0"/>
                    <a:pt x="6" y="0"/>
                  </a:cubicBezTo>
                  <a:cubicBezTo>
                    <a:pt x="5" y="0"/>
                    <a:pt x="5" y="0"/>
                    <a:pt x="4" y="0"/>
                  </a:cubicBezTo>
                  <a:cubicBezTo>
                    <a:pt x="4" y="0"/>
                    <a:pt x="3" y="0"/>
                    <a:pt x="3" y="0"/>
                  </a:cubicBezTo>
                  <a:cubicBezTo>
                    <a:pt x="3" y="1"/>
                    <a:pt x="2" y="1"/>
                    <a:pt x="2" y="1"/>
                  </a:cubicBezTo>
                  <a:cubicBezTo>
                    <a:pt x="2" y="1"/>
                    <a:pt x="2" y="1"/>
                    <a:pt x="1" y="1"/>
                  </a:cubicBezTo>
                  <a:cubicBezTo>
                    <a:pt x="1" y="2"/>
                    <a:pt x="1" y="2"/>
                    <a:pt x="1" y="2"/>
                  </a:cubicBezTo>
                  <a:cubicBezTo>
                    <a:pt x="1" y="2"/>
                    <a:pt x="0" y="3"/>
                    <a:pt x="0" y="3"/>
                  </a:cubicBezTo>
                  <a:cubicBezTo>
                    <a:pt x="0" y="3"/>
                    <a:pt x="0" y="4"/>
                    <a:pt x="0" y="4"/>
                  </a:cubicBezTo>
                  <a:cubicBezTo>
                    <a:pt x="0" y="4"/>
                    <a:pt x="0" y="5"/>
                    <a:pt x="0" y="5"/>
                  </a:cubicBezTo>
                  <a:cubicBezTo>
                    <a:pt x="0" y="6"/>
                    <a:pt x="0" y="6"/>
                    <a:pt x="0" y="7"/>
                  </a:cubicBezTo>
                  <a:cubicBezTo>
                    <a:pt x="0" y="8"/>
                    <a:pt x="1" y="8"/>
                    <a:pt x="1" y="9"/>
                  </a:cubicBezTo>
                  <a:cubicBezTo>
                    <a:pt x="2" y="9"/>
                    <a:pt x="2" y="9"/>
                    <a:pt x="3" y="10"/>
                  </a:cubicBezTo>
                  <a:cubicBezTo>
                    <a:pt x="4" y="10"/>
                    <a:pt x="4" y="10"/>
                    <a:pt x="5" y="10"/>
                  </a:cubicBezTo>
                  <a:cubicBezTo>
                    <a:pt x="6" y="10"/>
                    <a:pt x="6" y="10"/>
                    <a:pt x="7" y="1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2" name="Oval 8">
              <a:extLst>
                <a:ext uri="{FF2B5EF4-FFF2-40B4-BE49-F238E27FC236}">
                  <a16:creationId xmlns:a16="http://schemas.microsoft.com/office/drawing/2014/main" id="{4A8C0906-328D-E9DA-8994-99328CD5719C}"/>
                </a:ext>
              </a:extLst>
            </p:cNvPr>
            <p:cNvSpPr>
              <a:spLocks noChangeArrowheads="1"/>
            </p:cNvSpPr>
            <p:nvPr/>
          </p:nvSpPr>
          <p:spPr bwMode="auto">
            <a:xfrm>
              <a:off x="3629025" y="3376613"/>
              <a:ext cx="103188" cy="107950"/>
            </a:xfrm>
            <a:prstGeom prst="ellipse">
              <a:avLst/>
            </a:prstGeom>
            <a:solidFill>
              <a:schemeClr val="bg2"/>
            </a:solidFill>
            <a:ln w="30163"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ru-UA"/>
            </a:p>
          </p:txBody>
        </p:sp>
        <p:sp>
          <p:nvSpPr>
            <p:cNvPr id="123" name="Oval 9">
              <a:extLst>
                <a:ext uri="{FF2B5EF4-FFF2-40B4-BE49-F238E27FC236}">
                  <a16:creationId xmlns:a16="http://schemas.microsoft.com/office/drawing/2014/main" id="{E00578E3-66FE-C514-E823-0C5DF63766DA}"/>
                </a:ext>
              </a:extLst>
            </p:cNvPr>
            <p:cNvSpPr>
              <a:spLocks noChangeArrowheads="1"/>
            </p:cNvSpPr>
            <p:nvPr/>
          </p:nvSpPr>
          <p:spPr bwMode="auto">
            <a:xfrm>
              <a:off x="1644650" y="3376613"/>
              <a:ext cx="107950" cy="107950"/>
            </a:xfrm>
            <a:prstGeom prst="ellipse">
              <a:avLst/>
            </a:prstGeom>
            <a:solidFill>
              <a:schemeClr val="bg2"/>
            </a:solidFill>
            <a:ln w="30163" cap="flat">
              <a:solidFill>
                <a:schemeClr val="accent1"/>
              </a:solidFill>
              <a:prstDash val="solid"/>
              <a:miter lim="800000"/>
              <a:headEnd/>
              <a:tailEnd/>
            </a:ln>
          </p:spPr>
          <p:txBody>
            <a:bodyPr vert="horz" wrap="square" lIns="91440" tIns="45720" rIns="91440" bIns="45720" numCol="1" anchor="t" anchorCtr="0" compatLnSpc="1">
              <a:prstTxWarp prst="textNoShape">
                <a:avLst/>
              </a:prstTxWarp>
            </a:bodyPr>
            <a:lstStyle/>
            <a:p>
              <a:endParaRPr lang="ru-UA"/>
            </a:p>
          </p:txBody>
        </p:sp>
      </p:grpSp>
      <p:sp>
        <p:nvSpPr>
          <p:cNvPr id="128" name="Rectangle 127">
            <a:extLst>
              <a:ext uri="{FF2B5EF4-FFF2-40B4-BE49-F238E27FC236}">
                <a16:creationId xmlns:a16="http://schemas.microsoft.com/office/drawing/2014/main" id="{8CD22136-E747-3117-A6AD-67E878A787B6}"/>
              </a:ext>
            </a:extLst>
          </p:cNvPr>
          <p:cNvSpPr/>
          <p:nvPr/>
        </p:nvSpPr>
        <p:spPr>
          <a:xfrm>
            <a:off x="544337" y="5445803"/>
            <a:ext cx="1182055"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Decision Rule:</a:t>
            </a:r>
          </a:p>
        </p:txBody>
      </p:sp>
      <p:sp>
        <p:nvSpPr>
          <p:cNvPr id="129" name="Rectangle 40">
            <a:extLst>
              <a:ext uri="{FF2B5EF4-FFF2-40B4-BE49-F238E27FC236}">
                <a16:creationId xmlns:a16="http://schemas.microsoft.com/office/drawing/2014/main" id="{FBB977CC-AF11-F621-A16A-508F8D1E5CB5}"/>
              </a:ext>
            </a:extLst>
          </p:cNvPr>
          <p:cNvSpPr>
            <a:spLocks noChangeArrowheads="1"/>
          </p:cNvSpPr>
          <p:nvPr/>
        </p:nvSpPr>
        <p:spPr bwMode="auto">
          <a:xfrm>
            <a:off x="544337" y="5793833"/>
            <a:ext cx="543884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1600" b="1" dirty="0">
                <a:latin typeface="+mj-lt"/>
              </a:rPr>
              <a:t>Do not scale a broad cost or pricing program until the cause and concentration are measured.</a:t>
            </a:r>
          </a:p>
        </p:txBody>
      </p:sp>
      <p:sp>
        <p:nvSpPr>
          <p:cNvPr id="2" name="TextBox 1">
            <a:extLst>
              <a:ext uri="{FF2B5EF4-FFF2-40B4-BE49-F238E27FC236}">
                <a16:creationId xmlns:a16="http://schemas.microsoft.com/office/drawing/2014/main" id="{E083ACF6-5F00-EEC9-CBBD-152E224CA868}"/>
              </a:ext>
            </a:extLst>
          </p:cNvPr>
          <p:cNvSpPr txBox="1"/>
          <p:nvPr/>
        </p:nvSpPr>
        <p:spPr>
          <a:xfrm>
            <a:off x="5460443" y="2958207"/>
            <a:ext cx="968465" cy="307777"/>
          </a:xfrm>
          <a:prstGeom prst="rect">
            <a:avLst/>
          </a:prstGeom>
          <a:noFill/>
        </p:spPr>
        <p:txBody>
          <a:bodyPr wrap="square">
            <a:spAutoFit/>
          </a:bodyPr>
          <a:lstStyle/>
          <a:p>
            <a:pPr algn="ctr"/>
            <a:r>
              <a:rPr lang="en-US" sz="1400" b="1" dirty="0">
                <a:solidFill>
                  <a:srgbClr val="111111"/>
                </a:solidFill>
                <a:latin typeface="Arial"/>
                <a:ea typeface="Arial"/>
                <a:cs typeface="Arial"/>
              </a:rPr>
              <a:t>Pilot</a:t>
            </a:r>
            <a:endParaRPr lang="en-US" sz="1100" dirty="0">
              <a:solidFill>
                <a:schemeClr val="accent3"/>
              </a:solidFill>
            </a:endParaRPr>
          </a:p>
        </p:txBody>
      </p:sp>
      <p:sp>
        <p:nvSpPr>
          <p:cNvPr id="3" name="TextBox 2">
            <a:extLst>
              <a:ext uri="{FF2B5EF4-FFF2-40B4-BE49-F238E27FC236}">
                <a16:creationId xmlns:a16="http://schemas.microsoft.com/office/drawing/2014/main" id="{5EBC74D2-C122-0D70-6EAC-10246525712C}"/>
              </a:ext>
            </a:extLst>
          </p:cNvPr>
          <p:cNvSpPr txBox="1"/>
          <p:nvPr/>
        </p:nvSpPr>
        <p:spPr>
          <a:xfrm>
            <a:off x="9053066" y="2958207"/>
            <a:ext cx="968465" cy="307777"/>
          </a:xfrm>
          <a:prstGeom prst="rect">
            <a:avLst/>
          </a:prstGeom>
          <a:noFill/>
        </p:spPr>
        <p:txBody>
          <a:bodyPr wrap="square">
            <a:spAutoFit/>
          </a:bodyPr>
          <a:lstStyle/>
          <a:p>
            <a:pPr algn="ctr"/>
            <a:r>
              <a:rPr lang="en-US" sz="1400" b="1" dirty="0">
                <a:solidFill>
                  <a:srgbClr val="111111"/>
                </a:solidFill>
                <a:latin typeface="Arial"/>
                <a:ea typeface="Arial"/>
                <a:cs typeface="Arial"/>
              </a:rPr>
              <a:t>Scale</a:t>
            </a:r>
            <a:endParaRPr lang="en-US" sz="1100" dirty="0">
              <a:solidFill>
                <a:schemeClr val="accent3"/>
              </a:solidFill>
            </a:endParaRPr>
          </a:p>
        </p:txBody>
      </p:sp>
      <p:sp>
        <p:nvSpPr>
          <p:cNvPr id="4" name="Rectangle 3">
            <a:extLst>
              <a:ext uri="{FF2B5EF4-FFF2-40B4-BE49-F238E27FC236}">
                <a16:creationId xmlns:a16="http://schemas.microsoft.com/office/drawing/2014/main" id="{351576A5-DEE7-B6E0-B97C-14407D95FF39}"/>
              </a:ext>
            </a:extLst>
          </p:cNvPr>
          <p:cNvSpPr/>
          <p:nvPr/>
        </p:nvSpPr>
        <p:spPr>
          <a:xfrm>
            <a:off x="6096000" y="5445803"/>
            <a:ext cx="1804918"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What the case proves:</a:t>
            </a:r>
          </a:p>
        </p:txBody>
      </p:sp>
      <p:sp>
        <p:nvSpPr>
          <p:cNvPr id="5" name="Rectangle 40">
            <a:extLst>
              <a:ext uri="{FF2B5EF4-FFF2-40B4-BE49-F238E27FC236}">
                <a16:creationId xmlns:a16="http://schemas.microsoft.com/office/drawing/2014/main" id="{33EFB4E6-A43F-B0C2-EA07-E3F7945E9E89}"/>
              </a:ext>
            </a:extLst>
          </p:cNvPr>
          <p:cNvSpPr>
            <a:spLocks noChangeArrowheads="1"/>
          </p:cNvSpPr>
          <p:nvPr/>
        </p:nvSpPr>
        <p:spPr bwMode="auto">
          <a:xfrm>
            <a:off x="6096000" y="5791004"/>
            <a:ext cx="543884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1600" b="1" dirty="0">
                <a:latin typeface="+mj-lt"/>
              </a:rPr>
              <a:t>An illustrative 8% target requires $1.80M of recovery; the right intervention depends on where the gap sits.</a:t>
            </a:r>
          </a:p>
        </p:txBody>
      </p:sp>
      <p:sp>
        <p:nvSpPr>
          <p:cNvPr id="6" name="Rectangle 5">
            <a:extLst>
              <a:ext uri="{FF2B5EF4-FFF2-40B4-BE49-F238E27FC236}">
                <a16:creationId xmlns:a16="http://schemas.microsoft.com/office/drawing/2014/main" id="{A46C7C61-9DD3-306F-EFFA-F3549B8EA02F}"/>
              </a:ext>
            </a:extLst>
          </p:cNvPr>
          <p:cNvSpPr/>
          <p:nvPr/>
        </p:nvSpPr>
        <p:spPr>
          <a:xfrm>
            <a:off x="329157" y="1123800"/>
            <a:ext cx="2185470" cy="215444"/>
          </a:xfrm>
          <a:prstGeom prst="rect">
            <a:avLst/>
          </a:prstGeom>
        </p:spPr>
        <p:txBody>
          <a:bodyPr wrap="none" lIns="0" tIns="0" rIns="0" bIns="0">
            <a:spAutoFit/>
          </a:bodyPr>
          <a:lstStyle/>
          <a:p>
            <a:r>
              <a:rPr lang="en-US" sz="1400" b="1" dirty="0">
                <a:solidFill>
                  <a:schemeClr val="bg1">
                    <a:lumMod val="40000"/>
                    <a:lumOff val="60000"/>
                  </a:schemeClr>
                </a:solidFill>
                <a:latin typeface="+mj-lt"/>
              </a:rPr>
              <a:t>What the analysis support:</a:t>
            </a:r>
          </a:p>
        </p:txBody>
      </p:sp>
    </p:spTree>
    <p:extLst>
      <p:ext uri="{BB962C8B-B14F-4D97-AF65-F5344CB8AC3E}">
        <p14:creationId xmlns:p14="http://schemas.microsoft.com/office/powerpoint/2010/main" val="37413188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fade">
                                      <p:cBhvr>
                                        <p:cTn id="17" dur="500"/>
                                        <p:tgtEl>
                                          <p:spTgt spid="8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6"/>
                                        </p:tgtEl>
                                        <p:attrNameLst>
                                          <p:attrName>style.visibility</p:attrName>
                                        </p:attrNameLst>
                                      </p:cBhvr>
                                      <p:to>
                                        <p:strVal val="visible"/>
                                      </p:to>
                                    </p:set>
                                    <p:animEffect transition="in" filter="fade">
                                      <p:cBhvr>
                                        <p:cTn id="20" dur="500"/>
                                        <p:tgtEl>
                                          <p:spTgt spid="116"/>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heel(1)">
                                      <p:cBhvr>
                                        <p:cTn id="25" dur="20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1"/>
                                        </p:tgtEl>
                                        <p:attrNameLst>
                                          <p:attrName>style.visibility</p:attrName>
                                        </p:attrNameLst>
                                      </p:cBhvr>
                                      <p:to>
                                        <p:strVal val="visible"/>
                                      </p:to>
                                    </p:set>
                                    <p:animEffect transition="in" filter="fade">
                                      <p:cBhvr>
                                        <p:cTn id="30" dur="500"/>
                                        <p:tgtEl>
                                          <p:spTgt spid="10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fade">
                                      <p:cBhvr>
                                        <p:cTn id="35" dur="500"/>
                                        <p:tgtEl>
                                          <p:spTgt spid="5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6"/>
                                        </p:tgtEl>
                                        <p:attrNameLst>
                                          <p:attrName>style.visibility</p:attrName>
                                        </p:attrNameLst>
                                      </p:cBhvr>
                                      <p:to>
                                        <p:strVal val="visible"/>
                                      </p:to>
                                    </p:set>
                                    <p:animEffect transition="in" filter="fade">
                                      <p:cBhvr>
                                        <p:cTn id="40" dur="500"/>
                                        <p:tgtEl>
                                          <p:spTgt spid="8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5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21" presetClass="entr" presetSubtype="1" fill="hold" nodeType="clickEffect">
                                  <p:stCondLst>
                                    <p:cond delay="0"/>
                                  </p:stCondLst>
                                  <p:childTnLst>
                                    <p:set>
                                      <p:cBhvr>
                                        <p:cTn id="47" dur="1" fill="hold">
                                          <p:stCondLst>
                                            <p:cond delay="0"/>
                                          </p:stCondLst>
                                        </p:cTn>
                                        <p:tgtEl>
                                          <p:spTgt spid="120"/>
                                        </p:tgtEl>
                                        <p:attrNameLst>
                                          <p:attrName>style.visibility</p:attrName>
                                        </p:attrNameLst>
                                      </p:cBhvr>
                                      <p:to>
                                        <p:strVal val="visible"/>
                                      </p:to>
                                    </p:set>
                                    <p:animEffect transition="in" filter="wheel(1)">
                                      <p:cBhvr>
                                        <p:cTn id="48" dur="2000"/>
                                        <p:tgtEl>
                                          <p:spTgt spid="12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13"/>
                                        </p:tgtEl>
                                        <p:attrNameLst>
                                          <p:attrName>style.visibility</p:attrName>
                                        </p:attrNameLst>
                                      </p:cBhvr>
                                      <p:to>
                                        <p:strVal val="visible"/>
                                      </p:to>
                                    </p:set>
                                    <p:animEffect transition="in" filter="fade">
                                      <p:cBhvr>
                                        <p:cTn id="53" dur="500"/>
                                        <p:tgtEl>
                                          <p:spTgt spid="11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04"/>
                                        </p:tgtEl>
                                        <p:attrNameLst>
                                          <p:attrName>style.visibility</p:attrName>
                                        </p:attrNameLst>
                                      </p:cBhvr>
                                      <p:to>
                                        <p:strVal val="visible"/>
                                      </p:to>
                                    </p:set>
                                    <p:animEffect transition="in" filter="fade">
                                      <p:cBhvr>
                                        <p:cTn id="58" dur="500"/>
                                        <p:tgtEl>
                                          <p:spTgt spid="10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92"/>
                                        </p:tgtEl>
                                        <p:attrNameLst>
                                          <p:attrName>style.visibility</p:attrName>
                                        </p:attrNameLst>
                                      </p:cBhvr>
                                      <p:to>
                                        <p:strVal val="visible"/>
                                      </p:to>
                                    </p:set>
                                    <p:animEffect transition="in" filter="fade">
                                      <p:cBhvr>
                                        <p:cTn id="63" dur="500"/>
                                        <p:tgtEl>
                                          <p:spTgt spid="9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
                                        </p:tgtEl>
                                        <p:attrNameLst>
                                          <p:attrName>style.visibility</p:attrName>
                                        </p:attrNameLst>
                                      </p:cBhvr>
                                      <p:to>
                                        <p:strVal val="visible"/>
                                      </p:to>
                                    </p:set>
                                    <p:animEffect transition="in" filter="fade">
                                      <p:cBhvr>
                                        <p:cTn id="66" dur="500"/>
                                        <p:tgtEl>
                                          <p:spTgt spid="3"/>
                                        </p:tgtEl>
                                      </p:cBhvr>
                                    </p:animEffect>
                                  </p:childTnLst>
                                </p:cTn>
                              </p:par>
                            </p:childTnLst>
                          </p:cTn>
                        </p:par>
                      </p:childTnLst>
                    </p:cTn>
                  </p:par>
                  <p:par>
                    <p:cTn id="67" fill="hold">
                      <p:stCondLst>
                        <p:cond delay="indefinite"/>
                      </p:stCondLst>
                      <p:childTnLst>
                        <p:par>
                          <p:cTn id="68" fill="hold">
                            <p:stCondLst>
                              <p:cond delay="0"/>
                            </p:stCondLst>
                            <p:childTnLst>
                              <p:par>
                                <p:cTn id="69" presetID="21" presetClass="entr" presetSubtype="1" fill="hold" nodeType="clickEffect">
                                  <p:stCondLst>
                                    <p:cond delay="0"/>
                                  </p:stCondLst>
                                  <p:childTnLst>
                                    <p:set>
                                      <p:cBhvr>
                                        <p:cTn id="70" dur="1" fill="hold">
                                          <p:stCondLst>
                                            <p:cond delay="0"/>
                                          </p:stCondLst>
                                        </p:cTn>
                                        <p:tgtEl>
                                          <p:spTgt spid="73"/>
                                        </p:tgtEl>
                                        <p:attrNameLst>
                                          <p:attrName>style.visibility</p:attrName>
                                        </p:attrNameLst>
                                      </p:cBhvr>
                                      <p:to>
                                        <p:strVal val="visible"/>
                                      </p:to>
                                    </p:set>
                                    <p:animEffect transition="in" filter="wheel(1)">
                                      <p:cBhvr>
                                        <p:cTn id="71" dur="2000"/>
                                        <p:tgtEl>
                                          <p:spTgt spid="7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14"/>
                                        </p:tgtEl>
                                        <p:attrNameLst>
                                          <p:attrName>style.visibility</p:attrName>
                                        </p:attrNameLst>
                                      </p:cBhvr>
                                      <p:to>
                                        <p:strVal val="visible"/>
                                      </p:to>
                                    </p:set>
                                    <p:animEffect transition="in" filter="fade">
                                      <p:cBhvr>
                                        <p:cTn id="76" dur="500"/>
                                        <p:tgtEl>
                                          <p:spTgt spid="114"/>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19"/>
                                        </p:tgtEl>
                                        <p:attrNameLst>
                                          <p:attrName>style.visibility</p:attrName>
                                        </p:attrNameLst>
                                      </p:cBhvr>
                                      <p:to>
                                        <p:strVal val="visible"/>
                                      </p:to>
                                    </p:set>
                                    <p:animEffect transition="in" filter="fade">
                                      <p:cBhvr>
                                        <p:cTn id="81" dur="500"/>
                                        <p:tgtEl>
                                          <p:spTgt spid="11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28"/>
                                        </p:tgtEl>
                                        <p:attrNameLst>
                                          <p:attrName>style.visibility</p:attrName>
                                        </p:attrNameLst>
                                      </p:cBhvr>
                                      <p:to>
                                        <p:strVal val="visible"/>
                                      </p:to>
                                    </p:set>
                                    <p:animEffect transition="in" filter="fade">
                                      <p:cBhvr>
                                        <p:cTn id="84" dur="500"/>
                                        <p:tgtEl>
                                          <p:spTgt spid="1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29"/>
                                        </p:tgtEl>
                                        <p:attrNameLst>
                                          <p:attrName>style.visibility</p:attrName>
                                        </p:attrNameLst>
                                      </p:cBhvr>
                                      <p:to>
                                        <p:strVal val="visible"/>
                                      </p:to>
                                    </p:set>
                                    <p:animEffect transition="in" filter="fade">
                                      <p:cBhvr>
                                        <p:cTn id="87" dur="500"/>
                                        <p:tgtEl>
                                          <p:spTgt spid="1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
                                        </p:tgtEl>
                                        <p:attrNameLst>
                                          <p:attrName>style.visibility</p:attrName>
                                        </p:attrNameLst>
                                      </p:cBhvr>
                                      <p:to>
                                        <p:strVal val="visible"/>
                                      </p:to>
                                    </p:set>
                                    <p:animEffect transition="in" filter="fade">
                                      <p:cBhvr>
                                        <p:cTn id="90" dur="500"/>
                                        <p:tgtEl>
                                          <p:spTgt spid="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
                                        </p:tgtEl>
                                        <p:attrNameLst>
                                          <p:attrName>style.visibility</p:attrName>
                                        </p:attrNameLst>
                                      </p:cBhvr>
                                      <p:to>
                                        <p:strVal val="visible"/>
                                      </p:to>
                                    </p:set>
                                    <p:animEffect transition="in" filter="fade">
                                      <p:cBhvr>
                                        <p:cTn id="9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79" grpId="0"/>
      <p:bldP spid="101" grpId="0"/>
      <p:bldP spid="104" grpId="0" animBg="1"/>
      <p:bldP spid="113" grpId="0"/>
      <p:bldP spid="114" grpId="0"/>
      <p:bldP spid="116" grpId="0"/>
      <p:bldP spid="119" grpId="0" animBg="1"/>
      <p:bldP spid="128" grpId="0"/>
      <p:bldP spid="129" grpId="0"/>
      <p:bldP spid="2" grpId="0"/>
      <p:bldP spid="3" grpId="0"/>
      <p:bldP spid="4" grpId="0"/>
      <p:bldP spid="5" grpId="0"/>
      <p:bldP spid="6" grpId="0"/>
    </p:bldLst>
  </p:timing>
</p:sld>
</file>

<file path=ppt/theme/theme1.xml><?xml version="1.0" encoding="utf-8"?>
<a:theme xmlns:a="http://schemas.openxmlformats.org/drawingml/2006/main" name="1_Office Theme">
  <a:themeElements>
    <a:clrScheme name="PLSFIX 1">
      <a:dk1>
        <a:srgbClr val="120884"/>
      </a:dk1>
      <a:lt1>
        <a:srgbClr val="2F3EA3"/>
      </a:lt1>
      <a:dk2>
        <a:srgbClr val="7388E3"/>
      </a:dk2>
      <a:lt2>
        <a:srgbClr val="8B9FF6"/>
      </a:lt2>
      <a:accent1>
        <a:srgbClr val="2A38B9"/>
      </a:accent1>
      <a:accent2>
        <a:srgbClr val="131470"/>
      </a:accent2>
      <a:accent3>
        <a:srgbClr val="2D53DA"/>
      </a:accent3>
      <a:accent4>
        <a:srgbClr val="4855CD"/>
      </a:accent4>
      <a:accent5>
        <a:srgbClr val="133AE0"/>
      </a:accent5>
      <a:accent6>
        <a:srgbClr val="DEE5FF"/>
      </a:accent6>
      <a:hlink>
        <a:srgbClr val="406AC9"/>
      </a:hlink>
      <a:folHlink>
        <a:srgbClr val="4F63EB"/>
      </a:folHlink>
    </a:clrScheme>
    <a:fontScheme name="Office">
      <a:majorFont>
        <a:latin typeface="Aptos"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1699</TotalTime>
  <Words>1003</Words>
  <Application>Microsoft Macintosh PowerPoint</Application>
  <PresentationFormat>Widescreen</PresentationFormat>
  <Paragraphs>192</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Roboto</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Finn Maurer</dc:creator>
  <cp:lastModifiedBy>Mandaliya, Yesha</cp:lastModifiedBy>
  <cp:revision>8</cp:revision>
  <dcterms:created xsi:type="dcterms:W3CDTF">2026-05-06T20:51:29Z</dcterms:created>
  <dcterms:modified xsi:type="dcterms:W3CDTF">2026-08-01T05:29:21Z</dcterms:modified>
</cp:coreProperties>
</file>